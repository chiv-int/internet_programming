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c0166f0-4613-4588-5975-bd2b18670562}">
          <p14:sldIdLst>
            <p14:sldId id="256"/>
            <p14:sldId id="257"/>
            <p14:sldId id="258"/>
            <p14:sldId id="259"/>
          </p14:sldIdLst>
        </p14:section>
        <p14:section name="Part 1: Foundations" id="{b7f022de-f6dd-73d7-45cc-9fcd2c31b6c9}">
          <p14:sldIdLst>
            <p14:sldId id="260"/>
            <p14:sldId id="261"/>
            <p14:sldId id="262"/>
            <p14:sldId id="263"/>
            <p14:sldId id="264"/>
            <p14:sldId id="265"/>
          </p14:sldIdLst>
        </p14:section>
        <p14:section name="Part 2: Functions &amp; objects" id="{755b0e12-127c-d538-9e67-b54fe8a2dacf}">
          <p14:sldIdLst>
            <p14:sldId id="266"/>
            <p14:sldId id="267"/>
            <p14:sldId id="268"/>
            <p14:sldId id="269"/>
            <p14:sldId id="270"/>
            <p14:sldId id="271"/>
            <p14:sldId id="272"/>
            <p14:sldId id="273"/>
            <p14:sldId id="274"/>
          </p14:sldIdLst>
        </p14:section>
        <p14:section name="Part 3: Async &amp; modules" id="{b3a57678-69b6-5381-0277-df076c5b2273}">
          <p14:sldIdLst>
            <p14:sldId id="275"/>
            <p14:sldId id="276"/>
            <p14:sldId id="277"/>
            <p14:sldId id="278"/>
            <p14:sldId id="279"/>
            <p14:sldId id="280"/>
            <p14:sldId id="281"/>
            <p14:sldId id="282"/>
          </p14:sldIdLst>
        </p14:section>
        <p14:section name="Part 4: Judging code" id="{28e3a705-2da6-3a0a-e161-de1d50bf5e05}">
          <p14:sldIdLst>
            <p14:sldId id="283"/>
            <p14:sldId id="284"/>
            <p14:sldId id="285"/>
          </p14:sldIdLst>
        </p14:section>
        <p14:section name="Next steps" id="{eba72db8-b521-eabb-6a00-7fd9b5035ca4}">
          <p14:sldIdLst>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framing (3 min).
This first lesson is a fast, deep refresher of JavaScript before we move to TypeScript, React/Vue and NestJS. Most of you have written some JS in Year 2. Today the goal is not to learn syntax for its own sake but to be able to READ and JUDGE JavaScript, because AI assistants now write a lot of it for us.
Session plan (3 hours across lecture, TD and TP):
- Lecture (~60 min): Parts 1–3, slides 1–27. Skim slides you know the class already masters.
- TD (~60 min): Activities 1–4 and Part 4 (reviewing code).
- TP (~60 min): lab setup and the take-home exercises on the final slide.
If time is short, Activity 2 and slide 27 (DOM) can move to the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(2 min).
Four parts. Parts 1–3 are the language itself, from the basics most students know to the async model many students only half understand. Part 4 is the skill this course cares about most: reading code, including AI-generated code, and deciding whether it is correct.
Explain the AI levels from the course policy now, because every lab sheet this semester will use them:
- Open: any AI tool, with a usage log.
- Guided: AI may write implementation, but the thing being assessed (spec, test, review) is the student's own work.
- Closed: no AI, supervised.
Today's activities are Closed or Guided.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JS (3 min).
JavaScript is the only language that runs natively in every browser, and with Node.js it also runs our backend and all our tooling. In this course we will use TypeScript everywhere: React or Vue on the front, NestJS on the back, PostgreSQL behind Prisma or TypeORM. TypeScript is JavaScript plus types, so everything today carries over directly.
Key message for the semester: AI tools write code fast, but they also produce plausible-looking bugs. The engineer is the one who specifies, verifies and is accountable. Ask the class: "Who has accepted AI code they did not fully understand?" (Most hands go up. That is the habit we want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 vs host (3 min).
The engine (V8 in Chrome and Node.js) knows the language: variables, functions, objects, promises. The host gives it superpowers: the browser gives DOM, fetch, timers; Node.js gives files, network servers, process info.
Common confusion students and AI tools both make: calling document.querySelector in server code, or require('fs') in frontend code. If a "JavaScript error" says something is not defined, first ask: which host am I in?
Demo idea: open Chrome DevTools console and type typeof document; then run node -e "console.log(typeof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(about 15 minutes). Move quickly where the class is confident; slow down on coercion and references, which cause the most real bugs.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Variables (4 min).
Walk through the code top to bottom. The surprising line for many students: const student can still have its properties changed. const means "this name always points to the same object", not "this object is frozen". Object.freeze exists if you really need that.
var vs let: var is scoped to the whole function and is hoisted (declared before the code runs), so a variable declared inside an if block is visible outside. let and const are scoped to the block { }. Rule for this course: const by default, let when needed, never var. ESLint's no-var and prefer-const rules enforce this, and they are enabled in the course template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 (4 min).
Seven primitive types plus object. Everything that is not a primitive is an object: arrays, functions, dates, maps, class instances.
typeof quirks to point out: typeof null is "object" (a bug from 1995 that can never be fixed without breaking the web), typeof NaN is "number", and arrays are objects, so use Array.isArray.
Mention: there is only one number type, a 64-bit float. Integers are exact up to 2^53 − 1 (Number.MAX_SAFE_INTEGER). Beyond that, use bigint. That is why database IDs from PostgreSQL BIGINT columns are often returned as strings.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Equality and coercion (4 min).
== converts types before comparing, using rules most people cannot recite. The examples show it is not even transitive: 0 == "" and 0 == "0", but "" != "0". === compares type and value with no conversion.
+ with a string concatenates; other arithmetic operators convert to number. A classic bug: reading a value from a form input (always a string) and adding 1 to it.
0.1 + 0.2 is 0.30000000000000004. Never store money as a float; store integer cents or use a decimal type in PostgreSQL (NUMERIC).
Falsy list: be precise. "0" and [] are truthy. This matters for if (items.length) vs if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syntax (3 min).
These four appear constantly in React and NestJS code, and in everything an AI assistant generates.
- Template literals: backticks, ${expression} interpolation, can span lines.
- Optional chaining: stops and returns undefined if the left side is null/undefined. Useful for API data; dangerous if it hides a bug that should crash loudly.
- ?? vs ||: || replaces every falsy value, so a legitimate 0 or "" gets replaced. ?? only replaces null and undefined. Ask: which one do you want for "page number" or "discount"?
- for...of iterates values; for...in iterates keys (including inherited ones), so avoid for...in on arrays.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Closed (5 min + 5 min debrief).
Answer key:
1. [] + []  →  "" (empty string). Both arrays convert to "" and + concatenates. console.log prints an empty line.
2. typeof NaN  →  "number".
3. "3" * "4"  →  12. * converts both strings to numbers.
4. null ?? "x" → "x";  0 || "y" → "y". Output: x y
5. 4. b and a point to the same array (reference, not copy).
6. [1, 10, 3]. Default sort converts elements to strings and sorts them alphabetically. Fix: [10, 1, 3].sort((a, b) =&gt; a - b).
Bonus discussion: TypeScript would reject 3 ("string" * "string" is a type error) and complain about 1. A linter can flag the missing compare function in 6 (e.g. the require-array-sort-compare rule). Nothing flags 5: that is a reasoning problem, not a syntax problem.
Debrief question: which answers were you confident about but wrong? That gap is exactly where you would also miss a bug in AI-generated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(about 20 minutes). Closures and references are the two concepts to make sure everyone really understands.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Functions (4 min).
Three syntaxes. Declarations are hoisted, so they can be called before they appear in the file. Arrow functions are the default in modern code and in React components, with one important difference: they do not have their own this (next slides).
The right side is the key idea: functions are values. map, filter, event listeners, Express/NestJS middleware and React hooks all rely on passing functions around. twice(add3)(10) evaluates add3(add3(10)) =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Closures (5 min). One of the most important slides today.
Definition: a closure is a function together with the variables it captured from the scope where it was created. When makeCounter returns, its local variable count would normally disappear, but the returned function still references it, so it stays alive. Each call to makeCounter creates a new scope, so next and other have separate counts.
Check understanding: ask "what does next() return the third time?" (3) and "can any other code change count?" (no, it is private).
React connection: every component render creates closures over that render's props and state. "Stale closure" bugs in useEffect are a direct consequence. We will see this again in the frontend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(4 min).
this is decided at call time by HOW the function is called, not where it is written. The table gives the rules in priority order. Arrow functions are the exception: they do not have their own this and use the one from the surrounding code.
The bug: setInterval calls the regular function as a plain function, so this is undefined in strict mode (or window in old scripts), and this.seconds++ throws or silently does nothing. The arrow function fix works because start() was called as timer.start(), so this inside start is timer, and the arrow inherits it.
In NestJS you will mostly use this inside class methods (this.usersService...). In React function components you almost never use this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Destructuring and spread (3 min).
Read the code aloud with the class. Ask: what is role after line 4? ("admin": the default only applies when the property is undefined.) What is rest? ([1, 4, 1].)
{ ...user, role: "editor" } is the standard way to "update" an object immutably: copy everything, overwrite one key. React state updates are written exactly like this.
Next slide shows the catch: spread copies are shallow.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Array methods (4 min).
filter keeps elements, map transforms each element, reduce combines everything into one value. None of them change the original array. Chaining them reads like a description of the result instead of a set of loop instructions.
React renders lists with .map(), and much backend code reshapes database rows with map/filter. You will read this style constantly.
Warning: sort(), reverse() and splice() mutate the original array. That is a frequent source of bugs in React state. The newer toSorted() and toReversed() (ES2023) return copies.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vs reference (4 min). The second most important idea after closures.
Primitives are copied on assignment. Objects and arrays are not: the variable holds a reference, so q = p makes two names for one object.
Spread makes a new top-level object (object B in the diagram), but nested values are copied by reference, so p.tags and r.tags are the same array. Pushing into r.tags changes p.tags too.
structuredClone (built into browsers and Node 17+) makes a deep copy.
Where this bites: React state that is mutated instead of replaced does not re-render; a NestJS service that mutates an object passed in by the caller causes "spooky" bugs elsewhere. AI-generated code mutates arguments surprisingly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Classes and prototypes (3 min).
class syntax (ES2015) is a cleaner way to write what JavaScript always had: objects that delegate to a prototype object. Methods live once on the prototype, not copied into each instance. When you call acc.deposit, JS looks on acc, does not find it, follows the chain to Savings.prototype, then Account.prototype, and finds it there.
#balance is a true private field (ES2022): it cannot be read from outside the class. TypeScript also has a private keyword, but that is only checked at compile time.
NestJS is heavily class-based: controllers, services, modules, DTOs. React moved away from classes to functions and hooks. Knowing both styles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Guided (15 min, can move to TD).
Reference solution:
const topStudents = (students) =&gt;
  students
    .filter((s) =&gt; s.score &gt;= 80)
    .map((s) =&gt; s.name.toUpperCase())
    .toSorted();
(.sort() would also be fine here because map already returned a new array; the point is to notice that, not to memorise toSorted.)
Points to bring out in the review:
- Equivalence: both versions return names in alphabetical order. Edge cases: empty array, a student without a name (both crash on undefined.toUpperCase: is that acceptable?), scores as strings ("90" &gt;= 80 is true by coercion).
- AI versions often add things nobody asked for (optional chaining, localeCompare, default parameters). Are they improvements or changed behaviour? localeCompare sorting differs from default sort for some characters.
- Accountability: whoever merges it owns it. Ask 2–3 students to defend their choice orally (explain-back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(about 20 minutes). This is where most students' understanding is weakest, and where AI-generated code most often has subtle bugs (missing await, unhandled rejections, accidental sequential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 loop (6 min). Draw this on the board as well.
JavaScript executes on a single thread with one call stack. Anything slow (network, timers, disk) is handed to the host (browser or Node's libuv), which does it in the background and later puts a callback in a queue.
Priority: when the stack is empty, the loop drains the entire microtask queue (promise reactions, code after await), then takes one task (timer, I/O completion, UI event), runs it, drains microtasks again, and so on. The browser renders between tasks.
Consequences:
- setTimeout(fn, 0) does not run "now", it runs after current code and all microtasks.
- A CPU-heavy loop in a NestJS request handler blocks every other user of the server.
- This is why the next activity's output order is what it is.
Optional demo: loupe (latentflip.com/loupe) visualises the event loop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Evolution of async code (4 min).
All three versions do the same thing: load a user, then their orders, then show them.
Callbacks: Node's original style. Every step nests deeper ("callback hell") and every level must check err.
Promises (ES2015): a Promise is an object representing a future value: pending, then fulfilled or rejected. .then chains stay flat and one .catch handles any rejection.
async/await (ES2017): syntax over promises. An async function always returns a promise. await pauses that function (not the whole program) until the promise settles; meanwhile the event loop runs other work.
You will mostly write async/await, but you must still understand promises: Promise.all, unawaited promises and rejections are where the bugs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Sequential vs parallel (4 min).
Each await waits before starting the next line, so two independent requests awaited one after the other take the sum of their times. If they do not depend on each other, start both and await them together with Promise.all: total time is the slowest one.
Promise.all fails fast: if any promise rejects, the whole thing rejects (the others keep running, their results are just ignored). allSettled is right when partial results are useful, for example a dashboard calling several services.
The missing-await bug: getJson("/api/a") without await gives a pending Promise object; using it as data gives undefined fields or "[object Promise]" in the UI, and if it rejects nobody catches it. The ESLint rule @typescript-eslint/no-floating-promises catches this; it is on in the course template.
"Before / after numbers": if a student claims Promise.all made a page faster, ask them to show the Network tab timing before and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fetch (4 min). This connects today to the HTTP lifecycle topic.
fetch returns a promise immediately; the network work happens in the host. The promise resolves as soon as headers arrive, which is why the body needs a second await (res.json()).
Most important line: fetch only rejects on network failure (DNS error, offline, CORS block). A 404 or 500 is a successful fetch with res.ok === false. Code that skips the res.ok check treats error pages as data. AI-generated fetch code forgets this very often.
Top-level await (the posts line) works in ES modules and in the browser console, not in old CommonJS scripts.
Live demo: run it in the browser console on any page, watch the request in the Network tab, show status, headers,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Closed for the prediction (8 min).
Answer: A D F C E B
Reasoning:
- A: synchronous.
- setTimeout schedules B as a TASK (runs later, after microtasks).
- Promise.resolve().then schedules C as a MICROTASK.
- The async function starts running synchronously: prints D, then hits await null, which schedules the rest of the function (E) as a microtask after C.
- F: synchronous.
- Stack is empty: drain microtasks in order → C, E.
- Then the next task → B.
Common wrong answers: A B ... (thinking setTimeout 0 is immediate), or A F D ... (thinking async functions start later; they run synchronously until the first await).
Step 3 is the review habit: AI explanations of the event loop are frequently right about the output and confused about the reason, e.g. saying await "waits for setTimeout".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Modules (3 min).
ES modules (import/export) are the standard in browsers, in modern Node (with "type": "module" or .mjs files) and in TypeScript. Named exports vs default export: you will see both. NestJS projects compiled with TypeScript may output CommonJS (require/module.exports), so recognise both.
package.json lists dependencies with version ranges. ^4.1.0 means "any 4.x.y at least 4.1.0". The lockfile (package-lock.json) pins exact versions; it must be committed.
Supply chain: npm install runs code from strangers, sometimes at install time. AI assistants sometimes suggest packages that do not exist or are typo-squatted. Before adding a dependency, check it exists, is maintained, and is actually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 (3 min, or move to the TP if short on time).
The DOM is the browser's object model of the page. querySelector finds elements, addEventListener reacts to events (each handler is a task on the event loop), and properties like textContent change what is shown.
Security: never put untrusted data into innerHTML. textContent treats it as plain text. React escapes text by default for the same reason; dangerouslySetInnerHTML is named that way on purpose.
Bridge to the frontend weeks: notice we had to remember to update the button text every time likes changed. With two or three pieces of state this becomes error-prone. React/Vue let you describe the UI as a function of state, and they update the 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(TD, about 30 minutes). This is the core skill of the course: read, predict, prove with a test or a run, then fix. Everything in Parts 1–3 feeds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checklist (5 min).
These eight come from what we covered today, and they are all patterns that show up regularly in AI-generated JavaScript as well as in student code. Keep this list: it becomes part of the course's code review checklist used in PR reviews and in the midterm code review exam.
Quick tour, one sentence each:
1. Missing await: the variable is a Promise, not the data.
2. == with type conversion: "0" == 0, "" == 0.
3. Mutating a parameter changes the caller's data (reference semantics).
4. fetch does not throw on 404/500.
5. Floating point cannot represent most decimal amounts exactly.
6. innerHTML + user content = XSS.
7. Default sort compares as strings.
8. Anything in frontend code is public. API keys (including LLM keys later in the course) must stay on the server.
Ask: which of these would TypeScript catch? (Mainly 1 with the right lint rule, partly 2. Most are logic or security issues that need a human or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Guided (20 min). Uses the "Fix the AI's code" pattern from the syllabus.
Seeded defects:
1. fetch is not awaited → res is a Promise, res.json is not a function (TypeError).
2. No res.ok check → a 404/500 error body is treated as student data.
3. Off-by-one: i &lt;= students.length reads students[students.length], which is undefined → crash on .active.
4. active == "true": if active is the boolean true, true == "true" is false (true → 1, "true" → NaN), so nobody is ever counted. Should be s.active === true or just s.active.
5. Divides by ALL students instead of the number of active students.
6. No active students (or empty list) → division by zero → NaN or Infinity returned silently.
7. (Style) var instead of const/let.
Reference fix:
async function averageScore(classId) {
  const res = await fetch(`/api/classes/${classId}/students`);
  if (!res.ok) throw new Error(`HTTP ${res.status}`);
  const students = await res.json();
  const active = students.filter((s) =&gt; s.active === true);
  if (active.length === 0) return null;
  const total = active.reduce((sum, s) =&gt; sum + s.score, 0);
  return total / active.length;
}
Discussion: returning null vs throwing for "no active students" is a specification question, not a coding question. Who decides? (The spec / product owner. This leads into the specification weeks.)
Grading idea for TD: 1 point per defect with a failing input, max 5; explain-back check with 3 random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to TypeScript (3 min).
The typo s.scroe gives undefined in JS, so sum + undefined is NaN: no error, just a wrong number in the UI. Passing a string crashes only when the line runs, maybe in production. TypeScript reports both while you type.
Important limits: TypeScript types disappear after compilation. Data coming from fetch or a request body is not checked at runtime unless you validate it (class-validator in NestJS, zod on the frontend). So reviewing for the bugs on slide 29 is still necessary: most of them are logic and security bugs that types do not catch.
Next lesson starts with TypeScript for JavaScript programmers.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roadmap (2 min).
One TypeScript stack end to end: React (or Vue) + NestJS + PostgreSQL with Prisma or TypeORM. Point at each stage and name the JS concept from today that it depends on, so students see the lesson is not a detour:
- React components are functions with closures; lists are rendered with map; state updates use spread.
- NestJS controllers and services are classes; every database call is async.
- ORMs return promises and plain objects; mutation and reference rules apply to entities.
Bottom box is the "building + judging" pairing from the syllabus: every week has something to build and something to evaluate.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and lab (3 min).
Ask a student to restate each takeaway in their own words (explain-back).
Lab notes for the TP:
- The template repo should already include ESLint (no-var, prefer-const, eqeqeq, @typescript-eslint/no-floating-promises), a test runner and the CI workflow, so students meet linting and tests from day one.
- For Activity 4, prepare a small test file (e.g. with Vitest or node:test) that mocks fetch and checks: normal case, no active students, 404 response.
- The exercise set should mix "write it" and "review it" items, and be explicit about the AI level of each item.
- AI usage log format is the one in the course policy; it is collected from week 1 so it becomes a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(2 min).
Restate the course policy line: disclosed AI use is never penalised; code you cannot explain is the problem. From next week, random explain-back checks start in the labs.
Take questions. Remind students of the reading for the TypeScript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1B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886200"/>
            <a:ext cx="6949440" cy="1463040"/>
          </a:xfrm>
          <a:prstGeom prst="rect">
            <a:avLst/>
          </a:prstGeom>
          <a:noFill/>
          <a:ln/>
        </p:spPr>
        <p:txBody>
          <a:bodyPr wrap="square" rtlCol="0"/>
          <a:lstStyle>
            <a:lvl1pPr indent="0" marL="0">
              <a:buNone/>
              <a:defRPr lang="en-US" sz="1800" dirty="0">
                <a:solidFill>
                  <a:srgbClr val="D1D5DB"/>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B1B1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920240"/>
            <a:ext cx="7132320" cy="457200"/>
          </a:xfrm>
          <a:prstGeom prst="rect">
            <a:avLst/>
          </a:prstGeom>
          <a:noFill/>
          <a:ln/>
        </p:spPr>
        <p:txBody>
          <a:bodyPr wrap="square" rtlCol="0"/>
          <a:lstStyle>
            <a:lvl1pPr indent="0" marL="0">
              <a:buNone/>
              <a:defRPr lang="en-US" sz="1800" b="1" spc="300" kern="0" dirty="0">
                <a:solidFill>
                  <a:schemeClr val="accent1"/>
                </a:solidFill>
              </a:defRPr>
            </a:lvl1pPr>
          </a:lstStyle>
          <a:p>
            <a:pPr indent="0" marL="0">
              <a:buNone/>
            </a:pPr>
            <a:endParaRPr lang="en-US" sz="1800" dirty="0"/>
          </a:p>
        </p:txBody>
      </p:sp>
      <p:sp>
        <p:nvSpPr>
          <p:cNvPr id="3" name="Text 0"/>
          <p:cNvSpPr/>
          <p:nvPr>
            <p:ph idx="101" type="title" hasCustomPrompt="1"/>
          </p:nvPr>
        </p:nvSpPr>
        <p:spPr>
          <a:xfrm>
            <a:off x="731520" y="2468880"/>
            <a:ext cx="7132320" cy="12801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3840480"/>
            <a:ext cx="7132320" cy="1097280"/>
          </a:xfrm>
          <a:prstGeom prst="rect">
            <a:avLst/>
          </a:prstGeom>
          <a:noFill/>
          <a:ln/>
        </p:spPr>
        <p:txBody>
          <a:bodyPr wrap="square" rtlCol="0"/>
          <a:lstStyle>
            <a:lvl1pPr indent="0" marL="0">
              <a:buNone/>
              <a:defRPr lang="en-US" sz="1800" dirty="0">
                <a:solidFill>
                  <a:srgbClr val="D1D5DB"/>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11091672" y="475488"/>
            <a:ext cx="548640" cy="548640"/>
          </a:xfrm>
          <a:prstGeom prst="roundRect">
            <a:avLst>
              <a:gd name="adj" fmla="val 13333"/>
            </a:avLst>
          </a:prstGeom>
          <a:solidFill>
            <a:srgbClr val="F7DF1E"/>
          </a:solidFill>
          <a:ln>
            <a:solidFill>
              <a:srgbClr val="F7DF1E"/>
            </a:solidFill>
          </a:ln>
        </p:spPr>
        <p:txBody>
          <a:bodyPr wrap="square" lIns="38100" tIns="38100" rIns="38100" bIns="38100" rtlCol="0" anchor="b"/>
          <a:lstStyle/>
          <a:p>
            <a:pPr algn="r" indent="0" marL="0">
              <a:buNone/>
            </a:pPr>
            <a:r>
              <a:rPr lang="en-US" sz="1500" b="1" dirty="0">
                <a:solidFill>
                  <a:srgbClr val="1B1B1F"/>
                </a:solidFill>
                <a:latin typeface="Arial" pitchFamily="34" charset="0"/>
                <a:ea typeface="Arial" pitchFamily="34" charset="-122"/>
                <a:cs typeface="Arial" pitchFamily="34" charset="-120"/>
              </a:rPr>
              <a:t>JS</a:t>
            </a:r>
            <a:endParaRPr lang="en-US" sz="1500" dirty="0"/>
          </a:p>
        </p:txBody>
      </p:sp>
      <p:sp>
        <p:nvSpPr>
          <p:cNvPr id="4" name="Text 1"/>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rPr>
              <a:t>Internet Programming · Y3-SE · Lesson 1: JavaScript</a:t>
            </a:r>
            <a:endParaRPr lang="en-US" sz="1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828800"/>
          </a:xfrm>
          <a:prstGeom prst="rect">
            <a:avLst/>
          </a:prstGeom>
          <a:noFill/>
          <a:ln/>
        </p:spPr>
        <p:txBody>
          <a:bodyPr wrap="square" lIns="0" tIns="0" rIns="0" bIns="0" rtlCol="0" anchor="b"/>
          <a:lstStyle/>
          <a:p>
            <a:pPr algn="l" indent="0" marL="0">
              <a:buNone/>
            </a:pPr>
            <a:r>
              <a:rPr lang="en-US" sz="4400" b="1" dirty="0">
                <a:solidFill>
                  <a:schemeClr val="bg1"/>
                </a:solidFill>
              </a:rPr>
              <a:t>JavaScript: From Basics to Advanced</a:t>
            </a:r>
            <a:endParaRPr lang="en-US" sz="4400" dirty="0"/>
          </a:p>
        </p:txBody>
      </p:sp>
      <p:sp>
        <p:nvSpPr>
          <p:cNvPr id="3" name="Text 0"/>
          <p:cNvSpPr/>
          <p:nvPr>
            <p:ph idx="101" type="body" hasCustomPrompt="1"/>
          </p:nvPr>
        </p:nvSpPr>
        <p:spPr>
          <a:xfrm>
            <a:off x="731520" y="3886200"/>
            <a:ext cx="6949440" cy="1463040"/>
          </a:xfrm>
          <a:prstGeom prst="rect">
            <a:avLst/>
          </a:prstGeom>
          <a:noFill/>
          <a:ln/>
        </p:spPr>
        <p:txBody>
          <a:bodyPr wrap="square" lIns="0" tIns="0" rIns="0" bIns="0" rtlCol="0" anchor="t"/>
          <a:lstStyle/>
          <a:p>
            <a:pPr indent="0" marL="0">
              <a:buNone/>
            </a:pPr>
            <a:r>
              <a:rPr lang="en-US" sz="1800" b="1" dirty="0">
                <a:solidFill>
                  <a:schemeClr val="accent1"/>
                </a:solidFill>
              </a:rPr>
              <a:t>Internet Programming · Lesson 1</a:t>
            </a:r>
            <a:endParaRPr lang="en-US" sz="1800" dirty="0"/>
          </a:p>
          <a:p>
            <a:pPr indent="0" marL="0">
              <a:buNone/>
            </a:pPr>
            <a:r>
              <a:rPr lang="en-US" sz="1800" dirty="0">
                <a:solidFill>
                  <a:srgbClr val="D1D5DB"/>
                </a:solidFill>
              </a:rPr>
              <a:t>Y3-SE · ITC · Academic year 2026–2027</a:t>
            </a:r>
            <a:endParaRPr lang="en-US" sz="1800" dirty="0"/>
          </a:p>
          <a:p>
            <a:pPr indent="0" marL="0">
              <a:buNone/>
            </a:pPr>
            <a:r>
              <a:rPr lang="en-US" sz="1800" dirty="0">
                <a:solidFill>
                  <a:srgbClr val="D1D5DB"/>
                </a:solidFill>
              </a:rPr>
              <a:t>Mr. CHUN Thavorac</a:t>
            </a:r>
            <a:endParaRPr lang="en-US" sz="1800" dirty="0"/>
          </a:p>
        </p:txBody>
      </p:sp>
      <p:sp>
        <p:nvSpPr>
          <p:cNvPr id="4" name="title-mark"/>
          <p:cNvSpPr txBox="1"/>
          <p:nvPr/>
        </p:nvSpPr>
        <p:spPr>
          <a:xfrm>
            <a:off x="8229600" y="1463040"/>
            <a:ext cx="3200400" cy="3200400"/>
          </a:xfrm>
          <a:prstGeom prst="roundRect">
            <a:avLst>
              <a:gd name="adj" fmla="val 4286"/>
            </a:avLst>
          </a:prstGeom>
          <a:solidFill>
            <a:schemeClr val="accent1"/>
          </a:solidFill>
          <a:ln>
            <a:solidFill>
              <a:schemeClr val="accent1"/>
            </a:solidFill>
          </a:ln>
        </p:spPr>
        <p:txBody>
          <a:bodyPr wrap="square" lIns="177800" tIns="177800" rIns="177800" bIns="177800" rtlCol="0" anchor="b"/>
          <a:lstStyle/>
          <a:p>
            <a:pPr algn="r" indent="0" marL="0">
              <a:buNone/>
            </a:pPr>
            <a:r>
              <a:rPr lang="en-US" sz="13000" b="1" dirty="0">
                <a:solidFill>
                  <a:srgbClr val="1B1B1F"/>
                </a:solidFill>
                <a:latin typeface="Arial" pitchFamily="34" charset="0"/>
                <a:ea typeface="Arial" pitchFamily="34" charset="-122"/>
                <a:cs typeface="Arial" pitchFamily="34" charset="-120"/>
              </a:rPr>
              <a:t>JS</a:t>
            </a:r>
            <a:endParaRPr lang="en-US" sz="1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Today’s plan</a:t>
            </a:r>
            <a:endParaRPr lang="en-US" sz="3200" dirty="0"/>
          </a:p>
        </p:txBody>
      </p:sp>
      <p:sp>
        <p:nvSpPr>
          <p:cNvPr id="3" name="agenda-card-1"/>
          <p:cNvSpPr/>
          <p:nvPr/>
        </p:nvSpPr>
        <p:spPr>
          <a:xfrm>
            <a:off x="548640" y="1463040"/>
            <a:ext cx="2587752" cy="3246120"/>
          </a:xfrm>
          <a:prstGeom prst="roundRect">
            <a:avLst>
              <a:gd name="adj" fmla="val 2827"/>
            </a:avLst>
          </a:prstGeom>
          <a:solidFill>
            <a:schemeClr val="bg2"/>
          </a:solidFill>
          <a:ln w="12700">
            <a:solidFill>
              <a:schemeClr val="bg2"/>
            </a:solidFill>
            <a:prstDash val="solid"/>
          </a:ln>
        </p:spPr>
      </p:sp>
      <p:sp>
        <p:nvSpPr>
          <p:cNvPr id="4" name="agenda-num-2"/>
          <p:cNvSpPr txBox="1"/>
          <p:nvPr/>
        </p:nvSpPr>
        <p:spPr>
          <a:xfrm>
            <a:off x="777240" y="1645920"/>
            <a:ext cx="731520" cy="731520"/>
          </a:xfrm>
          <a:prstGeom prst="roundRect">
            <a:avLst>
              <a:gd name="adj" fmla="val 10000"/>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rgbClr val="1B1B1F"/>
                </a:solidFill>
              </a:rPr>
              <a:t>01</a:t>
            </a:r>
            <a:endParaRPr lang="en-US" sz="2000" dirty="0"/>
          </a:p>
        </p:txBody>
      </p:sp>
      <p:sp>
        <p:nvSpPr>
          <p:cNvPr id="5" name="agenda-head-3"/>
          <p:cNvSpPr txBox="1"/>
          <p:nvPr/>
        </p:nvSpPr>
        <p:spPr>
          <a:xfrm>
            <a:off x="777240" y="2560320"/>
            <a:ext cx="2130552" cy="457200"/>
          </a:xfrm>
          <a:prstGeom prst="rect">
            <a:avLst/>
          </a:prstGeom>
          <a:noFill/>
          <a:ln/>
        </p:spPr>
        <p:txBody>
          <a:bodyPr wrap="square" lIns="0" tIns="0" rIns="0" bIns="0" rtlCol="0" anchor="ctr"/>
          <a:lstStyle/>
          <a:p>
            <a:pPr indent="0" marL="0">
              <a:buNone/>
            </a:pPr>
            <a:r>
              <a:rPr lang="en-US" sz="1900" b="1" dirty="0">
                <a:solidFill>
                  <a:schemeClr val="tx1"/>
                </a:solidFill>
              </a:rPr>
              <a:t>Foundations</a:t>
            </a:r>
            <a:endParaRPr lang="en-US" sz="1900" dirty="0"/>
          </a:p>
        </p:txBody>
      </p:sp>
      <p:sp>
        <p:nvSpPr>
          <p:cNvPr id="6" name="agenda-list-4"/>
          <p:cNvSpPr txBox="1"/>
          <p:nvPr/>
        </p:nvSpPr>
        <p:spPr>
          <a:xfrm>
            <a:off x="777240" y="3108960"/>
            <a:ext cx="2221992" cy="14630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374151"/>
                </a:solidFill>
              </a:rPr>
              <a:t>Variables and scope</a:t>
            </a:r>
            <a:endParaRPr lang="en-US" sz="1500" dirty="0"/>
          </a:p>
          <a:p>
            <a:pPr marL="177800" indent="-177800">
              <a:spcAft>
                <a:spcPts val="600"/>
              </a:spcAft>
              <a:buSzPct val="100000"/>
              <a:buChar char="•"/>
            </a:pPr>
            <a:r>
              <a:rPr lang="en-US" sz="1500" dirty="0">
                <a:solidFill>
                  <a:srgbClr val="374151"/>
                </a:solidFill>
              </a:rPr>
              <a:t>Types and coercion</a:t>
            </a:r>
            <a:endParaRPr lang="en-US" sz="1500" dirty="0"/>
          </a:p>
          <a:p>
            <a:pPr marL="177800" indent="-177800">
              <a:spcAft>
                <a:spcPts val="600"/>
              </a:spcAft>
              <a:buSzPct val="100000"/>
              <a:buChar char="•"/>
            </a:pPr>
            <a:r>
              <a:rPr lang="en-US" sz="1500" dirty="0">
                <a:solidFill>
                  <a:srgbClr val="374151"/>
                </a:solidFill>
              </a:rPr>
              <a:t>Modern syntax</a:t>
            </a:r>
            <a:endParaRPr lang="en-US" sz="1500" dirty="0"/>
          </a:p>
        </p:txBody>
      </p:sp>
      <p:sp>
        <p:nvSpPr>
          <p:cNvPr id="7" name="agenda-card-5"/>
          <p:cNvSpPr/>
          <p:nvPr/>
        </p:nvSpPr>
        <p:spPr>
          <a:xfrm>
            <a:off x="3383280" y="1463040"/>
            <a:ext cx="2587752" cy="3246120"/>
          </a:xfrm>
          <a:prstGeom prst="roundRect">
            <a:avLst>
              <a:gd name="adj" fmla="val 2827"/>
            </a:avLst>
          </a:prstGeom>
          <a:solidFill>
            <a:schemeClr val="bg2"/>
          </a:solidFill>
          <a:ln w="12700">
            <a:solidFill>
              <a:schemeClr val="bg2"/>
            </a:solidFill>
            <a:prstDash val="solid"/>
          </a:ln>
        </p:spPr>
      </p:sp>
      <p:sp>
        <p:nvSpPr>
          <p:cNvPr id="8" name="agenda-num-6"/>
          <p:cNvSpPr txBox="1"/>
          <p:nvPr/>
        </p:nvSpPr>
        <p:spPr>
          <a:xfrm>
            <a:off x="3611880" y="1645920"/>
            <a:ext cx="731520" cy="731520"/>
          </a:xfrm>
          <a:prstGeom prst="roundRect">
            <a:avLst>
              <a:gd name="adj" fmla="val 10000"/>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rgbClr val="1B1B1F"/>
                </a:solidFill>
              </a:rPr>
              <a:t>02</a:t>
            </a:r>
            <a:endParaRPr lang="en-US" sz="2000" dirty="0"/>
          </a:p>
        </p:txBody>
      </p:sp>
      <p:sp>
        <p:nvSpPr>
          <p:cNvPr id="9" name="agenda-head-7"/>
          <p:cNvSpPr txBox="1"/>
          <p:nvPr/>
        </p:nvSpPr>
        <p:spPr>
          <a:xfrm>
            <a:off x="3611880" y="2560320"/>
            <a:ext cx="2130552" cy="457200"/>
          </a:xfrm>
          <a:prstGeom prst="rect">
            <a:avLst/>
          </a:prstGeom>
          <a:noFill/>
          <a:ln/>
        </p:spPr>
        <p:txBody>
          <a:bodyPr wrap="square" lIns="0" tIns="0" rIns="0" bIns="0" rtlCol="0" anchor="ctr"/>
          <a:lstStyle/>
          <a:p>
            <a:pPr indent="0" marL="0">
              <a:buNone/>
            </a:pPr>
            <a:r>
              <a:rPr lang="en-US" sz="1900" b="1" dirty="0">
                <a:solidFill>
                  <a:schemeClr val="tx1"/>
                </a:solidFill>
              </a:rPr>
              <a:t>Functions &amp; objects</a:t>
            </a:r>
            <a:endParaRPr lang="en-US" sz="1900" dirty="0"/>
          </a:p>
        </p:txBody>
      </p:sp>
      <p:sp>
        <p:nvSpPr>
          <p:cNvPr id="10" name="agenda-list-8"/>
          <p:cNvSpPr txBox="1"/>
          <p:nvPr/>
        </p:nvSpPr>
        <p:spPr>
          <a:xfrm>
            <a:off x="3611880" y="3108960"/>
            <a:ext cx="2221992" cy="14630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374151"/>
                </a:solidFill>
              </a:rPr>
              <a:t>Closures and this</a:t>
            </a:r>
            <a:endParaRPr lang="en-US" sz="1500" dirty="0"/>
          </a:p>
          <a:p>
            <a:pPr marL="177800" indent="-177800">
              <a:spcAft>
                <a:spcPts val="600"/>
              </a:spcAft>
              <a:buSzPct val="100000"/>
              <a:buChar char="•"/>
            </a:pPr>
            <a:r>
              <a:rPr lang="en-US" sz="1500" dirty="0">
                <a:solidFill>
                  <a:srgbClr val="374151"/>
                </a:solidFill>
              </a:rPr>
              <a:t>Array methods</a:t>
            </a:r>
            <a:endParaRPr lang="en-US" sz="1500" dirty="0"/>
          </a:p>
          <a:p>
            <a:pPr marL="177800" indent="-177800">
              <a:spcAft>
                <a:spcPts val="600"/>
              </a:spcAft>
              <a:buSzPct val="100000"/>
              <a:buChar char="•"/>
            </a:pPr>
            <a:r>
              <a:rPr lang="en-US" sz="1500" dirty="0">
                <a:solidFill>
                  <a:srgbClr val="374151"/>
                </a:solidFill>
              </a:rPr>
              <a:t>References, classes</a:t>
            </a:r>
            <a:endParaRPr lang="en-US" sz="1500" dirty="0"/>
          </a:p>
        </p:txBody>
      </p:sp>
      <p:sp>
        <p:nvSpPr>
          <p:cNvPr id="11" name="agenda-card-9"/>
          <p:cNvSpPr/>
          <p:nvPr/>
        </p:nvSpPr>
        <p:spPr>
          <a:xfrm>
            <a:off x="6217920" y="1463040"/>
            <a:ext cx="2587752" cy="3246120"/>
          </a:xfrm>
          <a:prstGeom prst="roundRect">
            <a:avLst>
              <a:gd name="adj" fmla="val 2827"/>
            </a:avLst>
          </a:prstGeom>
          <a:solidFill>
            <a:schemeClr val="bg2"/>
          </a:solidFill>
          <a:ln w="12700">
            <a:solidFill>
              <a:schemeClr val="bg2"/>
            </a:solidFill>
            <a:prstDash val="solid"/>
          </a:ln>
        </p:spPr>
      </p:sp>
      <p:sp>
        <p:nvSpPr>
          <p:cNvPr id="12" name="agenda-num-10"/>
          <p:cNvSpPr txBox="1"/>
          <p:nvPr/>
        </p:nvSpPr>
        <p:spPr>
          <a:xfrm>
            <a:off x="6446520" y="1645920"/>
            <a:ext cx="731520" cy="731520"/>
          </a:xfrm>
          <a:prstGeom prst="roundRect">
            <a:avLst>
              <a:gd name="adj" fmla="val 10000"/>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rgbClr val="1B1B1F"/>
                </a:solidFill>
              </a:rPr>
              <a:t>03</a:t>
            </a:r>
            <a:endParaRPr lang="en-US" sz="2000" dirty="0"/>
          </a:p>
        </p:txBody>
      </p:sp>
      <p:sp>
        <p:nvSpPr>
          <p:cNvPr id="13" name="agenda-head-11"/>
          <p:cNvSpPr txBox="1"/>
          <p:nvPr/>
        </p:nvSpPr>
        <p:spPr>
          <a:xfrm>
            <a:off x="6446520" y="2560320"/>
            <a:ext cx="2130552" cy="457200"/>
          </a:xfrm>
          <a:prstGeom prst="rect">
            <a:avLst/>
          </a:prstGeom>
          <a:noFill/>
          <a:ln/>
        </p:spPr>
        <p:txBody>
          <a:bodyPr wrap="square" lIns="0" tIns="0" rIns="0" bIns="0" rtlCol="0" anchor="ctr"/>
          <a:lstStyle/>
          <a:p>
            <a:pPr indent="0" marL="0">
              <a:buNone/>
            </a:pPr>
            <a:r>
              <a:rPr lang="en-US" sz="1900" b="1" dirty="0">
                <a:solidFill>
                  <a:schemeClr val="tx1"/>
                </a:solidFill>
              </a:rPr>
              <a:t>Async &amp; modules</a:t>
            </a:r>
            <a:endParaRPr lang="en-US" sz="1900" dirty="0"/>
          </a:p>
        </p:txBody>
      </p:sp>
      <p:sp>
        <p:nvSpPr>
          <p:cNvPr id="14" name="agenda-list-12"/>
          <p:cNvSpPr txBox="1"/>
          <p:nvPr/>
        </p:nvSpPr>
        <p:spPr>
          <a:xfrm>
            <a:off x="6446520" y="3108960"/>
            <a:ext cx="2221992" cy="14630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374151"/>
                </a:solidFill>
              </a:rPr>
              <a:t>The event loop</a:t>
            </a:r>
            <a:endParaRPr lang="en-US" sz="1500" dirty="0"/>
          </a:p>
          <a:p>
            <a:pPr marL="177800" indent="-177800">
              <a:spcAft>
                <a:spcPts val="600"/>
              </a:spcAft>
              <a:buSzPct val="100000"/>
              <a:buChar char="•"/>
            </a:pPr>
            <a:r>
              <a:rPr lang="en-US" sz="1500" dirty="0">
                <a:solidFill>
                  <a:srgbClr val="374151"/>
                </a:solidFill>
              </a:rPr>
              <a:t>Promises, async/await</a:t>
            </a:r>
            <a:endParaRPr lang="en-US" sz="1500" dirty="0"/>
          </a:p>
          <a:p>
            <a:pPr marL="177800" indent="-177800">
              <a:spcAft>
                <a:spcPts val="600"/>
              </a:spcAft>
              <a:buSzPct val="100000"/>
              <a:buChar char="•"/>
            </a:pPr>
            <a:r>
              <a:rPr lang="en-US" sz="1500" dirty="0">
                <a:solidFill>
                  <a:srgbClr val="374151"/>
                </a:solidFill>
              </a:rPr>
              <a:t>fetch, ESM, the DOM</a:t>
            </a:r>
            <a:endParaRPr lang="en-US" sz="1500" dirty="0"/>
          </a:p>
        </p:txBody>
      </p:sp>
      <p:sp>
        <p:nvSpPr>
          <p:cNvPr id="15" name="agenda-card-13"/>
          <p:cNvSpPr/>
          <p:nvPr/>
        </p:nvSpPr>
        <p:spPr>
          <a:xfrm>
            <a:off x="9052560" y="1463040"/>
            <a:ext cx="2587752" cy="3246120"/>
          </a:xfrm>
          <a:prstGeom prst="roundRect">
            <a:avLst>
              <a:gd name="adj" fmla="val 2827"/>
            </a:avLst>
          </a:prstGeom>
          <a:solidFill>
            <a:schemeClr val="bg2"/>
          </a:solidFill>
          <a:ln w="12700">
            <a:solidFill>
              <a:schemeClr val="bg2"/>
            </a:solidFill>
            <a:prstDash val="solid"/>
          </a:ln>
        </p:spPr>
      </p:sp>
      <p:sp>
        <p:nvSpPr>
          <p:cNvPr id="16" name="agenda-num-14"/>
          <p:cNvSpPr txBox="1"/>
          <p:nvPr/>
        </p:nvSpPr>
        <p:spPr>
          <a:xfrm>
            <a:off x="9281160" y="1645920"/>
            <a:ext cx="731520" cy="731520"/>
          </a:xfrm>
          <a:prstGeom prst="roundRect">
            <a:avLst>
              <a:gd name="adj" fmla="val 10000"/>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rgbClr val="1B1B1F"/>
                </a:solidFill>
              </a:rPr>
              <a:t>04</a:t>
            </a:r>
            <a:endParaRPr lang="en-US" sz="2000" dirty="0"/>
          </a:p>
        </p:txBody>
      </p:sp>
      <p:sp>
        <p:nvSpPr>
          <p:cNvPr id="17" name="agenda-head-15"/>
          <p:cNvSpPr txBox="1"/>
          <p:nvPr/>
        </p:nvSpPr>
        <p:spPr>
          <a:xfrm>
            <a:off x="9281160" y="2560320"/>
            <a:ext cx="2130552" cy="457200"/>
          </a:xfrm>
          <a:prstGeom prst="rect">
            <a:avLst/>
          </a:prstGeom>
          <a:noFill/>
          <a:ln/>
        </p:spPr>
        <p:txBody>
          <a:bodyPr wrap="square" lIns="0" tIns="0" rIns="0" bIns="0" rtlCol="0" anchor="ctr"/>
          <a:lstStyle/>
          <a:p>
            <a:pPr indent="0" marL="0">
              <a:buNone/>
            </a:pPr>
            <a:r>
              <a:rPr lang="en-US" sz="1900" b="1" dirty="0">
                <a:solidFill>
                  <a:schemeClr val="tx1"/>
                </a:solidFill>
              </a:rPr>
              <a:t>Judging code</a:t>
            </a:r>
            <a:endParaRPr lang="en-US" sz="1900" dirty="0"/>
          </a:p>
        </p:txBody>
      </p:sp>
      <p:sp>
        <p:nvSpPr>
          <p:cNvPr id="18" name="agenda-list-16"/>
          <p:cNvSpPr txBox="1"/>
          <p:nvPr/>
        </p:nvSpPr>
        <p:spPr>
          <a:xfrm>
            <a:off x="9281160" y="3108960"/>
            <a:ext cx="2221992" cy="14630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374151"/>
                </a:solidFill>
              </a:rPr>
              <a:t>Bugs AI often writes</a:t>
            </a:r>
            <a:endParaRPr lang="en-US" sz="1500" dirty="0"/>
          </a:p>
          <a:p>
            <a:pPr marL="177800" indent="-177800">
              <a:spcAft>
                <a:spcPts val="600"/>
              </a:spcAft>
              <a:buSzPct val="100000"/>
              <a:buChar char="•"/>
            </a:pPr>
            <a:r>
              <a:rPr lang="en-US" sz="1500" dirty="0">
                <a:solidFill>
                  <a:srgbClr val="374151"/>
                </a:solidFill>
              </a:rPr>
              <a:t>Fix the AI’s code</a:t>
            </a:r>
            <a:endParaRPr lang="en-US" sz="1500" dirty="0"/>
          </a:p>
          <a:p>
            <a:pPr marL="177800" indent="-177800">
              <a:spcAft>
                <a:spcPts val="600"/>
              </a:spcAft>
              <a:buSzPct val="100000"/>
              <a:buChar char="•"/>
            </a:pPr>
            <a:r>
              <a:rPr lang="en-US" sz="1500" dirty="0">
                <a:solidFill>
                  <a:srgbClr val="374151"/>
                </a:solidFill>
              </a:rPr>
              <a:t>Why TypeScript next</a:t>
            </a:r>
            <a:endParaRPr lang="en-US" sz="1500" dirty="0"/>
          </a:p>
        </p:txBody>
      </p:sp>
      <p:sp>
        <p:nvSpPr>
          <p:cNvPr id="19" name="agenda-strip"/>
          <p:cNvSpPr/>
          <p:nvPr/>
        </p:nvSpPr>
        <p:spPr>
          <a:xfrm>
            <a:off x="548640" y="5029200"/>
            <a:ext cx="11091672" cy="960120"/>
          </a:xfrm>
          <a:prstGeom prst="roundRect">
            <a:avLst>
              <a:gd name="adj" fmla="val 7619"/>
            </a:avLst>
          </a:prstGeom>
          <a:solidFill>
            <a:schemeClr val="tx2"/>
          </a:solidFill>
          <a:ln w="12700">
            <a:solidFill>
              <a:schemeClr val="tx2"/>
            </a:solidFill>
            <a:prstDash val="solid"/>
          </a:ln>
        </p:spPr>
      </p:sp>
      <p:sp>
        <p:nvSpPr>
          <p:cNvPr id="20" name="agenda-strip-text"/>
          <p:cNvSpPr txBox="1"/>
          <p:nvPr/>
        </p:nvSpPr>
        <p:spPr>
          <a:xfrm>
            <a:off x="822960" y="5029200"/>
            <a:ext cx="10607040" cy="960120"/>
          </a:xfrm>
          <a:prstGeom prst="rect">
            <a:avLst/>
          </a:prstGeom>
          <a:noFill/>
          <a:ln/>
        </p:spPr>
        <p:txBody>
          <a:bodyPr wrap="square" lIns="0" tIns="0" rIns="0" bIns="0" rtlCol="0" anchor="ctr"/>
          <a:lstStyle/>
          <a:p>
            <a:pPr indent="0" marL="0">
              <a:buNone/>
            </a:pPr>
            <a:r>
              <a:rPr lang="en-US" sz="1600" b="1" dirty="0">
                <a:solidFill>
                  <a:schemeClr val="accent1"/>
                </a:solidFill>
              </a:rPr>
              <a:t>4 in-class activities. </a:t>
            </a:r>
            <a:pPr indent="0" marL="0">
              <a:buNone/>
            </a:pPr>
            <a:r>
              <a:rPr lang="en-US" sz="1600" dirty="0">
                <a:solidFill>
                  <a:srgbClr val="FFFFFF"/>
                </a:solidFill>
              </a:rPr>
              <a:t>Each one is tagged with its AI level: </a:t>
            </a:r>
            <a:pPr indent="0" marL="0">
              <a:buNone/>
            </a:pPr>
            <a:r>
              <a:rPr lang="en-US" sz="1600" b="1" dirty="0">
                <a:solidFill>
                  <a:srgbClr val="FFFFFF"/>
                </a:solidFill>
              </a:rPr>
              <a:t>Closed</a:t>
            </a:r>
            <a:pPr indent="0" marL="0">
              <a:buNone/>
            </a:pPr>
            <a:r>
              <a:rPr lang="en-US" sz="1600" dirty="0">
                <a:solidFill>
                  <a:srgbClr val="FFFFFF"/>
                </a:solidFill>
              </a:rPr>
              <a:t> (no AI, reasoning only) or </a:t>
            </a:r>
            <a:pPr indent="0" marL="0">
              <a:buNone/>
            </a:pPr>
            <a:r>
              <a:rPr lang="en-US" sz="1600" b="1" dirty="0">
                <a:solidFill>
                  <a:srgbClr val="FFFFFF"/>
                </a:solidFill>
              </a:rPr>
              <a:t>Guided</a:t>
            </a:r>
            <a:pPr indent="0" marL="0">
              <a:buNone/>
            </a:pPr>
            <a:r>
              <a:rPr lang="en-US" sz="1600" dirty="0">
                <a:solidFill>
                  <a:srgbClr val="FFFFFF"/>
                </a:solidFill>
              </a:rPr>
              <a:t> (AI may help implement; the judging is yours).</a:t>
            </a:r>
            <a:endParaRPr lang="en-US" sz="16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Why JavaScript, still, in the AI era</a:t>
            </a:r>
            <a:endParaRPr lang="en-US" sz="3200" dirty="0"/>
          </a:p>
        </p:txBody>
      </p:sp>
      <p:sp>
        <p:nvSpPr>
          <p:cNvPr id="3" name="why-head-17"/>
          <p:cNvSpPr txBox="1"/>
          <p:nvPr/>
        </p:nvSpPr>
        <p:spPr>
          <a:xfrm>
            <a:off x="548640" y="1463040"/>
            <a:ext cx="3520440" cy="685800"/>
          </a:xfrm>
          <a:prstGeom prst="roundRect">
            <a:avLst>
              <a:gd name="adj" fmla="val 10667"/>
            </a:avLst>
          </a:prstGeom>
          <a:solidFill>
            <a:schemeClr val="accent1"/>
          </a:solidFill>
          <a:ln>
            <a:solidFill>
              <a:schemeClr val="accent1"/>
            </a:solidFill>
          </a:ln>
        </p:spPr>
        <p:txBody>
          <a:bodyPr wrap="square" lIns="177800" tIns="177800" rIns="177800" bIns="177800" rtlCol="0" anchor="ctr"/>
          <a:lstStyle/>
          <a:p>
            <a:pPr algn="l" indent="0" marL="0">
              <a:buNone/>
            </a:pPr>
            <a:r>
              <a:rPr lang="en-US" sz="2000" b="1" dirty="0">
                <a:solidFill>
                  <a:srgbClr val="1B1B1F"/>
                </a:solidFill>
              </a:rPr>
              <a:t>Browser</a:t>
            </a:r>
            <a:endParaRPr lang="en-US" sz="2000" dirty="0"/>
          </a:p>
        </p:txBody>
      </p:sp>
      <p:sp>
        <p:nvSpPr>
          <p:cNvPr id="4" name="why-body-18"/>
          <p:cNvSpPr txBox="1"/>
          <p:nvPr/>
        </p:nvSpPr>
        <p:spPr>
          <a:xfrm>
            <a:off x="548640" y="2240280"/>
            <a:ext cx="3520440" cy="1005840"/>
          </a:xfrm>
          <a:prstGeom prst="rect">
            <a:avLst/>
          </a:prstGeom>
          <a:noFill/>
          <a:ln/>
        </p:spPr>
        <p:txBody>
          <a:bodyPr wrap="square" lIns="50800" tIns="203200" rIns="203200" bIns="0" rtlCol="0" anchor="t"/>
          <a:lstStyle/>
          <a:p>
            <a:pPr indent="0" marL="0">
              <a:buNone/>
            </a:pPr>
            <a:r>
              <a:rPr lang="en-US" sz="1600" dirty="0">
                <a:solidFill>
                  <a:srgbClr val="374151"/>
                </a:solidFill>
              </a:rPr>
              <a:t>React or Vue components, DOM events, fetch calls to your API.</a:t>
            </a:r>
            <a:endParaRPr lang="en-US" sz="1600" dirty="0"/>
          </a:p>
        </p:txBody>
      </p:sp>
      <p:sp>
        <p:nvSpPr>
          <p:cNvPr id="5" name="why-head-19"/>
          <p:cNvSpPr txBox="1"/>
          <p:nvPr/>
        </p:nvSpPr>
        <p:spPr>
          <a:xfrm>
            <a:off x="4334256" y="1463040"/>
            <a:ext cx="3520440" cy="685800"/>
          </a:xfrm>
          <a:prstGeom prst="roundRect">
            <a:avLst>
              <a:gd name="adj" fmla="val 10667"/>
            </a:avLst>
          </a:prstGeom>
          <a:solidFill>
            <a:schemeClr val="accent2"/>
          </a:solidFill>
          <a:ln>
            <a:solidFill>
              <a:schemeClr val="accent2"/>
            </a:solidFill>
          </a:ln>
        </p:spPr>
        <p:txBody>
          <a:bodyPr wrap="square" lIns="177800" tIns="177800" rIns="177800" bIns="177800" rtlCol="0" anchor="ctr"/>
          <a:lstStyle/>
          <a:p>
            <a:pPr algn="l" indent="0" marL="0">
              <a:buNone/>
            </a:pPr>
            <a:r>
              <a:rPr lang="en-US" sz="2000" b="1" dirty="0">
                <a:solidFill>
                  <a:srgbClr val="FFFFFF"/>
                </a:solidFill>
              </a:rPr>
              <a:t>Server</a:t>
            </a:r>
            <a:endParaRPr lang="en-US" sz="2000" dirty="0"/>
          </a:p>
        </p:txBody>
      </p:sp>
      <p:sp>
        <p:nvSpPr>
          <p:cNvPr id="6" name="why-body-20"/>
          <p:cNvSpPr txBox="1"/>
          <p:nvPr/>
        </p:nvSpPr>
        <p:spPr>
          <a:xfrm>
            <a:off x="4334256" y="2240280"/>
            <a:ext cx="3520440" cy="1005840"/>
          </a:xfrm>
          <a:prstGeom prst="rect">
            <a:avLst/>
          </a:prstGeom>
          <a:noFill/>
          <a:ln/>
        </p:spPr>
        <p:txBody>
          <a:bodyPr wrap="square" lIns="50800" tIns="203200" rIns="203200" bIns="0" rtlCol="0" anchor="t"/>
          <a:lstStyle/>
          <a:p>
            <a:pPr indent="0" marL="0">
              <a:buNone/>
            </a:pPr>
            <a:r>
              <a:rPr lang="en-US" sz="1600" dirty="0">
                <a:solidFill>
                  <a:srgbClr val="374151"/>
                </a:solidFill>
              </a:rPr>
              <a:t>NestJS on Node.js: controllers, services, database access.</a:t>
            </a:r>
            <a:endParaRPr lang="en-US" sz="1600" dirty="0"/>
          </a:p>
        </p:txBody>
      </p:sp>
      <p:sp>
        <p:nvSpPr>
          <p:cNvPr id="7" name="why-head-21"/>
          <p:cNvSpPr txBox="1"/>
          <p:nvPr/>
        </p:nvSpPr>
        <p:spPr>
          <a:xfrm>
            <a:off x="8119872" y="1463040"/>
            <a:ext cx="3520440" cy="685800"/>
          </a:xfrm>
          <a:prstGeom prst="roundRect">
            <a:avLst>
              <a:gd name="adj" fmla="val 10667"/>
            </a:avLst>
          </a:prstGeom>
          <a:solidFill>
            <a:schemeClr val="tx2"/>
          </a:solidFill>
          <a:ln>
            <a:solidFill>
              <a:schemeClr val="tx2"/>
            </a:solidFill>
          </a:ln>
        </p:spPr>
        <p:txBody>
          <a:bodyPr wrap="square" lIns="177800" tIns="177800" rIns="177800" bIns="177800" rtlCol="0" anchor="ctr"/>
          <a:lstStyle/>
          <a:p>
            <a:pPr algn="l" indent="0" marL="0">
              <a:buNone/>
            </a:pPr>
            <a:r>
              <a:rPr lang="en-US" sz="2000" b="1" dirty="0">
                <a:solidFill>
                  <a:srgbClr val="FFFFFF"/>
                </a:solidFill>
              </a:rPr>
              <a:t>Tooling</a:t>
            </a:r>
            <a:endParaRPr lang="en-US" sz="2000" dirty="0"/>
          </a:p>
        </p:txBody>
      </p:sp>
      <p:sp>
        <p:nvSpPr>
          <p:cNvPr id="8" name="why-body-22"/>
          <p:cNvSpPr txBox="1"/>
          <p:nvPr/>
        </p:nvSpPr>
        <p:spPr>
          <a:xfrm>
            <a:off x="8119872" y="2240280"/>
            <a:ext cx="3520440" cy="1005840"/>
          </a:xfrm>
          <a:prstGeom prst="rect">
            <a:avLst/>
          </a:prstGeom>
          <a:noFill/>
          <a:ln/>
        </p:spPr>
        <p:txBody>
          <a:bodyPr wrap="square" lIns="50800" tIns="203200" rIns="203200" bIns="0" rtlCol="0" anchor="t"/>
          <a:lstStyle/>
          <a:p>
            <a:pPr indent="0" marL="0">
              <a:buNone/>
            </a:pPr>
            <a:r>
              <a:rPr lang="en-US" sz="1600" dirty="0">
                <a:solidFill>
                  <a:srgbClr val="374151"/>
                </a:solidFill>
              </a:rPr>
              <a:t>npm, Vite, ESLint, test runners and CI scripts are all JS.</a:t>
            </a:r>
            <a:endParaRPr lang="en-US" sz="1600" dirty="0"/>
          </a:p>
        </p:txBody>
      </p:sp>
      <p:sp>
        <p:nvSpPr>
          <p:cNvPr id="9" name="why-note"/>
          <p:cNvSpPr txBox="1"/>
          <p:nvPr/>
        </p:nvSpPr>
        <p:spPr>
          <a:xfrm>
            <a:off x="548640" y="3383280"/>
            <a:ext cx="11091672" cy="457200"/>
          </a:xfrm>
          <a:prstGeom prst="rect">
            <a:avLst/>
          </a:prstGeom>
          <a:noFill/>
          <a:ln/>
        </p:spPr>
        <p:txBody>
          <a:bodyPr wrap="square" lIns="0" tIns="0" rIns="0" bIns="0" rtlCol="0" anchor="ctr"/>
          <a:lstStyle/>
          <a:p>
            <a:pPr indent="0" marL="0">
              <a:buNone/>
            </a:pPr>
            <a:r>
              <a:rPr lang="en-US" sz="1600" i="1" dirty="0">
                <a:solidFill>
                  <a:srgbClr val="6B7280"/>
                </a:solidFill>
              </a:rPr>
              <a:t>One language, the whole stack: this course uses TypeScript (typed JavaScript) from the UI to the database layer.</a:t>
            </a:r>
            <a:endParaRPr lang="en-US" sz="1600" dirty="0"/>
          </a:p>
        </p:txBody>
      </p:sp>
      <p:sp>
        <p:nvSpPr>
          <p:cNvPr id="10" name="why-quote-bg"/>
          <p:cNvSpPr/>
          <p:nvPr/>
        </p:nvSpPr>
        <p:spPr>
          <a:xfrm>
            <a:off x="548640" y="4069080"/>
            <a:ext cx="11091672" cy="1920240"/>
          </a:xfrm>
          <a:prstGeom prst="roundRect">
            <a:avLst>
              <a:gd name="adj" fmla="val 3810"/>
            </a:avLst>
          </a:prstGeom>
          <a:solidFill>
            <a:schemeClr val="bg2"/>
          </a:solidFill>
          <a:ln w="12700">
            <a:solidFill>
              <a:schemeClr val="bg2"/>
            </a:solidFill>
            <a:prstDash val="solid"/>
          </a:ln>
        </p:spPr>
      </p:sp>
      <p:sp>
        <p:nvSpPr>
          <p:cNvPr id="11" name="why-quote"/>
          <p:cNvSpPr txBox="1"/>
          <p:nvPr/>
        </p:nvSpPr>
        <p:spPr>
          <a:xfrm>
            <a:off x="914400" y="4206240"/>
            <a:ext cx="10332720" cy="1645920"/>
          </a:xfrm>
          <a:prstGeom prst="rect">
            <a:avLst/>
          </a:prstGeom>
          <a:noFill/>
          <a:ln/>
        </p:spPr>
        <p:txBody>
          <a:bodyPr wrap="square" lIns="0" tIns="0" rIns="0" bIns="0" rtlCol="0" anchor="ctr"/>
          <a:lstStyle/>
          <a:p>
            <a:pPr indent="0" marL="0">
              <a:spcAft>
                <a:spcPts val="800"/>
              </a:spcAft>
              <a:buNone/>
            </a:pPr>
            <a:r>
              <a:rPr lang="en-US" sz="2400" b="1" dirty="0">
                <a:solidFill>
                  <a:schemeClr val="tx1"/>
                </a:solidFill>
              </a:rPr>
              <a:t>An AI assistant can write JavaScript in seconds.</a:t>
            </a:r>
            <a:endParaRPr lang="en-US" sz="2400" dirty="0"/>
          </a:p>
          <a:p>
            <a:pPr indent="0" marL="0">
              <a:spcAft>
                <a:spcPts val="800"/>
              </a:spcAft>
              <a:buNone/>
            </a:pPr>
            <a:r>
              <a:rPr lang="en-US" sz="1700" dirty="0">
                <a:solidFill>
                  <a:srgbClr val="374151"/>
                </a:solidFill>
              </a:rPr>
              <a:t>Your job is to know whether it is right: what it does, where it breaks, and how to prove it. That needs a real understanding of the language, not just its syntax.</a:t>
            </a:r>
            <a:endParaRPr lang="en-US" sz="2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Where JavaScript runs</a:t>
            </a:r>
            <a:endParaRPr lang="en-US" sz="3200" dirty="0"/>
          </a:p>
        </p:txBody>
      </p:sp>
      <p:sp>
        <p:nvSpPr>
          <p:cNvPr id="3" name="box-23"/>
          <p:cNvSpPr txBox="1"/>
          <p:nvPr/>
        </p:nvSpPr>
        <p:spPr>
          <a:xfrm>
            <a:off x="548640" y="2514600"/>
            <a:ext cx="2194560" cy="1280160"/>
          </a:xfrm>
          <a:prstGeom prst="roundRect">
            <a:avLst>
              <a:gd name="adj" fmla="val 5714"/>
            </a:avLst>
          </a:prstGeom>
          <a:solidFill>
            <a:schemeClr val="bg2"/>
          </a:solidFill>
          <a:ln w="12700">
            <a:solidFill>
              <a:schemeClr val="bg2"/>
            </a:solidFill>
          </a:ln>
        </p:spPr>
        <p:txBody>
          <a:bodyPr wrap="square" lIns="50800" tIns="50800" rIns="50800" bIns="50800" rtlCol="0" anchor="ctr"/>
          <a:lstStyle/>
          <a:p>
            <a:pPr algn="ctr" indent="0" marL="0">
              <a:buNone/>
            </a:pPr>
            <a:r>
              <a:rPr lang="en-US" sz="1800" b="1" dirty="0">
                <a:solidFill>
                  <a:schemeClr val="tx1"/>
                </a:solidFill>
              </a:rPr>
              <a:t>Your code</a:t>
            </a:r>
            <a:endParaRPr lang="en-US" sz="1500" dirty="0"/>
          </a:p>
          <a:p>
            <a:pPr algn="ctr" indent="0" marL="0">
              <a:buNone/>
            </a:pPr>
            <a:r>
              <a:rPr lang="en-US" sz="1400" dirty="0">
                <a:solidFill>
                  <a:schemeClr val="tx1"/>
                </a:solidFill>
                <a:latin typeface="Courier New" pitchFamily="34" charset="0"/>
                <a:ea typeface="Courier New" pitchFamily="34" charset="-122"/>
                <a:cs typeface="Courier New" pitchFamily="34" charset="-120"/>
              </a:rPr>
              <a:t>app.js</a:t>
            </a:r>
            <a:endParaRPr lang="en-US" sz="1500" dirty="0"/>
          </a:p>
        </p:txBody>
      </p:sp>
      <p:sp>
        <p:nvSpPr>
          <p:cNvPr id="4" name="arrow-24"/>
          <p:cNvSpPr/>
          <p:nvPr/>
        </p:nvSpPr>
        <p:spPr>
          <a:xfrm>
            <a:off x="2788920" y="3154680"/>
            <a:ext cx="640080" cy="0"/>
          </a:xfrm>
          <a:prstGeom prst="line">
            <a:avLst/>
          </a:prstGeom>
          <a:noFill/>
          <a:ln w="25400">
            <a:solidFill>
              <a:srgbClr val="9CA3AF"/>
            </a:solidFill>
            <a:prstDash val="solid"/>
            <a:tailEnd type="triangle"/>
          </a:ln>
        </p:spPr>
      </p:sp>
      <p:sp>
        <p:nvSpPr>
          <p:cNvPr id="5" name="engine"/>
          <p:cNvSpPr/>
          <p:nvPr/>
        </p:nvSpPr>
        <p:spPr>
          <a:xfrm>
            <a:off x="3474720" y="1463040"/>
            <a:ext cx="3108960" cy="3383280"/>
          </a:xfrm>
          <a:prstGeom prst="roundRect">
            <a:avLst>
              <a:gd name="adj" fmla="val 2353"/>
            </a:avLst>
          </a:prstGeom>
          <a:solidFill>
            <a:schemeClr val="accent1"/>
          </a:solidFill>
          <a:ln w="12700">
            <a:solidFill>
              <a:schemeClr val="accent1"/>
            </a:solidFill>
            <a:prstDash val="solid"/>
          </a:ln>
        </p:spPr>
      </p:sp>
      <p:sp>
        <p:nvSpPr>
          <p:cNvPr id="6" name="engine-text"/>
          <p:cNvSpPr txBox="1"/>
          <p:nvPr/>
        </p:nvSpPr>
        <p:spPr>
          <a:xfrm>
            <a:off x="3703320" y="1645920"/>
            <a:ext cx="2651760" cy="3017520"/>
          </a:xfrm>
          <a:prstGeom prst="rect">
            <a:avLst/>
          </a:prstGeom>
          <a:noFill/>
          <a:ln/>
        </p:spPr>
        <p:txBody>
          <a:bodyPr wrap="square" lIns="0" tIns="0" rIns="0" bIns="0" rtlCol="0" anchor="ctr"/>
          <a:lstStyle/>
          <a:p>
            <a:pPr indent="0" marL="0">
              <a:buNone/>
            </a:pPr>
            <a:r>
              <a:rPr lang="en-US" sz="2000" b="1" dirty="0">
                <a:solidFill>
                  <a:srgbClr val="1B1B1F"/>
                </a:solidFill>
              </a:rPr>
              <a:t>JS engine</a:t>
            </a:r>
            <a:endParaRPr lang="en-US" sz="2000" dirty="0"/>
          </a:p>
          <a:p>
            <a:pPr indent="0" marL="0">
              <a:buNone/>
            </a:pPr>
            <a:r>
              <a:rPr lang="en-US" sz="1400" dirty="0">
                <a:solidFill>
                  <a:srgbClr val="1B1B1F"/>
                </a:solidFill>
              </a:rPr>
              <a:t>V8 (Chrome, Node.js), SpiderMonkey (Firefox), JavaScriptCore (Safari)</a:t>
            </a:r>
            <a:endParaRPr lang="en-US" sz="2000" dirty="0"/>
          </a:p>
          <a:p>
            <a:pPr indent="0" marL="0">
              <a:buNone/>
            </a:pPr>
            <a:r>
              <a:rPr lang="en-US" sz="800" dirty="0">
                <a:solidFill>
                  <a:srgbClr val="1B1B1F"/>
                </a:solidFill>
              </a:rPr>
              <a:t> </a:t>
            </a:r>
            <a:endParaRPr lang="en-US" sz="2000" dirty="0"/>
          </a:p>
          <a:p>
            <a:pPr indent="0" marL="0">
              <a:buNone/>
            </a:pPr>
            <a:r>
              <a:rPr lang="en-US" sz="1500" b="1" dirty="0">
                <a:solidFill>
                  <a:srgbClr val="1B1B1F"/>
                </a:solidFill>
              </a:rPr>
              <a:t>Parse → compile (JIT) → run</a:t>
            </a:r>
            <a:endParaRPr lang="en-US" sz="2000" dirty="0"/>
          </a:p>
          <a:p>
            <a:pPr indent="0" marL="0">
              <a:buNone/>
            </a:pPr>
            <a:r>
              <a:rPr lang="en-US" sz="1400" dirty="0">
                <a:solidFill>
                  <a:srgbClr val="1B1B1F"/>
                </a:solidFill>
              </a:rPr>
              <a:t>Implements the ECMAScript language: types, functions, objects, promises</a:t>
            </a:r>
            <a:endParaRPr lang="en-US" sz="2000" dirty="0"/>
          </a:p>
        </p:txBody>
      </p:sp>
      <p:sp>
        <p:nvSpPr>
          <p:cNvPr id="7" name="arrow-25"/>
          <p:cNvSpPr/>
          <p:nvPr/>
        </p:nvSpPr>
        <p:spPr>
          <a:xfrm>
            <a:off x="6629400" y="2331720"/>
            <a:ext cx="640080" cy="0"/>
          </a:xfrm>
          <a:prstGeom prst="line">
            <a:avLst/>
          </a:prstGeom>
          <a:noFill/>
          <a:ln w="25400">
            <a:solidFill>
              <a:srgbClr val="9CA3AF"/>
            </a:solidFill>
            <a:prstDash val="solid"/>
            <a:tailEnd type="triangle"/>
          </a:ln>
        </p:spPr>
      </p:sp>
      <p:sp>
        <p:nvSpPr>
          <p:cNvPr id="8" name="arrow-26"/>
          <p:cNvSpPr/>
          <p:nvPr/>
        </p:nvSpPr>
        <p:spPr>
          <a:xfrm>
            <a:off x="6629400" y="3977640"/>
            <a:ext cx="640080" cy="0"/>
          </a:xfrm>
          <a:prstGeom prst="line">
            <a:avLst/>
          </a:prstGeom>
          <a:noFill/>
          <a:ln w="25400">
            <a:solidFill>
              <a:srgbClr val="9CA3AF"/>
            </a:solidFill>
            <a:prstDash val="solid"/>
            <a:tailEnd type="triangle"/>
          </a:ln>
        </p:spPr>
      </p:sp>
      <p:sp>
        <p:nvSpPr>
          <p:cNvPr id="9" name="card-27"/>
          <p:cNvSpPr/>
          <p:nvPr/>
        </p:nvSpPr>
        <p:spPr>
          <a:xfrm>
            <a:off x="7315200" y="1463040"/>
            <a:ext cx="4325112" cy="1645920"/>
          </a:xfrm>
          <a:prstGeom prst="roundRect">
            <a:avLst>
              <a:gd name="adj" fmla="val 4444"/>
            </a:avLst>
          </a:prstGeom>
          <a:solidFill>
            <a:schemeClr val="bg2"/>
          </a:solidFill>
          <a:ln w="12700">
            <a:solidFill>
              <a:schemeClr val="bg2"/>
            </a:solidFill>
            <a:prstDash val="solid"/>
          </a:ln>
        </p:spPr>
      </p:sp>
      <p:sp>
        <p:nvSpPr>
          <p:cNvPr id="10" name="card-text-28"/>
          <p:cNvSpPr txBox="1"/>
          <p:nvPr/>
        </p:nvSpPr>
        <p:spPr>
          <a:xfrm>
            <a:off x="7516368" y="1609344"/>
            <a:ext cx="3922776" cy="1353312"/>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Host: the browser</a:t>
            </a:r>
            <a:endParaRPr lang="en-US" sz="1700" dirty="0"/>
          </a:p>
          <a:p>
            <a:pPr indent="0" marL="0">
              <a:buNone/>
            </a:pPr>
            <a:r>
              <a:rPr lang="en-US" sz="1500" dirty="0">
                <a:solidFill>
                  <a:srgbClr val="374151"/>
                </a:solidFill>
              </a:rPr>
              <a:t>window, document (DOM), fetch, setTimeout, localStorage, events</a:t>
            </a:r>
            <a:endParaRPr lang="en-US" sz="1700" dirty="0"/>
          </a:p>
        </p:txBody>
      </p:sp>
      <p:sp>
        <p:nvSpPr>
          <p:cNvPr id="11" name="card-29"/>
          <p:cNvSpPr/>
          <p:nvPr/>
        </p:nvSpPr>
        <p:spPr>
          <a:xfrm>
            <a:off x="7315200" y="3200400"/>
            <a:ext cx="4325112" cy="1645920"/>
          </a:xfrm>
          <a:prstGeom prst="roundRect">
            <a:avLst>
              <a:gd name="adj" fmla="val 4444"/>
            </a:avLst>
          </a:prstGeom>
          <a:solidFill>
            <a:schemeClr val="bg2"/>
          </a:solidFill>
          <a:ln w="12700">
            <a:solidFill>
              <a:schemeClr val="bg2"/>
            </a:solidFill>
            <a:prstDash val="solid"/>
          </a:ln>
        </p:spPr>
      </p:sp>
      <p:sp>
        <p:nvSpPr>
          <p:cNvPr id="12" name="card-text-30"/>
          <p:cNvSpPr txBox="1"/>
          <p:nvPr/>
        </p:nvSpPr>
        <p:spPr>
          <a:xfrm>
            <a:off x="7516368" y="3346704"/>
            <a:ext cx="3922776" cy="1353312"/>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Host: Node.js</a:t>
            </a:r>
            <a:endParaRPr lang="en-US" sz="1700" dirty="0"/>
          </a:p>
          <a:p>
            <a:pPr indent="0" marL="0">
              <a:buNone/>
            </a:pPr>
            <a:r>
              <a:rPr lang="en-US" sz="1500" dirty="0">
                <a:solidFill>
                  <a:srgbClr val="374151"/>
                </a:solidFill>
              </a:rPr>
              <a:t>fs, http, process, Buffer, plus npm packages. Runs NestJS servers and build tools.</a:t>
            </a:r>
            <a:endParaRPr lang="en-US" sz="1700" dirty="0"/>
          </a:p>
        </p:txBody>
      </p:sp>
      <p:sp>
        <p:nvSpPr>
          <p:cNvPr id="13" name="host-note"/>
          <p:cNvSpPr txBox="1"/>
          <p:nvPr/>
        </p:nvSpPr>
        <p:spPr>
          <a:xfrm>
            <a:off x="548640" y="5166360"/>
            <a:ext cx="11091672" cy="777240"/>
          </a:xfrm>
          <a:prstGeom prst="rect">
            <a:avLst/>
          </a:prstGeom>
          <a:noFill/>
          <a:ln/>
        </p:spPr>
        <p:txBody>
          <a:bodyPr wrap="square" lIns="0" tIns="0" rIns="0" bIns="0" rtlCol="0" anchor="ctr"/>
          <a:lstStyle/>
          <a:p>
            <a:pPr indent="0" marL="0">
              <a:buNone/>
            </a:pPr>
            <a:r>
              <a:rPr lang="en-US" sz="1600" b="1" dirty="0">
                <a:solidFill>
                  <a:schemeClr val="tx1"/>
                </a:solidFill>
              </a:rPr>
              <a:t>Key idea: </a:t>
            </a:r>
            <a:pPr indent="0" marL="0">
              <a:buNone/>
            </a:pPr>
            <a:r>
              <a:rPr lang="en-US" sz="1600" dirty="0">
                <a:solidFill>
                  <a:schemeClr val="tx1"/>
                </a:solidFill>
              </a:rPr>
              <a:t>the language is the same everywhere; the APIs come from the host. document does not exist in Node.js, and fs does not exist in the browser.</a:t>
            </a:r>
            <a:endParaRPr lang="en-US" sz="16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731520" y="1920240"/>
            <a:ext cx="7132320" cy="457200"/>
          </a:xfrm>
          <a:prstGeom prst="rect">
            <a:avLst/>
          </a:prstGeom>
          <a:noFill/>
          <a:ln/>
        </p:spPr>
        <p:txBody>
          <a:bodyPr wrap="square" lIns="0" tIns="0" rIns="0" bIns="0" rtlCol="0"/>
          <a:lstStyle/>
          <a:p>
            <a:pPr indent="0" marL="0">
              <a:buNone/>
            </a:pPr>
            <a:r>
              <a:rPr lang="en-US" sz="1800" b="1" spc="300" kern="0" dirty="0">
                <a:solidFill>
                  <a:schemeClr val="accent1"/>
                </a:solidFill>
              </a:rPr>
              <a:t>PART 1</a:t>
            </a:r>
            <a:endParaRPr lang="en-US" sz="1800" dirty="0"/>
          </a:p>
        </p:txBody>
      </p:sp>
      <p:sp>
        <p:nvSpPr>
          <p:cNvPr id="3" name="Text 0"/>
          <p:cNvSpPr/>
          <p:nvPr>
            <p:ph idx="101" type="title" hasCustomPrompt="1"/>
          </p:nvPr>
        </p:nvSpPr>
        <p:spPr>
          <a:xfrm>
            <a:off x="731520" y="2468880"/>
            <a:ext cx="7132320" cy="1280160"/>
          </a:xfrm>
          <a:prstGeom prst="rect">
            <a:avLst/>
          </a:prstGeom>
          <a:noFill/>
          <a:ln/>
        </p:spPr>
        <p:txBody>
          <a:bodyPr wrap="square" lIns="0" tIns="0" rIns="0" bIns="0" rtlCol="0" anchor="t"/>
          <a:lstStyle/>
          <a:p>
            <a:pPr algn="l" indent="0" marL="0">
              <a:buNone/>
            </a:pPr>
            <a:r>
              <a:rPr lang="en-US" sz="4400" b="1" dirty="0">
                <a:solidFill>
                  <a:schemeClr val="bg1"/>
                </a:solidFill>
              </a:rPr>
              <a:t>Foundations</a:t>
            </a:r>
            <a:endParaRPr lang="en-US" sz="4400" dirty="0"/>
          </a:p>
        </p:txBody>
      </p:sp>
      <p:sp>
        <p:nvSpPr>
          <p:cNvPr id="4" name="Text 0"/>
          <p:cNvSpPr/>
          <p:nvPr>
            <p:ph idx="102" type="body" hasCustomPrompt="1"/>
          </p:nvPr>
        </p:nvSpPr>
        <p:spPr>
          <a:xfrm>
            <a:off x="731520" y="3840480"/>
            <a:ext cx="7132320" cy="1097280"/>
          </a:xfrm>
          <a:prstGeom prst="rect">
            <a:avLst/>
          </a:prstGeom>
          <a:noFill/>
          <a:ln/>
        </p:spPr>
        <p:txBody>
          <a:bodyPr wrap="square" lIns="0" tIns="0" rIns="0" bIns="0" rtlCol="0" anchor="t"/>
          <a:lstStyle/>
          <a:p>
            <a:pPr indent="0" marL="0">
              <a:buNone/>
            </a:pPr>
            <a:r>
              <a:rPr lang="en-US" sz="1800" dirty="0">
                <a:solidFill>
                  <a:srgbClr val="D1D5DB"/>
                </a:solidFill>
              </a:rPr>
              <a:t>Variables, types, equality and the modern syntax you will read every day</a:t>
            </a:r>
            <a:endParaRPr lang="en-US" sz="1800" dirty="0"/>
          </a:p>
        </p:txBody>
      </p:sp>
      <p:sp>
        <p:nvSpPr>
          <p:cNvPr id="5" name="section-mark-31"/>
          <p:cNvSpPr txBox="1"/>
          <p:nvPr/>
        </p:nvSpPr>
        <p:spPr>
          <a:xfrm>
            <a:off x="8503920" y="1737360"/>
            <a:ext cx="3017520" cy="3017520"/>
          </a:xfrm>
          <a:prstGeom prst="roundRect">
            <a:avLst>
              <a:gd name="adj" fmla="val 4545"/>
            </a:avLst>
          </a:prstGeom>
          <a:solidFill>
            <a:schemeClr val="accent1"/>
          </a:solidFill>
          <a:ln>
            <a:solidFill>
              <a:schemeClr val="accent1"/>
            </a:solidFill>
          </a:ln>
        </p:spPr>
        <p:txBody>
          <a:bodyPr wrap="square" lIns="177800" tIns="177800" rIns="177800" bIns="177800" rtlCol="0" anchor="b"/>
          <a:lstStyle/>
          <a:p>
            <a:pPr algn="r" indent="0" marL="0">
              <a:buNone/>
            </a:pPr>
            <a:r>
              <a:rPr lang="en-US" sz="11000" b="1" dirty="0">
                <a:solidFill>
                  <a:srgbClr val="1B1B1F"/>
                </a:solidFill>
                <a:latin typeface="Arial" pitchFamily="34" charset="0"/>
                <a:ea typeface="Arial" pitchFamily="34" charset="-122"/>
                <a:cs typeface="Arial" pitchFamily="34" charset="-120"/>
              </a:rPr>
              <a:t>01</a:t>
            </a:r>
            <a:endParaRPr lang="en-US" sz="1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Variables: const, let and (not) var</a:t>
            </a:r>
            <a:endParaRPr lang="en-US" sz="3200" dirty="0"/>
          </a:p>
        </p:txBody>
      </p:sp>
      <p:sp>
        <p:nvSpPr>
          <p:cNvPr id="3" name="code-panel-32"/>
          <p:cNvSpPr/>
          <p:nvPr/>
        </p:nvSpPr>
        <p:spPr>
          <a:xfrm>
            <a:off x="548640" y="1371600"/>
            <a:ext cx="6675120" cy="4800600"/>
          </a:xfrm>
          <a:prstGeom prst="roundRect">
            <a:avLst>
              <a:gd name="adj" fmla="val 1524"/>
            </a:avLst>
          </a:prstGeom>
          <a:solidFill>
            <a:schemeClr val="tx2"/>
          </a:solidFill>
          <a:ln w="12700">
            <a:solidFill>
              <a:schemeClr val="tx2"/>
            </a:solidFill>
            <a:prstDash val="solid"/>
          </a:ln>
        </p:spPr>
      </p:sp>
      <p:sp>
        <p:nvSpPr>
          <p:cNvPr id="4" name="code-label-33"/>
          <p:cNvSpPr txBox="1"/>
          <p:nvPr/>
        </p:nvSpPr>
        <p:spPr>
          <a:xfrm>
            <a:off x="777240" y="1499616"/>
            <a:ext cx="6217920"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variables.js</a:t>
            </a:r>
            <a:endParaRPr lang="en-US" sz="1100" dirty="0"/>
          </a:p>
        </p:txBody>
      </p:sp>
      <p:sp>
        <p:nvSpPr>
          <p:cNvPr id="5" name="code-34"/>
          <p:cNvSpPr txBox="1"/>
          <p:nvPr/>
        </p:nvSpPr>
        <p:spPr>
          <a:xfrm>
            <a:off x="777240" y="1828800"/>
            <a:ext cx="6217920" cy="4233672"/>
          </a:xfrm>
          <a:prstGeom prst="rect">
            <a:avLst/>
          </a:prstGeom>
          <a:noFill/>
          <a:ln/>
        </p:spPr>
        <p:txBody>
          <a:bodyPr wrap="square" lIns="0" tIns="0" rIns="0" bIns="0" rtlCol="0" anchor="t"/>
          <a:lstStyle/>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course = </a:t>
            </a:r>
            <a:pPr indent="0" marL="0">
              <a:buNone/>
            </a:pPr>
            <a:r>
              <a:rPr lang="en-US" sz="1400" dirty="0">
                <a:solidFill>
                  <a:srgbClr val="A5D6A7"/>
                </a:solidFill>
                <a:latin typeface="Courier New" pitchFamily="34" charset="0"/>
                <a:ea typeface="Courier New" pitchFamily="34" charset="-122"/>
                <a:cs typeface="Courier New" pitchFamily="34" charset="-120"/>
              </a:rPr>
              <a:t>"Internet Programming"</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let </a:t>
            </a:r>
            <a:pPr indent="0" marL="0">
              <a:buNone/>
            </a:pPr>
            <a:r>
              <a:rPr lang="en-US" sz="1400" dirty="0">
                <a:solidFill>
                  <a:srgbClr val="E5E7EB"/>
                </a:solidFill>
                <a:latin typeface="Courier New" pitchFamily="34" charset="0"/>
                <a:ea typeface="Courier New" pitchFamily="34" charset="-122"/>
                <a:cs typeface="Courier New" pitchFamily="34" charset="-120"/>
              </a:rPr>
              <a:t>week = </a:t>
            </a:r>
            <a:pPr indent="0" marL="0">
              <a:buNone/>
            </a:pPr>
            <a:r>
              <a:rPr lang="en-US" sz="1400" dirty="0">
                <a:solidFill>
                  <a:srgbClr val="F7B267"/>
                </a:solidFill>
                <a:latin typeface="Courier New" pitchFamily="34" charset="0"/>
                <a:ea typeface="Courier New" pitchFamily="34" charset="-122"/>
                <a:cs typeface="Courier New" pitchFamily="34" charset="-120"/>
              </a:rPr>
              <a:t>1</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week = week + </a:t>
            </a:r>
            <a:pPr indent="0" marL="0">
              <a:buNone/>
            </a:pPr>
            <a:r>
              <a:rPr lang="en-US" sz="1400" dirty="0">
                <a:solidFill>
                  <a:srgbClr val="F7B267"/>
                </a:solidFill>
                <a:latin typeface="Courier New" pitchFamily="34" charset="0"/>
                <a:ea typeface="Courier New" pitchFamily="34" charset="-122"/>
                <a:cs typeface="Courier New" pitchFamily="34" charset="-120"/>
              </a:rPr>
              <a:t>1</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ok: let can change</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i="1" dirty="0">
                <a:solidFill>
                  <a:srgbClr val="8B949E"/>
                </a:solidFill>
                <a:latin typeface="Courier New" pitchFamily="34" charset="0"/>
                <a:ea typeface="Courier New" pitchFamily="34" charset="-122"/>
                <a:cs typeface="Courier New" pitchFamily="34" charset="-120"/>
              </a:rPr>
              <a:t>// course = "Math";       // TypeError</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student = { name: </a:t>
            </a:r>
            <a:pPr indent="0" marL="0">
              <a:buNone/>
            </a:pPr>
            <a:r>
              <a:rPr lang="en-US" sz="1400" dirty="0">
                <a:solidFill>
                  <a:srgbClr val="A5D6A7"/>
                </a:solidFill>
                <a:latin typeface="Courier New" pitchFamily="34" charset="0"/>
                <a:ea typeface="Courier New" pitchFamily="34" charset="-122"/>
                <a:cs typeface="Courier New" pitchFamily="34" charset="-120"/>
              </a:rPr>
              <a:t>"Dara" </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student.name = </a:t>
            </a:r>
            <a:pPr indent="0" marL="0">
              <a:buNone/>
            </a:pPr>
            <a:r>
              <a:rPr lang="en-US" sz="1400" dirty="0">
                <a:solidFill>
                  <a:srgbClr val="A5D6A7"/>
                </a:solidFill>
                <a:latin typeface="Courier New" pitchFamily="34" charset="0"/>
                <a:ea typeface="Courier New" pitchFamily="34" charset="-122"/>
                <a:cs typeface="Courier New" pitchFamily="34" charset="-120"/>
              </a:rPr>
              <a:t>"Sokha"</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ok! const locks the</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binding, not the object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if </a:t>
            </a:r>
            <a:pPr indent="0" marL="0">
              <a:buNone/>
            </a:pPr>
            <a:r>
              <a:rPr lang="en-US" sz="1400" dirty="0">
                <a:solidFill>
                  <a:srgbClr val="E5E7EB"/>
                </a:solidFill>
                <a:latin typeface="Courier New" pitchFamily="34" charset="0"/>
                <a:ea typeface="Courier New" pitchFamily="34" charset="-122"/>
                <a:cs typeface="Courier New" pitchFamily="34" charset="-120"/>
              </a:rPr>
              <a:t>(</a:t>
            </a:r>
            <a:pPr indent="0" marL="0">
              <a:buNone/>
            </a:pPr>
            <a:r>
              <a:rPr lang="en-US" sz="1400" dirty="0">
                <a:solidFill>
                  <a:srgbClr val="F7B267"/>
                </a:solidFill>
                <a:latin typeface="Courier New" pitchFamily="34" charset="0"/>
                <a:ea typeface="Courier New" pitchFamily="34" charset="-122"/>
                <a:cs typeface="Courier New" pitchFamily="34" charset="-120"/>
              </a:rPr>
              <a:t>true</a:t>
            </a:r>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var </a:t>
            </a:r>
            <a:pPr indent="0" marL="0">
              <a:buNone/>
            </a:pPr>
            <a:r>
              <a:rPr lang="en-US" sz="1400" dirty="0">
                <a:solidFill>
                  <a:srgbClr val="E5E7EB"/>
                </a:solidFill>
                <a:latin typeface="Courier New" pitchFamily="34" charset="0"/>
                <a:ea typeface="Courier New" pitchFamily="34" charset="-122"/>
                <a:cs typeface="Courier New" pitchFamily="34" charset="-120"/>
              </a:rPr>
              <a:t>a = </a:t>
            </a:r>
            <a:pPr indent="0" marL="0">
              <a:buNone/>
            </a:pPr>
            <a:r>
              <a:rPr lang="en-US" sz="1400" dirty="0">
                <a:solidFill>
                  <a:srgbClr val="F7B267"/>
                </a:solidFill>
                <a:latin typeface="Courier New" pitchFamily="34" charset="0"/>
                <a:ea typeface="Courier New" pitchFamily="34" charset="-122"/>
                <a:cs typeface="Courier New" pitchFamily="34" charset="-120"/>
              </a:rPr>
              <a:t>1</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function-scoped: leaks out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let </a:t>
            </a:r>
            <a:pPr indent="0" marL="0">
              <a:buNone/>
            </a:pPr>
            <a:r>
              <a:rPr lang="en-US" sz="1400" dirty="0">
                <a:solidFill>
                  <a:srgbClr val="E5E7EB"/>
                </a:solidFill>
                <a:latin typeface="Courier New" pitchFamily="34" charset="0"/>
                <a:ea typeface="Courier New" pitchFamily="34" charset="-122"/>
                <a:cs typeface="Courier New" pitchFamily="34" charset="-120"/>
              </a:rPr>
              <a:t>b = </a:t>
            </a:r>
            <a:pPr indent="0" marL="0">
              <a:buNone/>
            </a:pPr>
            <a:r>
              <a:rPr lang="en-US" sz="1400" dirty="0">
                <a:solidFill>
                  <a:srgbClr val="F7B267"/>
                </a:solidFill>
                <a:latin typeface="Courier New" pitchFamily="34" charset="0"/>
                <a:ea typeface="Courier New" pitchFamily="34" charset="-122"/>
                <a:cs typeface="Courier New" pitchFamily="34" charset="-120"/>
              </a:rPr>
              <a:t>2</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block-scoped</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79B8FF"/>
                </a:solidFill>
                <a:latin typeface="Courier New" pitchFamily="34" charset="0"/>
                <a:ea typeface="Courier New" pitchFamily="34" charset="-122"/>
                <a:cs typeface="Courier New" pitchFamily="34" charset="-120"/>
              </a:rPr>
              <a:t>console</a:t>
            </a:r>
            <a:pPr indent="0" marL="0">
              <a:buNone/>
            </a:pPr>
            <a:r>
              <a:rPr lang="en-US" sz="1400" dirty="0">
                <a:solidFill>
                  <a:srgbClr val="E5E7EB"/>
                </a:solidFill>
                <a:latin typeface="Courier New" pitchFamily="34" charset="0"/>
                <a:ea typeface="Courier New" pitchFamily="34" charset="-122"/>
                <a:cs typeface="Courier New" pitchFamily="34" charset="-120"/>
              </a:rPr>
              <a:t>.log(a); </a:t>
            </a:r>
            <a:pPr indent="0" marL="0">
              <a:buNone/>
            </a:pPr>
            <a:r>
              <a:rPr lang="en-US" sz="1400" i="1" dirty="0">
                <a:solidFill>
                  <a:srgbClr val="8B949E"/>
                </a:solidFill>
                <a:latin typeface="Courier New" pitchFamily="34" charset="0"/>
                <a:ea typeface="Courier New" pitchFamily="34" charset="-122"/>
                <a:cs typeface="Courier New" pitchFamily="34" charset="-120"/>
              </a:rPr>
              <a:t>// 1</a:t>
            </a:r>
            <a:endParaRPr lang="en-US" sz="1400" dirty="0"/>
          </a:p>
          <a:p>
            <a:pPr indent="0" marL="0">
              <a:buNone/>
            </a:pPr>
            <a:r>
              <a:rPr lang="en-US" sz="1400" dirty="0">
                <a:solidFill>
                  <a:srgbClr val="79B8FF"/>
                </a:solidFill>
                <a:latin typeface="Courier New" pitchFamily="34" charset="0"/>
                <a:ea typeface="Courier New" pitchFamily="34" charset="-122"/>
                <a:cs typeface="Courier New" pitchFamily="34" charset="-120"/>
              </a:rPr>
              <a:t>console</a:t>
            </a:r>
            <a:pPr indent="0" marL="0">
              <a:buNone/>
            </a:pPr>
            <a:r>
              <a:rPr lang="en-US" sz="1400" dirty="0">
                <a:solidFill>
                  <a:srgbClr val="E5E7EB"/>
                </a:solidFill>
                <a:latin typeface="Courier New" pitchFamily="34" charset="0"/>
                <a:ea typeface="Courier New" pitchFamily="34" charset="-122"/>
                <a:cs typeface="Courier New" pitchFamily="34" charset="-120"/>
              </a:rPr>
              <a:t>.log(b); </a:t>
            </a:r>
            <a:pPr indent="0" marL="0">
              <a:buNone/>
            </a:pPr>
            <a:r>
              <a:rPr lang="en-US" sz="1400" i="1" dirty="0">
                <a:solidFill>
                  <a:srgbClr val="8B949E"/>
                </a:solidFill>
                <a:latin typeface="Courier New" pitchFamily="34" charset="0"/>
                <a:ea typeface="Courier New" pitchFamily="34" charset="-122"/>
                <a:cs typeface="Courier New" pitchFamily="34" charset="-120"/>
              </a:rPr>
              <a:t>// ReferenceError</a:t>
            </a:r>
            <a:endParaRPr lang="en-US" sz="1400" dirty="0"/>
          </a:p>
        </p:txBody>
      </p:sp>
      <p:sp>
        <p:nvSpPr>
          <p:cNvPr id="6" name="dot-35"/>
          <p:cNvSpPr txBox="1"/>
          <p:nvPr/>
        </p:nvSpPr>
        <p:spPr>
          <a:xfrm>
            <a:off x="7543800" y="141732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rgbClr val="1B1B1F"/>
                </a:solidFill>
              </a:rPr>
              <a:t>1</a:t>
            </a:r>
            <a:endParaRPr lang="en-US" sz="1500" dirty="0"/>
          </a:p>
        </p:txBody>
      </p:sp>
      <p:sp>
        <p:nvSpPr>
          <p:cNvPr id="7" name="rule-36"/>
          <p:cNvSpPr txBox="1"/>
          <p:nvPr/>
        </p:nvSpPr>
        <p:spPr>
          <a:xfrm>
            <a:off x="8183880" y="1371600"/>
            <a:ext cx="3474720" cy="141732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const by default</a:t>
            </a:r>
            <a:endParaRPr lang="en-US" sz="1800" dirty="0"/>
          </a:p>
          <a:p>
            <a:pPr indent="0" marL="0">
              <a:spcAft>
                <a:spcPts val="400"/>
              </a:spcAft>
              <a:buNone/>
            </a:pPr>
            <a:r>
              <a:rPr lang="en-US" sz="1500" dirty="0">
                <a:solidFill>
                  <a:srgbClr val="374151"/>
                </a:solidFill>
              </a:rPr>
              <a:t>Most values never need to be reassigned. Readers then know they won’t change.</a:t>
            </a:r>
            <a:endParaRPr lang="en-US" sz="1800" dirty="0"/>
          </a:p>
        </p:txBody>
      </p:sp>
      <p:sp>
        <p:nvSpPr>
          <p:cNvPr id="8" name="dot-37"/>
          <p:cNvSpPr txBox="1"/>
          <p:nvPr/>
        </p:nvSpPr>
        <p:spPr>
          <a:xfrm>
            <a:off x="7543800" y="306324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rgbClr val="1B1B1F"/>
                </a:solidFill>
              </a:rPr>
              <a:t>2</a:t>
            </a:r>
            <a:endParaRPr lang="en-US" sz="1500" dirty="0"/>
          </a:p>
        </p:txBody>
      </p:sp>
      <p:sp>
        <p:nvSpPr>
          <p:cNvPr id="9" name="rule-38"/>
          <p:cNvSpPr txBox="1"/>
          <p:nvPr/>
        </p:nvSpPr>
        <p:spPr>
          <a:xfrm>
            <a:off x="8183880" y="3017520"/>
            <a:ext cx="3474720" cy="141732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let when you must reassign</a:t>
            </a:r>
            <a:endParaRPr lang="en-US" sz="1800" dirty="0"/>
          </a:p>
          <a:p>
            <a:pPr indent="0" marL="0">
              <a:spcAft>
                <a:spcPts val="400"/>
              </a:spcAft>
              <a:buNone/>
            </a:pPr>
            <a:r>
              <a:rPr lang="en-US" sz="1500" dirty="0">
                <a:solidFill>
                  <a:srgbClr val="374151"/>
                </a:solidFill>
              </a:rPr>
              <a:t>Counters, accumulators, values that change in a loop.</a:t>
            </a:r>
            <a:endParaRPr lang="en-US" sz="1800" dirty="0"/>
          </a:p>
        </p:txBody>
      </p:sp>
      <p:sp>
        <p:nvSpPr>
          <p:cNvPr id="10" name="dot-39"/>
          <p:cNvSpPr txBox="1"/>
          <p:nvPr/>
        </p:nvSpPr>
        <p:spPr>
          <a:xfrm>
            <a:off x="7543800" y="470916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rgbClr val="1B1B1F"/>
                </a:solidFill>
              </a:rPr>
              <a:t>3</a:t>
            </a:r>
            <a:endParaRPr lang="en-US" sz="1500" dirty="0"/>
          </a:p>
        </p:txBody>
      </p:sp>
      <p:sp>
        <p:nvSpPr>
          <p:cNvPr id="11" name="rule-40"/>
          <p:cNvSpPr txBox="1"/>
          <p:nvPr/>
        </p:nvSpPr>
        <p:spPr>
          <a:xfrm>
            <a:off x="8183880" y="4663440"/>
            <a:ext cx="3474720" cy="141732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Avoid var</a:t>
            </a:r>
            <a:endParaRPr lang="en-US" sz="1800" dirty="0"/>
          </a:p>
          <a:p>
            <a:pPr indent="0" marL="0">
              <a:spcAft>
                <a:spcPts val="400"/>
              </a:spcAft>
              <a:buNone/>
            </a:pPr>
            <a:r>
              <a:rPr lang="en-US" sz="1500" dirty="0">
                <a:solidFill>
                  <a:srgbClr val="374151"/>
                </a:solidFill>
              </a:rPr>
              <a:t>Function-scoped and hoisted. It still appears in old code and in some AI output.</a:t>
            </a:r>
            <a:endParaRPr lang="en-US" sz="18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Seven primitives, and everything else is an object</a:t>
            </a:r>
            <a:endParaRPr lang="en-US" sz="3200" dirty="0"/>
          </a:p>
        </p:txBody>
      </p:sp>
      <p:sp>
        <p:nvSpPr>
          <p:cNvPr id="3" name="prim-41"/>
          <p:cNvSpPr/>
          <p:nvPr/>
        </p:nvSpPr>
        <p:spPr>
          <a:xfrm>
            <a:off x="548640" y="1371600"/>
            <a:ext cx="2606040" cy="914400"/>
          </a:xfrm>
          <a:prstGeom prst="roundRect">
            <a:avLst>
              <a:gd name="adj" fmla="val 8000"/>
            </a:avLst>
          </a:prstGeom>
          <a:solidFill>
            <a:schemeClr val="bg2"/>
          </a:solidFill>
          <a:ln w="12700">
            <a:solidFill>
              <a:schemeClr val="bg2"/>
            </a:solidFill>
            <a:prstDash val="solid"/>
          </a:ln>
        </p:spPr>
      </p:sp>
      <p:sp>
        <p:nvSpPr>
          <p:cNvPr id="4" name="prim-text-42"/>
          <p:cNvSpPr txBox="1"/>
          <p:nvPr/>
        </p:nvSpPr>
        <p:spPr>
          <a:xfrm>
            <a:off x="731520" y="1463040"/>
            <a:ext cx="2240280" cy="731520"/>
          </a:xfrm>
          <a:prstGeom prst="rect">
            <a:avLst/>
          </a:prstGeom>
          <a:noFill/>
          <a:ln/>
        </p:spPr>
        <p:txBody>
          <a:bodyPr wrap="square" lIns="0" tIns="0" rIns="0" bIns="0" rtlCol="0" anchor="ctr"/>
          <a:lstStyle/>
          <a:p>
            <a:pPr indent="0" marL="0">
              <a:buNone/>
            </a:pPr>
            <a:r>
              <a:rPr lang="en-US" sz="1700" b="1" dirty="0">
                <a:solidFill>
                  <a:schemeClr val="tx1"/>
                </a:solidFill>
                <a:latin typeface="Courier New" pitchFamily="34" charset="0"/>
                <a:ea typeface="Courier New" pitchFamily="34" charset="-122"/>
                <a:cs typeface="Courier New" pitchFamily="34" charset="-120"/>
              </a:rPr>
              <a:t>string</a:t>
            </a:r>
            <a:endParaRPr lang="en-US" sz="1700" dirty="0"/>
          </a:p>
          <a:p>
            <a:pPr indent="0" marL="0">
              <a:buNone/>
            </a:pPr>
            <a:r>
              <a:rPr lang="en-US" sz="1400" dirty="0">
                <a:solidFill>
                  <a:srgbClr val="6B7280"/>
                </a:solidFill>
              </a:rPr>
              <a:t>"hello"</a:t>
            </a:r>
            <a:endParaRPr lang="en-US" sz="1700" dirty="0"/>
          </a:p>
        </p:txBody>
      </p:sp>
      <p:sp>
        <p:nvSpPr>
          <p:cNvPr id="5" name="prim-43"/>
          <p:cNvSpPr/>
          <p:nvPr/>
        </p:nvSpPr>
        <p:spPr>
          <a:xfrm>
            <a:off x="3337560" y="1371600"/>
            <a:ext cx="2606040" cy="914400"/>
          </a:xfrm>
          <a:prstGeom prst="roundRect">
            <a:avLst>
              <a:gd name="adj" fmla="val 8000"/>
            </a:avLst>
          </a:prstGeom>
          <a:solidFill>
            <a:schemeClr val="bg2"/>
          </a:solidFill>
          <a:ln w="12700">
            <a:solidFill>
              <a:schemeClr val="bg2"/>
            </a:solidFill>
            <a:prstDash val="solid"/>
          </a:ln>
        </p:spPr>
      </p:sp>
      <p:sp>
        <p:nvSpPr>
          <p:cNvPr id="6" name="prim-text-44"/>
          <p:cNvSpPr txBox="1"/>
          <p:nvPr/>
        </p:nvSpPr>
        <p:spPr>
          <a:xfrm>
            <a:off x="3520440" y="1463040"/>
            <a:ext cx="2240280" cy="731520"/>
          </a:xfrm>
          <a:prstGeom prst="rect">
            <a:avLst/>
          </a:prstGeom>
          <a:noFill/>
          <a:ln/>
        </p:spPr>
        <p:txBody>
          <a:bodyPr wrap="square" lIns="0" tIns="0" rIns="0" bIns="0" rtlCol="0" anchor="ctr"/>
          <a:lstStyle/>
          <a:p>
            <a:pPr indent="0" marL="0">
              <a:buNone/>
            </a:pPr>
            <a:r>
              <a:rPr lang="en-US" sz="1700" b="1" dirty="0">
                <a:solidFill>
                  <a:schemeClr val="tx1"/>
                </a:solidFill>
                <a:latin typeface="Courier New" pitchFamily="34" charset="0"/>
                <a:ea typeface="Courier New" pitchFamily="34" charset="-122"/>
                <a:cs typeface="Courier New" pitchFamily="34" charset="-120"/>
              </a:rPr>
              <a:t>number</a:t>
            </a:r>
            <a:endParaRPr lang="en-US" sz="1700" dirty="0"/>
          </a:p>
          <a:p>
            <a:pPr indent="0" marL="0">
              <a:buNone/>
            </a:pPr>
            <a:r>
              <a:rPr lang="en-US" sz="1400" dirty="0">
                <a:solidFill>
                  <a:srgbClr val="6B7280"/>
                </a:solidFill>
              </a:rPr>
              <a:t>42, 3.14, NaN</a:t>
            </a:r>
            <a:endParaRPr lang="en-US" sz="1700" dirty="0"/>
          </a:p>
        </p:txBody>
      </p:sp>
      <p:sp>
        <p:nvSpPr>
          <p:cNvPr id="7" name="prim-45"/>
          <p:cNvSpPr/>
          <p:nvPr/>
        </p:nvSpPr>
        <p:spPr>
          <a:xfrm>
            <a:off x="548640" y="2468880"/>
            <a:ext cx="2606040" cy="914400"/>
          </a:xfrm>
          <a:prstGeom prst="roundRect">
            <a:avLst>
              <a:gd name="adj" fmla="val 8000"/>
            </a:avLst>
          </a:prstGeom>
          <a:solidFill>
            <a:schemeClr val="bg2"/>
          </a:solidFill>
          <a:ln w="12700">
            <a:solidFill>
              <a:schemeClr val="bg2"/>
            </a:solidFill>
            <a:prstDash val="solid"/>
          </a:ln>
        </p:spPr>
      </p:sp>
      <p:sp>
        <p:nvSpPr>
          <p:cNvPr id="8" name="prim-text-46"/>
          <p:cNvSpPr txBox="1"/>
          <p:nvPr/>
        </p:nvSpPr>
        <p:spPr>
          <a:xfrm>
            <a:off x="731520" y="2560320"/>
            <a:ext cx="2240280" cy="731520"/>
          </a:xfrm>
          <a:prstGeom prst="rect">
            <a:avLst/>
          </a:prstGeom>
          <a:noFill/>
          <a:ln/>
        </p:spPr>
        <p:txBody>
          <a:bodyPr wrap="square" lIns="0" tIns="0" rIns="0" bIns="0" rtlCol="0" anchor="ctr"/>
          <a:lstStyle/>
          <a:p>
            <a:pPr indent="0" marL="0">
              <a:buNone/>
            </a:pPr>
            <a:r>
              <a:rPr lang="en-US" sz="1700" b="1" dirty="0">
                <a:solidFill>
                  <a:schemeClr val="tx1"/>
                </a:solidFill>
                <a:latin typeface="Courier New" pitchFamily="34" charset="0"/>
                <a:ea typeface="Courier New" pitchFamily="34" charset="-122"/>
                <a:cs typeface="Courier New" pitchFamily="34" charset="-120"/>
              </a:rPr>
              <a:t>boolean</a:t>
            </a:r>
            <a:endParaRPr lang="en-US" sz="1700" dirty="0"/>
          </a:p>
          <a:p>
            <a:pPr indent="0" marL="0">
              <a:buNone/>
            </a:pPr>
            <a:r>
              <a:rPr lang="en-US" sz="1400" dirty="0">
                <a:solidFill>
                  <a:srgbClr val="6B7280"/>
                </a:solidFill>
              </a:rPr>
              <a:t>true, false</a:t>
            </a:r>
            <a:endParaRPr lang="en-US" sz="1700" dirty="0"/>
          </a:p>
        </p:txBody>
      </p:sp>
      <p:sp>
        <p:nvSpPr>
          <p:cNvPr id="9" name="prim-47"/>
          <p:cNvSpPr/>
          <p:nvPr/>
        </p:nvSpPr>
        <p:spPr>
          <a:xfrm>
            <a:off x="3337560" y="2468880"/>
            <a:ext cx="2606040" cy="914400"/>
          </a:xfrm>
          <a:prstGeom prst="roundRect">
            <a:avLst>
              <a:gd name="adj" fmla="val 8000"/>
            </a:avLst>
          </a:prstGeom>
          <a:solidFill>
            <a:schemeClr val="bg2"/>
          </a:solidFill>
          <a:ln w="12700">
            <a:solidFill>
              <a:schemeClr val="bg2"/>
            </a:solidFill>
            <a:prstDash val="solid"/>
          </a:ln>
        </p:spPr>
      </p:sp>
      <p:sp>
        <p:nvSpPr>
          <p:cNvPr id="10" name="prim-text-48"/>
          <p:cNvSpPr txBox="1"/>
          <p:nvPr/>
        </p:nvSpPr>
        <p:spPr>
          <a:xfrm>
            <a:off x="3520440" y="2560320"/>
            <a:ext cx="2240280" cy="731520"/>
          </a:xfrm>
          <a:prstGeom prst="rect">
            <a:avLst/>
          </a:prstGeom>
          <a:noFill/>
          <a:ln/>
        </p:spPr>
        <p:txBody>
          <a:bodyPr wrap="square" lIns="0" tIns="0" rIns="0" bIns="0" rtlCol="0" anchor="ctr"/>
          <a:lstStyle/>
          <a:p>
            <a:pPr indent="0" marL="0">
              <a:buNone/>
            </a:pPr>
            <a:r>
              <a:rPr lang="en-US" sz="1700" b="1" dirty="0">
                <a:solidFill>
                  <a:schemeClr val="tx1"/>
                </a:solidFill>
                <a:latin typeface="Courier New" pitchFamily="34" charset="0"/>
                <a:ea typeface="Courier New" pitchFamily="34" charset="-122"/>
                <a:cs typeface="Courier New" pitchFamily="34" charset="-120"/>
              </a:rPr>
              <a:t>undefined</a:t>
            </a:r>
            <a:endParaRPr lang="en-US" sz="1700" dirty="0"/>
          </a:p>
          <a:p>
            <a:pPr indent="0" marL="0">
              <a:buNone/>
            </a:pPr>
            <a:r>
              <a:rPr lang="en-US" sz="1400" dirty="0">
                <a:solidFill>
                  <a:srgbClr val="6B7280"/>
                </a:solidFill>
              </a:rPr>
              <a:t>not assigned</a:t>
            </a:r>
            <a:endParaRPr lang="en-US" sz="1700" dirty="0"/>
          </a:p>
        </p:txBody>
      </p:sp>
      <p:sp>
        <p:nvSpPr>
          <p:cNvPr id="11" name="prim-49"/>
          <p:cNvSpPr/>
          <p:nvPr/>
        </p:nvSpPr>
        <p:spPr>
          <a:xfrm>
            <a:off x="548640" y="3566160"/>
            <a:ext cx="2606040" cy="914400"/>
          </a:xfrm>
          <a:prstGeom prst="roundRect">
            <a:avLst>
              <a:gd name="adj" fmla="val 8000"/>
            </a:avLst>
          </a:prstGeom>
          <a:solidFill>
            <a:schemeClr val="bg2"/>
          </a:solidFill>
          <a:ln w="12700">
            <a:solidFill>
              <a:schemeClr val="bg2"/>
            </a:solidFill>
            <a:prstDash val="solid"/>
          </a:ln>
        </p:spPr>
      </p:sp>
      <p:sp>
        <p:nvSpPr>
          <p:cNvPr id="12" name="prim-text-50"/>
          <p:cNvSpPr txBox="1"/>
          <p:nvPr/>
        </p:nvSpPr>
        <p:spPr>
          <a:xfrm>
            <a:off x="731520" y="3657600"/>
            <a:ext cx="2240280" cy="731520"/>
          </a:xfrm>
          <a:prstGeom prst="rect">
            <a:avLst/>
          </a:prstGeom>
          <a:noFill/>
          <a:ln/>
        </p:spPr>
        <p:txBody>
          <a:bodyPr wrap="square" lIns="0" tIns="0" rIns="0" bIns="0" rtlCol="0" anchor="ctr"/>
          <a:lstStyle/>
          <a:p>
            <a:pPr indent="0" marL="0">
              <a:buNone/>
            </a:pPr>
            <a:r>
              <a:rPr lang="en-US" sz="1700" b="1" dirty="0">
                <a:solidFill>
                  <a:schemeClr val="tx1"/>
                </a:solidFill>
                <a:latin typeface="Courier New" pitchFamily="34" charset="0"/>
                <a:ea typeface="Courier New" pitchFamily="34" charset="-122"/>
                <a:cs typeface="Courier New" pitchFamily="34" charset="-120"/>
              </a:rPr>
              <a:t>null</a:t>
            </a:r>
            <a:endParaRPr lang="en-US" sz="1700" dirty="0"/>
          </a:p>
          <a:p>
            <a:pPr indent="0" marL="0">
              <a:buNone/>
            </a:pPr>
            <a:r>
              <a:rPr lang="en-US" sz="1400" dirty="0">
                <a:solidFill>
                  <a:srgbClr val="6B7280"/>
                </a:solidFill>
              </a:rPr>
              <a:t>empty on purpose</a:t>
            </a:r>
            <a:endParaRPr lang="en-US" sz="1700" dirty="0"/>
          </a:p>
        </p:txBody>
      </p:sp>
      <p:sp>
        <p:nvSpPr>
          <p:cNvPr id="13" name="prim-51"/>
          <p:cNvSpPr/>
          <p:nvPr/>
        </p:nvSpPr>
        <p:spPr>
          <a:xfrm>
            <a:off x="3337560" y="3566160"/>
            <a:ext cx="2606040" cy="914400"/>
          </a:xfrm>
          <a:prstGeom prst="roundRect">
            <a:avLst>
              <a:gd name="adj" fmla="val 8000"/>
            </a:avLst>
          </a:prstGeom>
          <a:solidFill>
            <a:schemeClr val="bg2"/>
          </a:solidFill>
          <a:ln w="12700">
            <a:solidFill>
              <a:schemeClr val="bg2"/>
            </a:solidFill>
            <a:prstDash val="solid"/>
          </a:ln>
        </p:spPr>
      </p:sp>
      <p:sp>
        <p:nvSpPr>
          <p:cNvPr id="14" name="prim-text-52"/>
          <p:cNvSpPr txBox="1"/>
          <p:nvPr/>
        </p:nvSpPr>
        <p:spPr>
          <a:xfrm>
            <a:off x="3520440" y="3657600"/>
            <a:ext cx="2240280" cy="731520"/>
          </a:xfrm>
          <a:prstGeom prst="rect">
            <a:avLst/>
          </a:prstGeom>
          <a:noFill/>
          <a:ln/>
        </p:spPr>
        <p:txBody>
          <a:bodyPr wrap="square" lIns="0" tIns="0" rIns="0" bIns="0" rtlCol="0" anchor="ctr"/>
          <a:lstStyle/>
          <a:p>
            <a:pPr indent="0" marL="0">
              <a:buNone/>
            </a:pPr>
            <a:r>
              <a:rPr lang="en-US" sz="1700" b="1" dirty="0">
                <a:solidFill>
                  <a:schemeClr val="tx1"/>
                </a:solidFill>
                <a:latin typeface="Courier New" pitchFamily="34" charset="0"/>
                <a:ea typeface="Courier New" pitchFamily="34" charset="-122"/>
                <a:cs typeface="Courier New" pitchFamily="34" charset="-120"/>
              </a:rPr>
              <a:t>bigint</a:t>
            </a:r>
            <a:endParaRPr lang="en-US" sz="1700" dirty="0"/>
          </a:p>
          <a:p>
            <a:pPr indent="0" marL="0">
              <a:buNone/>
            </a:pPr>
            <a:r>
              <a:rPr lang="en-US" sz="1400" dirty="0">
                <a:solidFill>
                  <a:srgbClr val="6B7280"/>
                </a:solidFill>
              </a:rPr>
              <a:t>9007199254740993n</a:t>
            </a:r>
            <a:endParaRPr lang="en-US" sz="1700" dirty="0"/>
          </a:p>
        </p:txBody>
      </p:sp>
      <p:sp>
        <p:nvSpPr>
          <p:cNvPr id="15" name="prim-53"/>
          <p:cNvSpPr/>
          <p:nvPr/>
        </p:nvSpPr>
        <p:spPr>
          <a:xfrm>
            <a:off x="548640" y="4663440"/>
            <a:ext cx="2606040" cy="914400"/>
          </a:xfrm>
          <a:prstGeom prst="roundRect">
            <a:avLst>
              <a:gd name="adj" fmla="val 8000"/>
            </a:avLst>
          </a:prstGeom>
          <a:solidFill>
            <a:schemeClr val="bg2"/>
          </a:solidFill>
          <a:ln w="12700">
            <a:solidFill>
              <a:schemeClr val="bg2"/>
            </a:solidFill>
            <a:prstDash val="solid"/>
          </a:ln>
        </p:spPr>
      </p:sp>
      <p:sp>
        <p:nvSpPr>
          <p:cNvPr id="16" name="prim-text-54"/>
          <p:cNvSpPr txBox="1"/>
          <p:nvPr/>
        </p:nvSpPr>
        <p:spPr>
          <a:xfrm>
            <a:off x="731520" y="4754880"/>
            <a:ext cx="2240280" cy="731520"/>
          </a:xfrm>
          <a:prstGeom prst="rect">
            <a:avLst/>
          </a:prstGeom>
          <a:noFill/>
          <a:ln/>
        </p:spPr>
        <p:txBody>
          <a:bodyPr wrap="square" lIns="0" tIns="0" rIns="0" bIns="0" rtlCol="0" anchor="ctr"/>
          <a:lstStyle/>
          <a:p>
            <a:pPr indent="0" marL="0">
              <a:buNone/>
            </a:pPr>
            <a:r>
              <a:rPr lang="en-US" sz="1700" b="1" dirty="0">
                <a:solidFill>
                  <a:schemeClr val="tx1"/>
                </a:solidFill>
                <a:latin typeface="Courier New" pitchFamily="34" charset="0"/>
                <a:ea typeface="Courier New" pitchFamily="34" charset="-122"/>
                <a:cs typeface="Courier New" pitchFamily="34" charset="-120"/>
              </a:rPr>
              <a:t>symbol</a:t>
            </a:r>
            <a:endParaRPr lang="en-US" sz="1700" dirty="0"/>
          </a:p>
          <a:p>
            <a:pPr indent="0" marL="0">
              <a:buNone/>
            </a:pPr>
            <a:r>
              <a:rPr lang="en-US" sz="1400" dirty="0">
                <a:solidFill>
                  <a:srgbClr val="6B7280"/>
                </a:solidFill>
              </a:rPr>
              <a:t>Symbol("id")</a:t>
            </a:r>
            <a:endParaRPr lang="en-US" sz="1700" dirty="0"/>
          </a:p>
        </p:txBody>
      </p:sp>
      <p:sp>
        <p:nvSpPr>
          <p:cNvPr id="17" name="obj-chip"/>
          <p:cNvSpPr/>
          <p:nvPr/>
        </p:nvSpPr>
        <p:spPr>
          <a:xfrm>
            <a:off x="3337560" y="4663440"/>
            <a:ext cx="2606040" cy="914400"/>
          </a:xfrm>
          <a:prstGeom prst="roundRect">
            <a:avLst>
              <a:gd name="adj" fmla="val 8000"/>
            </a:avLst>
          </a:prstGeom>
          <a:solidFill>
            <a:schemeClr val="accent1"/>
          </a:solidFill>
          <a:ln w="12700">
            <a:solidFill>
              <a:schemeClr val="accent1"/>
            </a:solidFill>
            <a:prstDash val="solid"/>
          </a:ln>
        </p:spPr>
      </p:sp>
      <p:sp>
        <p:nvSpPr>
          <p:cNvPr id="18" name="obj-chip-text"/>
          <p:cNvSpPr txBox="1"/>
          <p:nvPr/>
        </p:nvSpPr>
        <p:spPr>
          <a:xfrm>
            <a:off x="3520440" y="4754880"/>
            <a:ext cx="2240280" cy="731520"/>
          </a:xfrm>
          <a:prstGeom prst="rect">
            <a:avLst/>
          </a:prstGeom>
          <a:noFill/>
          <a:ln/>
        </p:spPr>
        <p:txBody>
          <a:bodyPr wrap="square" lIns="0" tIns="0" rIns="0" bIns="0" rtlCol="0" anchor="ctr"/>
          <a:lstStyle/>
          <a:p>
            <a:pPr indent="0" marL="0">
              <a:buNone/>
            </a:pPr>
            <a:r>
              <a:rPr lang="en-US" sz="1700" b="1" dirty="0">
                <a:solidFill>
                  <a:srgbClr val="1B1B1F"/>
                </a:solidFill>
                <a:latin typeface="Courier New" pitchFamily="34" charset="0"/>
                <a:ea typeface="Courier New" pitchFamily="34" charset="-122"/>
                <a:cs typeface="Courier New" pitchFamily="34" charset="-120"/>
              </a:rPr>
              <a:t>object</a:t>
            </a:r>
            <a:endParaRPr lang="en-US" sz="1700" dirty="0"/>
          </a:p>
          <a:p>
            <a:pPr indent="0" marL="0">
              <a:buNone/>
            </a:pPr>
            <a:r>
              <a:rPr lang="en-US" sz="1400" dirty="0">
                <a:solidFill>
                  <a:srgbClr val="1B1B1F"/>
                </a:solidFill>
              </a:rPr>
              <a:t>arrays, functions, dates…</a:t>
            </a:r>
            <a:endParaRPr lang="en-US" sz="1700" dirty="0"/>
          </a:p>
        </p:txBody>
      </p:sp>
      <p:sp>
        <p:nvSpPr>
          <p:cNvPr id="19" name="code-panel-55"/>
          <p:cNvSpPr/>
          <p:nvPr/>
        </p:nvSpPr>
        <p:spPr>
          <a:xfrm>
            <a:off x="6172200" y="1371600"/>
            <a:ext cx="5468112" cy="3017520"/>
          </a:xfrm>
          <a:prstGeom prst="roundRect">
            <a:avLst>
              <a:gd name="adj" fmla="val 2424"/>
            </a:avLst>
          </a:prstGeom>
          <a:solidFill>
            <a:schemeClr val="tx2"/>
          </a:solidFill>
          <a:ln w="12700">
            <a:solidFill>
              <a:schemeClr val="tx2"/>
            </a:solidFill>
            <a:prstDash val="solid"/>
          </a:ln>
        </p:spPr>
      </p:sp>
      <p:sp>
        <p:nvSpPr>
          <p:cNvPr id="20" name="code-label-56"/>
          <p:cNvSpPr txBox="1"/>
          <p:nvPr/>
        </p:nvSpPr>
        <p:spPr>
          <a:xfrm>
            <a:off x="6400800" y="1499616"/>
            <a:ext cx="5010912"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typeof</a:t>
            </a:r>
            <a:endParaRPr lang="en-US" sz="1100" dirty="0"/>
          </a:p>
        </p:txBody>
      </p:sp>
      <p:sp>
        <p:nvSpPr>
          <p:cNvPr id="21" name="code-57"/>
          <p:cNvSpPr txBox="1"/>
          <p:nvPr/>
        </p:nvSpPr>
        <p:spPr>
          <a:xfrm>
            <a:off x="6400800" y="1828800"/>
            <a:ext cx="5010912" cy="2450592"/>
          </a:xfrm>
          <a:prstGeom prst="rect">
            <a:avLst/>
          </a:prstGeom>
          <a:noFill/>
          <a:ln/>
        </p:spPr>
        <p:txBody>
          <a:bodyPr wrap="square" lIns="0" tIns="0" rIns="0" bIns="0" rtlCol="0" anchor="t"/>
          <a:lstStyle/>
          <a:p>
            <a:pPr indent="0" marL="0">
              <a:buNone/>
            </a:pPr>
            <a:r>
              <a:rPr lang="en-US" sz="1400" dirty="0">
                <a:solidFill>
                  <a:srgbClr val="C792EA"/>
                </a:solidFill>
                <a:latin typeface="Courier New" pitchFamily="34" charset="0"/>
                <a:ea typeface="Courier New" pitchFamily="34" charset="-122"/>
                <a:cs typeface="Courier New" pitchFamily="34" charset="-120"/>
              </a:rPr>
              <a:t>typeof </a:t>
            </a:r>
            <a:pPr indent="0" marL="0">
              <a:buNone/>
            </a:pPr>
            <a:r>
              <a:rPr lang="en-US" sz="1400" dirty="0">
                <a:solidFill>
                  <a:srgbClr val="A5D6A7"/>
                </a:solidFill>
                <a:latin typeface="Courier New" pitchFamily="34" charset="0"/>
                <a:ea typeface="Courier New" pitchFamily="34" charset="-122"/>
                <a:cs typeface="Courier New" pitchFamily="34" charset="-120"/>
              </a:rPr>
              <a:t>"hi"          </a:t>
            </a:r>
            <a:pPr indent="0" marL="0">
              <a:buNone/>
            </a:pPr>
            <a:r>
              <a:rPr lang="en-US" sz="1400" i="1" dirty="0">
                <a:solidFill>
                  <a:srgbClr val="8B949E"/>
                </a:solidFill>
                <a:latin typeface="Courier New" pitchFamily="34" charset="0"/>
                <a:ea typeface="Courier New" pitchFamily="34" charset="-122"/>
                <a:cs typeface="Courier New" pitchFamily="34" charset="-120"/>
              </a:rPr>
              <a:t>// "string"</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typeof </a:t>
            </a:r>
            <a:pPr indent="0" marL="0">
              <a:buNone/>
            </a:pPr>
            <a:r>
              <a:rPr lang="en-US" sz="1400" dirty="0">
                <a:solidFill>
                  <a:srgbClr val="F7B267"/>
                </a:solidFill>
                <a:latin typeface="Courier New" pitchFamily="34" charset="0"/>
                <a:ea typeface="Courier New" pitchFamily="34" charset="-122"/>
                <a:cs typeface="Courier New" pitchFamily="34" charset="-120"/>
              </a:rPr>
              <a:t>42            </a:t>
            </a:r>
            <a:pPr indent="0" marL="0">
              <a:buNone/>
            </a:pPr>
            <a:r>
              <a:rPr lang="en-US" sz="1400" i="1" dirty="0">
                <a:solidFill>
                  <a:srgbClr val="8B949E"/>
                </a:solidFill>
                <a:latin typeface="Courier New" pitchFamily="34" charset="0"/>
                <a:ea typeface="Courier New" pitchFamily="34" charset="-122"/>
                <a:cs typeface="Courier New" pitchFamily="34" charset="-120"/>
              </a:rPr>
              <a:t>// "number"</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typeof </a:t>
            </a:r>
            <a:pPr indent="0" marL="0">
              <a:buNone/>
            </a:pPr>
            <a:r>
              <a:rPr lang="en-US" sz="1400" dirty="0">
                <a:solidFill>
                  <a:srgbClr val="F7B267"/>
                </a:solidFill>
                <a:latin typeface="Courier New" pitchFamily="34" charset="0"/>
                <a:ea typeface="Courier New" pitchFamily="34" charset="-122"/>
                <a:cs typeface="Courier New" pitchFamily="34" charset="-120"/>
              </a:rPr>
              <a:t>NaN           </a:t>
            </a:r>
            <a:pPr indent="0" marL="0">
              <a:buNone/>
            </a:pPr>
            <a:r>
              <a:rPr lang="en-US" sz="1400" i="1" dirty="0">
                <a:solidFill>
                  <a:srgbClr val="8B949E"/>
                </a:solidFill>
                <a:latin typeface="Courier New" pitchFamily="34" charset="0"/>
                <a:ea typeface="Courier New" pitchFamily="34" charset="-122"/>
                <a:cs typeface="Courier New" pitchFamily="34" charset="-120"/>
              </a:rPr>
              <a:t>// "number" (!)</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typeof </a:t>
            </a:r>
            <a:pPr indent="0" marL="0">
              <a:buNone/>
            </a:pPr>
            <a:r>
              <a:rPr lang="en-US" sz="1400" dirty="0">
                <a:solidFill>
                  <a:srgbClr val="F7B267"/>
                </a:solidFill>
                <a:latin typeface="Courier New" pitchFamily="34" charset="0"/>
                <a:ea typeface="Courier New" pitchFamily="34" charset="-122"/>
                <a:cs typeface="Courier New" pitchFamily="34" charset="-120"/>
              </a:rPr>
              <a:t>undefined     </a:t>
            </a:r>
            <a:pPr indent="0" marL="0">
              <a:buNone/>
            </a:pPr>
            <a:r>
              <a:rPr lang="en-US" sz="1400" i="1" dirty="0">
                <a:solidFill>
                  <a:srgbClr val="8B949E"/>
                </a:solidFill>
                <a:latin typeface="Courier New" pitchFamily="34" charset="0"/>
                <a:ea typeface="Courier New" pitchFamily="34" charset="-122"/>
                <a:cs typeface="Courier New" pitchFamily="34" charset="-120"/>
              </a:rPr>
              <a:t>// "undefined"</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typeof </a:t>
            </a:r>
            <a:pPr indent="0" marL="0">
              <a:buNone/>
            </a:pPr>
            <a:r>
              <a:rPr lang="en-US" sz="1400" dirty="0">
                <a:solidFill>
                  <a:srgbClr val="F7B267"/>
                </a:solidFill>
                <a:latin typeface="Courier New" pitchFamily="34" charset="0"/>
                <a:ea typeface="Courier New" pitchFamily="34" charset="-122"/>
                <a:cs typeface="Courier New" pitchFamily="34" charset="-120"/>
              </a:rPr>
              <a:t>null          </a:t>
            </a:r>
            <a:pPr indent="0" marL="0">
              <a:buNone/>
            </a:pPr>
            <a:r>
              <a:rPr lang="en-US" sz="1400" i="1" dirty="0">
                <a:solidFill>
                  <a:srgbClr val="8B949E"/>
                </a:solidFill>
                <a:latin typeface="Courier New" pitchFamily="34" charset="0"/>
                <a:ea typeface="Courier New" pitchFamily="34" charset="-122"/>
                <a:cs typeface="Courier New" pitchFamily="34" charset="-120"/>
              </a:rPr>
              <a:t>// "object" (old bug)</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typeof </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"object"</a:t>
            </a:r>
            <a:endParaRPr lang="en-US" sz="1400" dirty="0"/>
          </a:p>
          <a:p>
            <a:pPr indent="0" marL="0">
              <a:buNone/>
            </a:pPr>
            <a:r>
              <a:rPr lang="en-US" sz="1400" dirty="0">
                <a:solidFill>
                  <a:srgbClr val="79B8FF"/>
                </a:solidFill>
                <a:latin typeface="Courier New" pitchFamily="34" charset="0"/>
                <a:ea typeface="Courier New" pitchFamily="34" charset="-122"/>
                <a:cs typeface="Courier New" pitchFamily="34" charset="-120"/>
              </a:rPr>
              <a:t>Array</a:t>
            </a:r>
            <a:pPr indent="0" marL="0">
              <a:buNone/>
            </a:pPr>
            <a:r>
              <a:rPr lang="en-US" sz="1400" dirty="0">
                <a:solidFill>
                  <a:srgbClr val="E5E7EB"/>
                </a:solidFill>
                <a:latin typeface="Courier New" pitchFamily="34" charset="0"/>
                <a:ea typeface="Courier New" pitchFamily="34" charset="-122"/>
                <a:cs typeface="Courier New" pitchFamily="34" charset="-120"/>
              </a:rPr>
              <a:t>.isArray([])    </a:t>
            </a:r>
            <a:pPr indent="0" marL="0">
              <a:buNone/>
            </a:pPr>
            <a:r>
              <a:rPr lang="en-US" sz="1400" i="1" dirty="0">
                <a:solidFill>
                  <a:srgbClr val="8B949E"/>
                </a:solidFill>
                <a:latin typeface="Courier New" pitchFamily="34" charset="0"/>
                <a:ea typeface="Courier New" pitchFamily="34" charset="-122"/>
                <a:cs typeface="Courier New" pitchFamily="34" charset="-120"/>
              </a:rPr>
              <a:t>// true</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typeof </a:t>
            </a:r>
            <a:pPr indent="0" marL="0">
              <a:buNone/>
            </a:pPr>
            <a:r>
              <a:rPr lang="en-US" sz="1400" dirty="0">
                <a:solidFill>
                  <a:srgbClr val="E5E7EB"/>
                </a:solidFill>
                <a:latin typeface="Courier New" pitchFamily="34" charset="0"/>
                <a:ea typeface="Courier New" pitchFamily="34" charset="-122"/>
                <a:cs typeface="Courier New" pitchFamily="34" charset="-120"/>
              </a:rPr>
              <a:t>(() =&gt; {})    </a:t>
            </a:r>
            <a:pPr indent="0" marL="0">
              <a:buNone/>
            </a:pPr>
            <a:r>
              <a:rPr lang="en-US" sz="1400" i="1" dirty="0">
                <a:solidFill>
                  <a:srgbClr val="8B949E"/>
                </a:solidFill>
                <a:latin typeface="Courier New" pitchFamily="34" charset="0"/>
                <a:ea typeface="Courier New" pitchFamily="34" charset="-122"/>
                <a:cs typeface="Courier New" pitchFamily="34" charset="-120"/>
              </a:rPr>
              <a:t>// "function"</a:t>
            </a:r>
            <a:endParaRPr lang="en-US" sz="1400" dirty="0"/>
          </a:p>
        </p:txBody>
      </p:sp>
      <p:sp>
        <p:nvSpPr>
          <p:cNvPr id="22" name="card-58"/>
          <p:cNvSpPr/>
          <p:nvPr/>
        </p:nvSpPr>
        <p:spPr>
          <a:xfrm>
            <a:off x="6172200" y="4572000"/>
            <a:ext cx="5468112" cy="1600200"/>
          </a:xfrm>
          <a:prstGeom prst="roundRect">
            <a:avLst>
              <a:gd name="adj" fmla="val 4571"/>
            </a:avLst>
          </a:prstGeom>
          <a:solidFill>
            <a:schemeClr val="bg2"/>
          </a:solidFill>
          <a:ln w="12700">
            <a:solidFill>
              <a:schemeClr val="bg2"/>
            </a:solidFill>
            <a:prstDash val="solid"/>
          </a:ln>
        </p:spPr>
      </p:sp>
      <p:sp>
        <p:nvSpPr>
          <p:cNvPr id="23" name="card-text-59"/>
          <p:cNvSpPr txBox="1"/>
          <p:nvPr/>
        </p:nvSpPr>
        <p:spPr>
          <a:xfrm>
            <a:off x="6373368" y="4718304"/>
            <a:ext cx="5065776" cy="1307592"/>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Primitives are copied, objects are shared</a:t>
            </a:r>
            <a:endParaRPr lang="en-US" sz="1700" dirty="0"/>
          </a:p>
          <a:p>
            <a:pPr indent="0" marL="0">
              <a:buNone/>
            </a:pPr>
            <a:r>
              <a:rPr lang="en-US" sz="1500" dirty="0">
                <a:solidFill>
                  <a:srgbClr val="374151"/>
                </a:solidFill>
              </a:rPr>
              <a:t>A primitive value can never be changed in place. Objects are passed around by reference (more on this in Part 2).</a:t>
            </a:r>
            <a:endParaRPr lang="en-US" sz="17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Equality and coercion: use ===</a:t>
            </a:r>
            <a:endParaRPr lang="en-US" sz="3200" dirty="0"/>
          </a:p>
        </p:txBody>
      </p:sp>
      <p:sp>
        <p:nvSpPr>
          <p:cNvPr id="3" name="code-panel-60"/>
          <p:cNvSpPr/>
          <p:nvPr/>
        </p:nvSpPr>
        <p:spPr>
          <a:xfrm>
            <a:off x="548640" y="1371600"/>
            <a:ext cx="6309360" cy="4800600"/>
          </a:xfrm>
          <a:prstGeom prst="roundRect">
            <a:avLst>
              <a:gd name="adj" fmla="val 1524"/>
            </a:avLst>
          </a:prstGeom>
          <a:solidFill>
            <a:schemeClr val="tx2"/>
          </a:solidFill>
          <a:ln w="12700">
            <a:solidFill>
              <a:schemeClr val="tx2"/>
            </a:solidFill>
            <a:prstDash val="solid"/>
          </a:ln>
        </p:spPr>
      </p:sp>
      <p:sp>
        <p:nvSpPr>
          <p:cNvPr id="4" name="code-label-61"/>
          <p:cNvSpPr txBox="1"/>
          <p:nvPr/>
        </p:nvSpPr>
        <p:spPr>
          <a:xfrm>
            <a:off x="777240" y="1499616"/>
            <a:ext cx="5852160"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coercion.js</a:t>
            </a:r>
            <a:endParaRPr lang="en-US" sz="1100" dirty="0"/>
          </a:p>
        </p:txBody>
      </p:sp>
      <p:sp>
        <p:nvSpPr>
          <p:cNvPr id="5" name="code-62"/>
          <p:cNvSpPr txBox="1"/>
          <p:nvPr/>
        </p:nvSpPr>
        <p:spPr>
          <a:xfrm>
            <a:off x="777240" y="1828800"/>
            <a:ext cx="5852160" cy="4233672"/>
          </a:xfrm>
          <a:prstGeom prst="rect">
            <a:avLst/>
          </a:prstGeom>
          <a:noFill/>
          <a:ln/>
        </p:spPr>
        <p:txBody>
          <a:bodyPr wrap="square" lIns="0" tIns="0" rIns="0" bIns="0" rtlCol="0" anchor="t"/>
          <a:lstStyle/>
          <a:p>
            <a:pPr indent="0" marL="0">
              <a:buNone/>
            </a:pPr>
            <a:r>
              <a:rPr lang="en-US" sz="1400" dirty="0">
                <a:solidFill>
                  <a:srgbClr val="F7B267"/>
                </a:solidFill>
                <a:latin typeface="Courier New" pitchFamily="34" charset="0"/>
                <a:ea typeface="Courier New" pitchFamily="34" charset="-122"/>
                <a:cs typeface="Courier New" pitchFamily="34" charset="-120"/>
              </a:rPr>
              <a:t>0 </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A5D6A7"/>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true</a:t>
            </a:r>
            <a:endParaRPr lang="en-US" sz="1400" dirty="0"/>
          </a:p>
          <a:p>
            <a:pPr indent="0" marL="0">
              <a:buNone/>
            </a:pPr>
            <a:r>
              <a:rPr lang="en-US" sz="1400" dirty="0">
                <a:solidFill>
                  <a:srgbClr val="F7B267"/>
                </a:solidFill>
                <a:latin typeface="Courier New" pitchFamily="34" charset="0"/>
                <a:ea typeface="Courier New" pitchFamily="34" charset="-122"/>
                <a:cs typeface="Courier New" pitchFamily="34" charset="-120"/>
              </a:rPr>
              <a:t>0 </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A5D6A7"/>
                </a:solidFill>
                <a:latin typeface="Courier New" pitchFamily="34" charset="0"/>
                <a:ea typeface="Courier New" pitchFamily="34" charset="-122"/>
                <a:cs typeface="Courier New" pitchFamily="34" charset="-120"/>
              </a:rPr>
              <a:t>"0"             </a:t>
            </a:r>
            <a:pPr indent="0" marL="0">
              <a:buNone/>
            </a:pPr>
            <a:r>
              <a:rPr lang="en-US" sz="1400" i="1" dirty="0">
                <a:solidFill>
                  <a:srgbClr val="8B949E"/>
                </a:solidFill>
                <a:latin typeface="Courier New" pitchFamily="34" charset="0"/>
                <a:ea typeface="Courier New" pitchFamily="34" charset="-122"/>
                <a:cs typeface="Courier New" pitchFamily="34" charset="-120"/>
              </a:rPr>
              <a:t>// true</a:t>
            </a:r>
            <a:endParaRPr lang="en-US" sz="1400" dirty="0"/>
          </a:p>
          <a:p>
            <a:pPr indent="0" marL="0">
              <a:buNone/>
            </a:pPr>
            <a:r>
              <a:rPr lang="en-US" sz="1400" dirty="0">
                <a:solidFill>
                  <a:srgbClr val="A5D6A7"/>
                </a:solidFill>
                <a:latin typeface="Courier New" pitchFamily="34" charset="0"/>
                <a:ea typeface="Courier New" pitchFamily="34" charset="-122"/>
                <a:cs typeface="Courier New" pitchFamily="34" charset="-120"/>
              </a:rPr>
              <a:t>"" </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A5D6A7"/>
                </a:solidFill>
                <a:latin typeface="Courier New" pitchFamily="34" charset="0"/>
                <a:ea typeface="Courier New" pitchFamily="34" charset="-122"/>
                <a:cs typeface="Courier New" pitchFamily="34" charset="-120"/>
              </a:rPr>
              <a:t>"0"            </a:t>
            </a:r>
            <a:pPr indent="0" marL="0">
              <a:buNone/>
            </a:pPr>
            <a:r>
              <a:rPr lang="en-US" sz="1400" i="1" dirty="0">
                <a:solidFill>
                  <a:srgbClr val="8B949E"/>
                </a:solidFill>
                <a:latin typeface="Courier New" pitchFamily="34" charset="0"/>
                <a:ea typeface="Courier New" pitchFamily="34" charset="-122"/>
                <a:cs typeface="Courier New" pitchFamily="34" charset="-120"/>
              </a:rPr>
              <a:t>// false  (not transitive!)</a:t>
            </a:r>
            <a:endParaRPr lang="en-US" sz="1400" dirty="0"/>
          </a:p>
          <a:p>
            <a:pPr indent="0" marL="0">
              <a:buNone/>
            </a:pPr>
            <a:r>
              <a:rPr lang="en-US" sz="1400" dirty="0">
                <a:solidFill>
                  <a:srgbClr val="F7B267"/>
                </a:solidFill>
                <a:latin typeface="Courier New" pitchFamily="34" charset="0"/>
                <a:ea typeface="Courier New" pitchFamily="34" charset="-122"/>
                <a:cs typeface="Courier New" pitchFamily="34" charset="-120"/>
              </a:rPr>
              <a:t>null </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F7B267"/>
                </a:solidFill>
                <a:latin typeface="Courier New" pitchFamily="34" charset="0"/>
                <a:ea typeface="Courier New" pitchFamily="34" charset="-122"/>
                <a:cs typeface="Courier New" pitchFamily="34" charset="-120"/>
              </a:rPr>
              <a:t>undefined    </a:t>
            </a:r>
            <a:pPr indent="0" marL="0">
              <a:buNone/>
            </a:pPr>
            <a:r>
              <a:rPr lang="en-US" sz="1400" i="1" dirty="0">
                <a:solidFill>
                  <a:srgbClr val="8B949E"/>
                </a:solidFill>
                <a:latin typeface="Courier New" pitchFamily="34" charset="0"/>
                <a:ea typeface="Courier New" pitchFamily="34" charset="-122"/>
                <a:cs typeface="Courier New" pitchFamily="34" charset="-120"/>
              </a:rPr>
              <a:t>// true</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 </a:t>
            </a:r>
            <a:pPr indent="0" marL="0">
              <a:buNone/>
            </a:pPr>
            <a:r>
              <a:rPr lang="en-US" sz="1400" dirty="0">
                <a:solidFill>
                  <a:srgbClr val="F7B267"/>
                </a:solidFill>
                <a:latin typeface="Courier New" pitchFamily="34" charset="0"/>
                <a:ea typeface="Courier New" pitchFamily="34" charset="-122"/>
                <a:cs typeface="Courier New" pitchFamily="34" charset="-120"/>
              </a:rPr>
              <a:t>false          </a:t>
            </a:r>
            <a:pPr indent="0" marL="0">
              <a:buNone/>
            </a:pPr>
            <a:r>
              <a:rPr lang="en-US" sz="1400" i="1" dirty="0">
                <a:solidFill>
                  <a:srgbClr val="8B949E"/>
                </a:solidFill>
                <a:latin typeface="Courier New" pitchFamily="34" charset="0"/>
                <a:ea typeface="Courier New" pitchFamily="34" charset="-122"/>
                <a:cs typeface="Courier New" pitchFamily="34" charset="-120"/>
              </a:rPr>
              <a:t>// true</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A5D6A7"/>
                </a:solidFill>
                <a:latin typeface="Courier New" pitchFamily="34" charset="0"/>
                <a:ea typeface="Courier New" pitchFamily="34" charset="-122"/>
                <a:cs typeface="Courier New" pitchFamily="34" charset="-120"/>
              </a:rPr>
              <a:t>"5" </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F7B267"/>
                </a:solidFill>
                <a:latin typeface="Courier New" pitchFamily="34" charset="0"/>
                <a:ea typeface="Courier New" pitchFamily="34" charset="-122"/>
                <a:cs typeface="Courier New" pitchFamily="34" charset="-120"/>
              </a:rPr>
              <a:t>1              </a:t>
            </a:r>
            <a:pPr indent="0" marL="0">
              <a:buNone/>
            </a:pPr>
            <a:r>
              <a:rPr lang="en-US" sz="1400" i="1" dirty="0">
                <a:solidFill>
                  <a:srgbClr val="8B949E"/>
                </a:solidFill>
                <a:latin typeface="Courier New" pitchFamily="34" charset="0"/>
                <a:ea typeface="Courier New" pitchFamily="34" charset="-122"/>
                <a:cs typeface="Courier New" pitchFamily="34" charset="-120"/>
              </a:rPr>
              <a:t>// "51"  (+ joins strings)</a:t>
            </a:r>
            <a:endParaRPr lang="en-US" sz="1400" dirty="0"/>
          </a:p>
          <a:p>
            <a:pPr indent="0" marL="0">
              <a:buNone/>
            </a:pPr>
            <a:r>
              <a:rPr lang="en-US" sz="1400" dirty="0">
                <a:solidFill>
                  <a:srgbClr val="A5D6A7"/>
                </a:solidFill>
                <a:latin typeface="Courier New" pitchFamily="34" charset="0"/>
                <a:ea typeface="Courier New" pitchFamily="34" charset="-122"/>
                <a:cs typeface="Courier New" pitchFamily="34" charset="-120"/>
              </a:rPr>
              <a:t>"5" </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F7B267"/>
                </a:solidFill>
                <a:latin typeface="Courier New" pitchFamily="34" charset="0"/>
                <a:ea typeface="Courier New" pitchFamily="34" charset="-122"/>
                <a:cs typeface="Courier New" pitchFamily="34" charset="-120"/>
              </a:rPr>
              <a:t>1              </a:t>
            </a:r>
            <a:pPr indent="0" marL="0">
              <a:buNone/>
            </a:pPr>
            <a:r>
              <a:rPr lang="en-US" sz="1400" i="1" dirty="0">
                <a:solidFill>
                  <a:srgbClr val="8B949E"/>
                </a:solidFill>
                <a:latin typeface="Courier New" pitchFamily="34" charset="0"/>
                <a:ea typeface="Courier New" pitchFamily="34" charset="-122"/>
                <a:cs typeface="Courier New" pitchFamily="34" charset="-120"/>
              </a:rPr>
              <a:t>// 4     (- converts to number)</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F7B267"/>
                </a:solidFill>
                <a:latin typeface="Courier New" pitchFamily="34" charset="0"/>
                <a:ea typeface="Courier New" pitchFamily="34" charset="-122"/>
                <a:cs typeface="Courier New" pitchFamily="34" charset="-120"/>
              </a:rPr>
              <a:t>NaN </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F7B267"/>
                </a:solidFill>
                <a:latin typeface="Courier New" pitchFamily="34" charset="0"/>
                <a:ea typeface="Courier New" pitchFamily="34" charset="-122"/>
                <a:cs typeface="Courier New" pitchFamily="34" charset="-120"/>
              </a:rPr>
              <a:t>NaN          </a:t>
            </a:r>
            <a:pPr indent="0" marL="0">
              <a:buNone/>
            </a:pPr>
            <a:r>
              <a:rPr lang="en-US" sz="1400" i="1" dirty="0">
                <a:solidFill>
                  <a:srgbClr val="8B949E"/>
                </a:solidFill>
                <a:latin typeface="Courier New" pitchFamily="34" charset="0"/>
                <a:ea typeface="Courier New" pitchFamily="34" charset="-122"/>
                <a:cs typeface="Courier New" pitchFamily="34" charset="-120"/>
              </a:rPr>
              <a:t>// false: use Number.isNaN(x)</a:t>
            </a:r>
            <a:endParaRPr lang="en-US" sz="1400" dirty="0"/>
          </a:p>
          <a:p>
            <a:pPr indent="0" marL="0">
              <a:buNone/>
            </a:pPr>
            <a:r>
              <a:rPr lang="en-US" sz="1400" dirty="0">
                <a:solidFill>
                  <a:srgbClr val="F7B267"/>
                </a:solidFill>
                <a:latin typeface="Courier New" pitchFamily="34" charset="0"/>
                <a:ea typeface="Courier New" pitchFamily="34" charset="-122"/>
                <a:cs typeface="Courier New" pitchFamily="34" charset="-120"/>
              </a:rPr>
              <a:t>0.1 </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F7B267"/>
                </a:solidFill>
                <a:latin typeface="Courier New" pitchFamily="34" charset="0"/>
                <a:ea typeface="Courier New" pitchFamily="34" charset="-122"/>
                <a:cs typeface="Courier New" pitchFamily="34" charset="-120"/>
              </a:rPr>
              <a:t>0.2 </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F7B267"/>
                </a:solidFill>
                <a:latin typeface="Courier New" pitchFamily="34" charset="0"/>
                <a:ea typeface="Courier New" pitchFamily="34" charset="-122"/>
                <a:cs typeface="Courier New" pitchFamily="34" charset="-120"/>
              </a:rPr>
              <a:t>0.3    </a:t>
            </a:r>
            <a:pPr indent="0" marL="0">
              <a:buNone/>
            </a:pPr>
            <a:r>
              <a:rPr lang="en-US" sz="1400" i="1" dirty="0">
                <a:solidFill>
                  <a:srgbClr val="8B949E"/>
                </a:solidFill>
                <a:latin typeface="Courier New" pitchFamily="34" charset="0"/>
                <a:ea typeface="Courier New" pitchFamily="34" charset="-122"/>
                <a:cs typeface="Courier New" pitchFamily="34" charset="-120"/>
              </a:rPr>
              <a:t>// false: floating point</a:t>
            </a:r>
            <a:endParaRPr lang="en-US" sz="1400" dirty="0"/>
          </a:p>
        </p:txBody>
      </p:sp>
      <p:sp>
        <p:nvSpPr>
          <p:cNvPr id="6" name="card-63"/>
          <p:cNvSpPr/>
          <p:nvPr/>
        </p:nvSpPr>
        <p:spPr>
          <a:xfrm>
            <a:off x="7132320" y="1371600"/>
            <a:ext cx="4507992" cy="1737360"/>
          </a:xfrm>
          <a:prstGeom prst="roundRect">
            <a:avLst>
              <a:gd name="adj" fmla="val 4211"/>
            </a:avLst>
          </a:prstGeom>
          <a:solidFill>
            <a:schemeClr val="accent1"/>
          </a:solidFill>
          <a:ln w="12700">
            <a:solidFill>
              <a:schemeClr val="accent1"/>
            </a:solidFill>
            <a:prstDash val="solid"/>
          </a:ln>
        </p:spPr>
      </p:sp>
      <p:sp>
        <p:nvSpPr>
          <p:cNvPr id="7" name="card-text-64"/>
          <p:cNvSpPr txBox="1"/>
          <p:nvPr/>
        </p:nvSpPr>
        <p:spPr>
          <a:xfrm>
            <a:off x="7333488" y="1517904"/>
            <a:ext cx="4105656" cy="1444752"/>
          </a:xfrm>
          <a:prstGeom prst="rect">
            <a:avLst/>
          </a:prstGeom>
          <a:noFill/>
          <a:ln/>
        </p:spPr>
        <p:txBody>
          <a:bodyPr wrap="square" lIns="0" tIns="0" rIns="0" bIns="0" rtlCol="0" anchor="t"/>
          <a:lstStyle/>
          <a:p>
            <a:pPr indent="0" marL="0">
              <a:spcAft>
                <a:spcPts val="400"/>
              </a:spcAft>
              <a:buNone/>
            </a:pPr>
            <a:r>
              <a:rPr lang="en-US" sz="1700" b="1" dirty="0">
                <a:solidFill>
                  <a:srgbClr val="1B1B1F"/>
                </a:solidFill>
              </a:rPr>
              <a:t>Rule</a:t>
            </a:r>
            <a:endParaRPr lang="en-US" sz="1700" dirty="0"/>
          </a:p>
          <a:p>
            <a:pPr indent="0" marL="0">
              <a:spcAft>
                <a:spcPts val="400"/>
              </a:spcAft>
              <a:buNone/>
            </a:pPr>
            <a:r>
              <a:rPr lang="en-US" sz="1600" dirty="0">
                <a:solidFill>
                  <a:srgbClr val="1B1B1F"/>
                </a:solidFill>
              </a:rPr>
              <a:t>Always use === and !==. They compare without converting types.</a:t>
            </a:r>
            <a:endParaRPr lang="en-US" sz="1700" dirty="0"/>
          </a:p>
        </p:txBody>
      </p:sp>
      <p:sp>
        <p:nvSpPr>
          <p:cNvPr id="8" name="card-65"/>
          <p:cNvSpPr/>
          <p:nvPr/>
        </p:nvSpPr>
        <p:spPr>
          <a:xfrm>
            <a:off x="7132320" y="3291840"/>
            <a:ext cx="4507992" cy="2880360"/>
          </a:xfrm>
          <a:prstGeom prst="roundRect">
            <a:avLst>
              <a:gd name="adj" fmla="val 2540"/>
            </a:avLst>
          </a:prstGeom>
          <a:solidFill>
            <a:schemeClr val="bg2"/>
          </a:solidFill>
          <a:ln w="12700">
            <a:solidFill>
              <a:schemeClr val="bg2"/>
            </a:solidFill>
            <a:prstDash val="solid"/>
          </a:ln>
        </p:spPr>
      </p:sp>
      <p:sp>
        <p:nvSpPr>
          <p:cNvPr id="9" name="card-text-66"/>
          <p:cNvSpPr txBox="1"/>
          <p:nvPr/>
        </p:nvSpPr>
        <p:spPr>
          <a:xfrm>
            <a:off x="7333488" y="3438144"/>
            <a:ext cx="4105656" cy="2587752"/>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Falsy values (only these 8)</a:t>
            </a:r>
            <a:endParaRPr lang="en-US" sz="1700" dirty="0"/>
          </a:p>
          <a:p>
            <a:pPr marL="177800" indent="-177800">
              <a:spcAft>
                <a:spcPts val="400"/>
              </a:spcAft>
              <a:buSzPct val="100000"/>
              <a:buChar char="•"/>
            </a:pPr>
            <a:r>
              <a:rPr lang="en-US" sz="1500" dirty="0">
                <a:solidFill>
                  <a:srgbClr val="374151"/>
                </a:solidFill>
              </a:rPr>
              <a:t>false, 0, -0, 0n</a:t>
            </a:r>
            <a:endParaRPr lang="en-US" sz="1700" dirty="0"/>
          </a:p>
          <a:p>
            <a:pPr marL="177800" indent="-177800">
              <a:spcAft>
                <a:spcPts val="400"/>
              </a:spcAft>
              <a:buSzPct val="100000"/>
              <a:buChar char="•"/>
            </a:pPr>
            <a:r>
              <a:rPr lang="en-US" sz="1500" dirty="0">
                <a:solidFill>
                  <a:srgbClr val="374151"/>
                </a:solidFill>
              </a:rPr>
              <a:t>"" (empty string)</a:t>
            </a:r>
            <a:endParaRPr lang="en-US" sz="1700" dirty="0"/>
          </a:p>
          <a:p>
            <a:pPr marL="177800" indent="-177800">
              <a:spcAft>
                <a:spcPts val="400"/>
              </a:spcAft>
              <a:buSzPct val="100000"/>
              <a:buChar char="•"/>
            </a:pPr>
            <a:r>
              <a:rPr lang="en-US" sz="1500" dirty="0">
                <a:solidFill>
                  <a:srgbClr val="374151"/>
                </a:solidFill>
              </a:rPr>
              <a:t>null, undefined, NaN</a:t>
            </a:r>
            <a:endParaRPr lang="en-US" sz="1700" dirty="0"/>
          </a:p>
          <a:p>
            <a:pPr marL="177800" indent="-177800">
              <a:spcAft>
                <a:spcPts val="400"/>
              </a:spcAft>
              <a:buSzPct val="100000"/>
              <a:buChar char="•"/>
            </a:pPr>
            <a:r>
              <a:rPr lang="en-US" sz="1500" dirty="0">
                <a:solidFill>
                  <a:srgbClr val="374151"/>
                </a:solidFill>
              </a:rPr>
              <a:t>Everything else is truthy, including "0", [] and {}</a:t>
            </a:r>
            <a:endParaRPr lang="en-US" sz="17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Modern syntax you will read every day</a:t>
            </a:r>
            <a:endParaRPr lang="en-US" sz="3200" dirty="0"/>
          </a:p>
        </p:txBody>
      </p:sp>
      <p:sp>
        <p:nvSpPr>
          <p:cNvPr id="3" name="syn-head-67"/>
          <p:cNvSpPr txBox="1"/>
          <p:nvPr/>
        </p:nvSpPr>
        <p:spPr>
          <a:xfrm>
            <a:off x="548640" y="1371600"/>
            <a:ext cx="5449824" cy="365760"/>
          </a:xfrm>
          <a:prstGeom prst="rect">
            <a:avLst/>
          </a:prstGeom>
          <a:noFill/>
          <a:ln/>
        </p:spPr>
        <p:txBody>
          <a:bodyPr wrap="square" lIns="0" tIns="0" rIns="0" bIns="0" rtlCol="0" anchor="ctr"/>
          <a:lstStyle/>
          <a:p>
            <a:pPr indent="0" marL="0">
              <a:buNone/>
            </a:pPr>
            <a:r>
              <a:rPr lang="en-US" sz="1700" b="1" dirty="0">
                <a:solidFill>
                  <a:schemeClr val="tx1"/>
                </a:solidFill>
              </a:rPr>
              <a:t>Template literals</a:t>
            </a:r>
            <a:endParaRPr lang="en-US" sz="1700" dirty="0"/>
          </a:p>
        </p:txBody>
      </p:sp>
      <p:sp>
        <p:nvSpPr>
          <p:cNvPr id="4" name="code-panel-68"/>
          <p:cNvSpPr/>
          <p:nvPr/>
        </p:nvSpPr>
        <p:spPr>
          <a:xfrm>
            <a:off x="548640" y="1783080"/>
            <a:ext cx="5449824" cy="1874520"/>
          </a:xfrm>
          <a:prstGeom prst="roundRect">
            <a:avLst>
              <a:gd name="adj" fmla="val 3902"/>
            </a:avLst>
          </a:prstGeom>
          <a:solidFill>
            <a:schemeClr val="tx2"/>
          </a:solidFill>
          <a:ln w="12700">
            <a:solidFill>
              <a:schemeClr val="tx2"/>
            </a:solidFill>
            <a:prstDash val="solid"/>
          </a:ln>
        </p:spPr>
      </p:sp>
      <p:sp>
        <p:nvSpPr>
          <p:cNvPr id="5" name="code-69"/>
          <p:cNvSpPr txBox="1"/>
          <p:nvPr/>
        </p:nvSpPr>
        <p:spPr>
          <a:xfrm>
            <a:off x="777240" y="1947672"/>
            <a:ext cx="4992624" cy="1600200"/>
          </a:xfrm>
          <a:prstGeom prst="rect">
            <a:avLst/>
          </a:prstGeom>
          <a:noFill/>
          <a:ln/>
        </p:spPr>
        <p:txBody>
          <a:bodyPr wrap="square" lIns="0" tIns="0" rIns="0" bIns="0" rtlCol="0" anchor="t"/>
          <a:lstStyle/>
          <a:p>
            <a:pPr indent="0" marL="0">
              <a:buNone/>
            </a:pPr>
            <a:r>
              <a:rPr lang="en-US" sz="1700" dirty="0">
                <a:solidFill>
                  <a:srgbClr val="C792EA"/>
                </a:solidFill>
                <a:latin typeface="Courier New" pitchFamily="34" charset="0"/>
                <a:ea typeface="Courier New" pitchFamily="34" charset="-122"/>
                <a:cs typeface="Courier New" pitchFamily="34" charset="-120"/>
              </a:rPr>
              <a:t>const </a:t>
            </a:r>
            <a:pPr indent="0" marL="0">
              <a:buNone/>
            </a:pPr>
            <a:r>
              <a:rPr lang="en-US" sz="1700" dirty="0">
                <a:solidFill>
                  <a:srgbClr val="E5E7EB"/>
                </a:solidFill>
                <a:latin typeface="Courier New" pitchFamily="34" charset="0"/>
                <a:ea typeface="Courier New" pitchFamily="34" charset="-122"/>
                <a:cs typeface="Courier New" pitchFamily="34" charset="-120"/>
              </a:rPr>
              <a:t>name = </a:t>
            </a:r>
            <a:pPr indent="0" marL="0">
              <a:buNone/>
            </a:pPr>
            <a:r>
              <a:rPr lang="en-US" sz="1700" dirty="0">
                <a:solidFill>
                  <a:srgbClr val="A5D6A7"/>
                </a:solidFill>
                <a:latin typeface="Courier New" pitchFamily="34" charset="0"/>
                <a:ea typeface="Courier New" pitchFamily="34" charset="-122"/>
                <a:cs typeface="Courier New" pitchFamily="34" charset="-120"/>
              </a:rPr>
              <a:t>"Dara"</a:t>
            </a:r>
            <a:pPr indent="0" marL="0">
              <a:buNone/>
            </a:pPr>
            <a:r>
              <a:rPr lang="en-US" sz="1700" dirty="0">
                <a:solidFill>
                  <a:srgbClr val="E5E7EB"/>
                </a:solidFill>
                <a:latin typeface="Courier New" pitchFamily="34" charset="0"/>
                <a:ea typeface="Courier New" pitchFamily="34" charset="-122"/>
                <a:cs typeface="Courier New" pitchFamily="34" charset="-120"/>
              </a:rPr>
              <a:t>, score = </a:t>
            </a:r>
            <a:pPr indent="0" marL="0">
              <a:buNone/>
            </a:pPr>
            <a:r>
              <a:rPr lang="en-US" sz="1700" dirty="0">
                <a:solidFill>
                  <a:srgbClr val="F7B267"/>
                </a:solidFill>
                <a:latin typeface="Courier New" pitchFamily="34" charset="0"/>
                <a:ea typeface="Courier New" pitchFamily="34" charset="-122"/>
                <a:cs typeface="Courier New" pitchFamily="34" charset="-120"/>
              </a:rPr>
              <a:t>92</a:t>
            </a:r>
            <a:pPr indent="0" marL="0">
              <a:buNone/>
            </a:pPr>
            <a:r>
              <a:rPr lang="en-US" sz="1700" dirty="0">
                <a:solidFill>
                  <a:srgbClr val="E5E7EB"/>
                </a:solidFill>
                <a:latin typeface="Courier New" pitchFamily="34" charset="0"/>
                <a:ea typeface="Courier New" pitchFamily="34" charset="-122"/>
                <a:cs typeface="Courier New" pitchFamily="34" charset="-120"/>
              </a:rPr>
              <a:t>;</a:t>
            </a:r>
            <a:endParaRPr lang="en-US" sz="1700" dirty="0"/>
          </a:p>
          <a:p>
            <a:pPr indent="0" marL="0">
              <a:buNone/>
            </a:pPr>
            <a:r>
              <a:rPr lang="en-US" sz="1700" dirty="0">
                <a:solidFill>
                  <a:srgbClr val="C792EA"/>
                </a:solidFill>
                <a:latin typeface="Courier New" pitchFamily="34" charset="0"/>
                <a:ea typeface="Courier New" pitchFamily="34" charset="-122"/>
                <a:cs typeface="Courier New" pitchFamily="34" charset="-120"/>
              </a:rPr>
              <a:t>const </a:t>
            </a:r>
            <a:pPr indent="0" marL="0">
              <a:buNone/>
            </a:pPr>
            <a:r>
              <a:rPr lang="en-US" sz="1700" dirty="0">
                <a:solidFill>
                  <a:srgbClr val="E5E7EB"/>
                </a:solidFill>
                <a:latin typeface="Courier New" pitchFamily="34" charset="0"/>
                <a:ea typeface="Courier New" pitchFamily="34" charset="-122"/>
                <a:cs typeface="Courier New" pitchFamily="34" charset="-120"/>
              </a:rPr>
              <a:t>msg = </a:t>
            </a:r>
            <a:pPr indent="0" marL="0">
              <a:buNone/>
            </a:pPr>
            <a:r>
              <a:rPr lang="en-US" sz="1700" dirty="0">
                <a:solidFill>
                  <a:srgbClr val="A5D6A7"/>
                </a:solidFill>
                <a:latin typeface="Courier New" pitchFamily="34" charset="0"/>
                <a:ea typeface="Courier New" pitchFamily="34" charset="-122"/>
                <a:cs typeface="Courier New" pitchFamily="34" charset="-120"/>
              </a:rPr>
              <a:t>`${name} scored ${score}%`</a:t>
            </a:r>
            <a:pPr indent="0" marL="0">
              <a:buNone/>
            </a:pPr>
            <a:r>
              <a:rPr lang="en-US" sz="1700" dirty="0">
                <a:solidFill>
                  <a:srgbClr val="E5E7EB"/>
                </a:solidFill>
                <a:latin typeface="Courier New" pitchFamily="34" charset="0"/>
                <a:ea typeface="Courier New" pitchFamily="34" charset="-122"/>
                <a:cs typeface="Courier New" pitchFamily="34" charset="-120"/>
              </a:rPr>
              <a:t>;</a:t>
            </a:r>
            <a:endParaRPr lang="en-US" sz="1700" dirty="0"/>
          </a:p>
        </p:txBody>
      </p:sp>
      <p:sp>
        <p:nvSpPr>
          <p:cNvPr id="6" name="syn-head-70"/>
          <p:cNvSpPr txBox="1"/>
          <p:nvPr/>
        </p:nvSpPr>
        <p:spPr>
          <a:xfrm>
            <a:off x="6190488" y="1371600"/>
            <a:ext cx="5449824" cy="365760"/>
          </a:xfrm>
          <a:prstGeom prst="rect">
            <a:avLst/>
          </a:prstGeom>
          <a:noFill/>
          <a:ln/>
        </p:spPr>
        <p:txBody>
          <a:bodyPr wrap="square" lIns="0" tIns="0" rIns="0" bIns="0" rtlCol="0" anchor="ctr"/>
          <a:lstStyle/>
          <a:p>
            <a:pPr indent="0" marL="0">
              <a:buNone/>
            </a:pPr>
            <a:r>
              <a:rPr lang="en-US" sz="1700" b="1" dirty="0">
                <a:solidFill>
                  <a:schemeClr val="tx1"/>
                </a:solidFill>
              </a:rPr>
              <a:t>Optional chaining ?.</a:t>
            </a:r>
            <a:endParaRPr lang="en-US" sz="1700" dirty="0"/>
          </a:p>
        </p:txBody>
      </p:sp>
      <p:sp>
        <p:nvSpPr>
          <p:cNvPr id="7" name="code-panel-71"/>
          <p:cNvSpPr/>
          <p:nvPr/>
        </p:nvSpPr>
        <p:spPr>
          <a:xfrm>
            <a:off x="6190488" y="1783080"/>
            <a:ext cx="5449824" cy="1874520"/>
          </a:xfrm>
          <a:prstGeom prst="roundRect">
            <a:avLst>
              <a:gd name="adj" fmla="val 3902"/>
            </a:avLst>
          </a:prstGeom>
          <a:solidFill>
            <a:schemeClr val="tx2"/>
          </a:solidFill>
          <a:ln w="12700">
            <a:solidFill>
              <a:schemeClr val="tx2"/>
            </a:solidFill>
            <a:prstDash val="solid"/>
          </a:ln>
        </p:spPr>
      </p:sp>
      <p:sp>
        <p:nvSpPr>
          <p:cNvPr id="8" name="code-72"/>
          <p:cNvSpPr txBox="1"/>
          <p:nvPr/>
        </p:nvSpPr>
        <p:spPr>
          <a:xfrm>
            <a:off x="6419088" y="1947672"/>
            <a:ext cx="4992624" cy="1600200"/>
          </a:xfrm>
          <a:prstGeom prst="rect">
            <a:avLst/>
          </a:prstGeom>
          <a:noFill/>
          <a:ln/>
        </p:spPr>
        <p:txBody>
          <a:bodyPr wrap="square" lIns="0" tIns="0" rIns="0" bIns="0" rtlCol="0" anchor="t"/>
          <a:lstStyle/>
          <a:p>
            <a:pPr indent="0" marL="0">
              <a:buNone/>
            </a:pPr>
            <a:r>
              <a:rPr lang="en-US" sz="1700" dirty="0">
                <a:solidFill>
                  <a:srgbClr val="C792EA"/>
                </a:solidFill>
                <a:latin typeface="Courier New" pitchFamily="34" charset="0"/>
                <a:ea typeface="Courier New" pitchFamily="34" charset="-122"/>
                <a:cs typeface="Courier New" pitchFamily="34" charset="-120"/>
              </a:rPr>
              <a:t>const </a:t>
            </a:r>
            <a:pPr indent="0" marL="0">
              <a:buNone/>
            </a:pPr>
            <a:r>
              <a:rPr lang="en-US" sz="1700" dirty="0">
                <a:solidFill>
                  <a:srgbClr val="E5E7EB"/>
                </a:solidFill>
                <a:latin typeface="Courier New" pitchFamily="34" charset="0"/>
                <a:ea typeface="Courier New" pitchFamily="34" charset="-122"/>
                <a:cs typeface="Courier New" pitchFamily="34" charset="-120"/>
              </a:rPr>
              <a:t>city = user?.address?.city;</a:t>
            </a:r>
            <a:endParaRPr lang="en-US" sz="1700" dirty="0"/>
          </a:p>
          <a:p>
            <a:pPr indent="0" marL="0">
              <a:buNone/>
            </a:pPr>
            <a:r>
              <a:rPr lang="en-US" sz="1700" i="1" dirty="0">
                <a:solidFill>
                  <a:srgbClr val="8B949E"/>
                </a:solidFill>
                <a:latin typeface="Courier New" pitchFamily="34" charset="0"/>
                <a:ea typeface="Courier New" pitchFamily="34" charset="-122"/>
                <a:cs typeface="Courier New" pitchFamily="34" charset="-120"/>
              </a:rPr>
              <a:t>// undefined instead of a crash</a:t>
            </a:r>
            <a:endParaRPr lang="en-US" sz="1700" dirty="0"/>
          </a:p>
          <a:p>
            <a:pPr indent="0" marL="0">
              <a:buNone/>
            </a:pPr>
            <a:r>
              <a:rPr lang="en-US" sz="1700" dirty="0">
                <a:solidFill>
                  <a:srgbClr val="E5E7EB"/>
                </a:solidFill>
                <a:latin typeface="Courier New" pitchFamily="34" charset="0"/>
                <a:ea typeface="Courier New" pitchFamily="34" charset="-122"/>
                <a:cs typeface="Courier New" pitchFamily="34" charset="-120"/>
              </a:rPr>
              <a:t>user.getName?.();</a:t>
            </a:r>
            <a:endParaRPr lang="en-US" sz="1700" dirty="0"/>
          </a:p>
        </p:txBody>
      </p:sp>
      <p:sp>
        <p:nvSpPr>
          <p:cNvPr id="9" name="syn-head-73"/>
          <p:cNvSpPr txBox="1"/>
          <p:nvPr/>
        </p:nvSpPr>
        <p:spPr>
          <a:xfrm>
            <a:off x="548640" y="3886200"/>
            <a:ext cx="5449824" cy="365760"/>
          </a:xfrm>
          <a:prstGeom prst="rect">
            <a:avLst/>
          </a:prstGeom>
          <a:noFill/>
          <a:ln/>
        </p:spPr>
        <p:txBody>
          <a:bodyPr wrap="square" lIns="0" tIns="0" rIns="0" bIns="0" rtlCol="0" anchor="ctr"/>
          <a:lstStyle/>
          <a:p>
            <a:pPr indent="0" marL="0">
              <a:buNone/>
            </a:pPr>
            <a:r>
              <a:rPr lang="en-US" sz="1700" b="1" dirty="0">
                <a:solidFill>
                  <a:schemeClr val="tx1"/>
                </a:solidFill>
              </a:rPr>
              <a:t>Nullish coalescing ?? vs ||</a:t>
            </a:r>
            <a:endParaRPr lang="en-US" sz="1700" dirty="0"/>
          </a:p>
        </p:txBody>
      </p:sp>
      <p:sp>
        <p:nvSpPr>
          <p:cNvPr id="10" name="code-panel-74"/>
          <p:cNvSpPr/>
          <p:nvPr/>
        </p:nvSpPr>
        <p:spPr>
          <a:xfrm>
            <a:off x="548640" y="4297680"/>
            <a:ext cx="5449824" cy="1874520"/>
          </a:xfrm>
          <a:prstGeom prst="roundRect">
            <a:avLst>
              <a:gd name="adj" fmla="val 3902"/>
            </a:avLst>
          </a:prstGeom>
          <a:solidFill>
            <a:schemeClr val="tx2"/>
          </a:solidFill>
          <a:ln w="12700">
            <a:solidFill>
              <a:schemeClr val="tx2"/>
            </a:solidFill>
            <a:prstDash val="solid"/>
          </a:ln>
        </p:spPr>
      </p:sp>
      <p:sp>
        <p:nvSpPr>
          <p:cNvPr id="11" name="code-75"/>
          <p:cNvSpPr txBox="1"/>
          <p:nvPr/>
        </p:nvSpPr>
        <p:spPr>
          <a:xfrm>
            <a:off x="777240" y="4462272"/>
            <a:ext cx="4992624" cy="1600200"/>
          </a:xfrm>
          <a:prstGeom prst="rect">
            <a:avLst/>
          </a:prstGeom>
          <a:noFill/>
          <a:ln/>
        </p:spPr>
        <p:txBody>
          <a:bodyPr wrap="square" lIns="0" tIns="0" rIns="0" bIns="0" rtlCol="0" anchor="t"/>
          <a:lstStyle/>
          <a:p>
            <a:pPr indent="0" marL="0">
              <a:buNone/>
            </a:pPr>
            <a:r>
              <a:rPr lang="en-US" sz="1700" dirty="0">
                <a:solidFill>
                  <a:srgbClr val="C792EA"/>
                </a:solidFill>
                <a:latin typeface="Courier New" pitchFamily="34" charset="0"/>
                <a:ea typeface="Courier New" pitchFamily="34" charset="-122"/>
                <a:cs typeface="Courier New" pitchFamily="34" charset="-120"/>
              </a:rPr>
              <a:t>const </a:t>
            </a:r>
            <a:pPr indent="0" marL="0">
              <a:buNone/>
            </a:pPr>
            <a:r>
              <a:rPr lang="en-US" sz="1700" dirty="0">
                <a:solidFill>
                  <a:srgbClr val="E5E7EB"/>
                </a:solidFill>
                <a:latin typeface="Courier New" pitchFamily="34" charset="0"/>
                <a:ea typeface="Courier New" pitchFamily="34" charset="-122"/>
                <a:cs typeface="Courier New" pitchFamily="34" charset="-120"/>
              </a:rPr>
              <a:t>page = </a:t>
            </a:r>
            <a:pPr indent="0" marL="0">
              <a:buNone/>
            </a:pPr>
            <a:r>
              <a:rPr lang="en-US" sz="1700" dirty="0">
                <a:solidFill>
                  <a:srgbClr val="F7B267"/>
                </a:solidFill>
                <a:latin typeface="Courier New" pitchFamily="34" charset="0"/>
                <a:ea typeface="Courier New" pitchFamily="34" charset="-122"/>
                <a:cs typeface="Courier New" pitchFamily="34" charset="-120"/>
              </a:rPr>
              <a:t>0</a:t>
            </a:r>
            <a:pPr indent="0" marL="0">
              <a:buNone/>
            </a:pPr>
            <a:r>
              <a:rPr lang="en-US" sz="1700" dirty="0">
                <a:solidFill>
                  <a:srgbClr val="E5E7EB"/>
                </a:solidFill>
                <a:latin typeface="Courier New" pitchFamily="34" charset="0"/>
                <a:ea typeface="Courier New" pitchFamily="34" charset="-122"/>
                <a:cs typeface="Courier New" pitchFamily="34" charset="-120"/>
              </a:rPr>
              <a:t>;</a:t>
            </a:r>
            <a:endParaRPr lang="en-US" sz="1700" dirty="0"/>
          </a:p>
          <a:p>
            <a:pPr indent="0" marL="0">
              <a:buNone/>
            </a:pPr>
            <a:r>
              <a:rPr lang="en-US" sz="1700" dirty="0">
                <a:solidFill>
                  <a:srgbClr val="E5E7EB"/>
                </a:solidFill>
                <a:latin typeface="Courier New" pitchFamily="34" charset="0"/>
                <a:ea typeface="Courier New" pitchFamily="34" charset="-122"/>
                <a:cs typeface="Courier New" pitchFamily="34" charset="-120"/>
              </a:rPr>
              <a:t>page || </a:t>
            </a:r>
            <a:pPr indent="0" marL="0">
              <a:buNone/>
            </a:pPr>
            <a:r>
              <a:rPr lang="en-US" sz="1700" dirty="0">
                <a:solidFill>
                  <a:srgbClr val="F7B267"/>
                </a:solidFill>
                <a:latin typeface="Courier New" pitchFamily="34" charset="0"/>
                <a:ea typeface="Courier New" pitchFamily="34" charset="-122"/>
                <a:cs typeface="Courier New" pitchFamily="34" charset="-120"/>
              </a:rPr>
              <a:t>1   </a:t>
            </a:r>
            <a:pPr indent="0" marL="0">
              <a:buNone/>
            </a:pPr>
            <a:r>
              <a:rPr lang="en-US" sz="1700" i="1" dirty="0">
                <a:solidFill>
                  <a:srgbClr val="8B949E"/>
                </a:solidFill>
                <a:latin typeface="Courier New" pitchFamily="34" charset="0"/>
                <a:ea typeface="Courier New" pitchFamily="34" charset="-122"/>
                <a:cs typeface="Courier New" pitchFamily="34" charset="-120"/>
              </a:rPr>
              <a:t>// 1  (0 is falsy!)</a:t>
            </a:r>
            <a:endParaRPr lang="en-US" sz="1700" dirty="0"/>
          </a:p>
          <a:p>
            <a:pPr indent="0" marL="0">
              <a:buNone/>
            </a:pPr>
            <a:r>
              <a:rPr lang="en-US" sz="1700" dirty="0">
                <a:solidFill>
                  <a:srgbClr val="E5E7EB"/>
                </a:solidFill>
                <a:latin typeface="Courier New" pitchFamily="34" charset="0"/>
                <a:ea typeface="Courier New" pitchFamily="34" charset="-122"/>
                <a:cs typeface="Courier New" pitchFamily="34" charset="-120"/>
              </a:rPr>
              <a:t>page ?? </a:t>
            </a:r>
            <a:pPr indent="0" marL="0">
              <a:buNone/>
            </a:pPr>
            <a:r>
              <a:rPr lang="en-US" sz="1700" dirty="0">
                <a:solidFill>
                  <a:srgbClr val="F7B267"/>
                </a:solidFill>
                <a:latin typeface="Courier New" pitchFamily="34" charset="0"/>
                <a:ea typeface="Courier New" pitchFamily="34" charset="-122"/>
                <a:cs typeface="Courier New" pitchFamily="34" charset="-120"/>
              </a:rPr>
              <a:t>1   </a:t>
            </a:r>
            <a:pPr indent="0" marL="0">
              <a:buNone/>
            </a:pPr>
            <a:r>
              <a:rPr lang="en-US" sz="1700" i="1" dirty="0">
                <a:solidFill>
                  <a:srgbClr val="8B949E"/>
                </a:solidFill>
                <a:latin typeface="Courier New" pitchFamily="34" charset="0"/>
                <a:ea typeface="Courier New" pitchFamily="34" charset="-122"/>
                <a:cs typeface="Courier New" pitchFamily="34" charset="-120"/>
              </a:rPr>
              <a:t>// 0  (null/undefined only)</a:t>
            </a:r>
            <a:endParaRPr lang="en-US" sz="1700" dirty="0"/>
          </a:p>
        </p:txBody>
      </p:sp>
      <p:sp>
        <p:nvSpPr>
          <p:cNvPr id="12" name="syn-head-76"/>
          <p:cNvSpPr txBox="1"/>
          <p:nvPr/>
        </p:nvSpPr>
        <p:spPr>
          <a:xfrm>
            <a:off x="6190488" y="3886200"/>
            <a:ext cx="5449824" cy="365760"/>
          </a:xfrm>
          <a:prstGeom prst="rect">
            <a:avLst/>
          </a:prstGeom>
          <a:noFill/>
          <a:ln/>
        </p:spPr>
        <p:txBody>
          <a:bodyPr wrap="square" lIns="0" tIns="0" rIns="0" bIns="0" rtlCol="0" anchor="ctr"/>
          <a:lstStyle/>
          <a:p>
            <a:pPr indent="0" marL="0">
              <a:buNone/>
            </a:pPr>
            <a:r>
              <a:rPr lang="en-US" sz="1700" b="1" dirty="0">
                <a:solidFill>
                  <a:schemeClr val="tx1"/>
                </a:solidFill>
              </a:rPr>
              <a:t>for…of vs for…in</a:t>
            </a:r>
            <a:endParaRPr lang="en-US" sz="1700" dirty="0"/>
          </a:p>
        </p:txBody>
      </p:sp>
      <p:sp>
        <p:nvSpPr>
          <p:cNvPr id="13" name="code-panel-77"/>
          <p:cNvSpPr/>
          <p:nvPr/>
        </p:nvSpPr>
        <p:spPr>
          <a:xfrm>
            <a:off x="6190488" y="4297680"/>
            <a:ext cx="5449824" cy="1874520"/>
          </a:xfrm>
          <a:prstGeom prst="roundRect">
            <a:avLst>
              <a:gd name="adj" fmla="val 3902"/>
            </a:avLst>
          </a:prstGeom>
          <a:solidFill>
            <a:schemeClr val="tx2"/>
          </a:solidFill>
          <a:ln w="12700">
            <a:solidFill>
              <a:schemeClr val="tx2"/>
            </a:solidFill>
            <a:prstDash val="solid"/>
          </a:ln>
        </p:spPr>
      </p:sp>
      <p:sp>
        <p:nvSpPr>
          <p:cNvPr id="14" name="code-78"/>
          <p:cNvSpPr txBox="1"/>
          <p:nvPr/>
        </p:nvSpPr>
        <p:spPr>
          <a:xfrm>
            <a:off x="6419088" y="4462272"/>
            <a:ext cx="4992624" cy="1600200"/>
          </a:xfrm>
          <a:prstGeom prst="rect">
            <a:avLst/>
          </a:prstGeom>
          <a:noFill/>
          <a:ln/>
        </p:spPr>
        <p:txBody>
          <a:bodyPr wrap="square" lIns="0" tIns="0" rIns="0" bIns="0" rtlCol="0" anchor="t"/>
          <a:lstStyle/>
          <a:p>
            <a:pPr indent="0" marL="0">
              <a:buNone/>
            </a:pPr>
            <a:r>
              <a:rPr lang="en-US" sz="1700" dirty="0">
                <a:solidFill>
                  <a:srgbClr val="C792EA"/>
                </a:solidFill>
                <a:latin typeface="Courier New" pitchFamily="34" charset="0"/>
                <a:ea typeface="Courier New" pitchFamily="34" charset="-122"/>
                <a:cs typeface="Courier New" pitchFamily="34" charset="-120"/>
              </a:rPr>
              <a:t>for </a:t>
            </a:r>
            <a:pPr indent="0" marL="0">
              <a:buNone/>
            </a:pPr>
            <a:r>
              <a:rPr lang="en-US" sz="1700" dirty="0">
                <a:solidFill>
                  <a:srgbClr val="E5E7EB"/>
                </a:solidFill>
                <a:latin typeface="Courier New" pitchFamily="34" charset="0"/>
                <a:ea typeface="Courier New" pitchFamily="34" charset="-122"/>
                <a:cs typeface="Courier New" pitchFamily="34" charset="-120"/>
              </a:rPr>
              <a:t>(</a:t>
            </a:r>
            <a:pPr indent="0" marL="0">
              <a:buNone/>
            </a:pPr>
            <a:r>
              <a:rPr lang="en-US" sz="1700" dirty="0">
                <a:solidFill>
                  <a:srgbClr val="C792EA"/>
                </a:solidFill>
                <a:latin typeface="Courier New" pitchFamily="34" charset="0"/>
                <a:ea typeface="Courier New" pitchFamily="34" charset="-122"/>
                <a:cs typeface="Courier New" pitchFamily="34" charset="-120"/>
              </a:rPr>
              <a:t>const </a:t>
            </a:r>
            <a:pPr indent="0" marL="0">
              <a:buNone/>
            </a:pPr>
            <a:r>
              <a:rPr lang="en-US" sz="1700" dirty="0">
                <a:solidFill>
                  <a:srgbClr val="E5E7EB"/>
                </a:solidFill>
                <a:latin typeface="Courier New" pitchFamily="34" charset="0"/>
                <a:ea typeface="Courier New" pitchFamily="34" charset="-122"/>
                <a:cs typeface="Courier New" pitchFamily="34" charset="-120"/>
              </a:rPr>
              <a:t>v </a:t>
            </a:r>
            <a:pPr indent="0" marL="0">
              <a:buNone/>
            </a:pPr>
            <a:r>
              <a:rPr lang="en-US" sz="1700" dirty="0">
                <a:solidFill>
                  <a:srgbClr val="C792EA"/>
                </a:solidFill>
                <a:latin typeface="Courier New" pitchFamily="34" charset="0"/>
                <a:ea typeface="Courier New" pitchFamily="34" charset="-122"/>
                <a:cs typeface="Courier New" pitchFamily="34" charset="-120"/>
              </a:rPr>
              <a:t>of </a:t>
            </a:r>
            <a:pPr indent="0" marL="0">
              <a:buNone/>
            </a:pPr>
            <a:r>
              <a:rPr lang="en-US" sz="1700" dirty="0">
                <a:solidFill>
                  <a:srgbClr val="E5E7EB"/>
                </a:solidFill>
                <a:latin typeface="Courier New" pitchFamily="34" charset="0"/>
                <a:ea typeface="Courier New" pitchFamily="34" charset="-122"/>
                <a:cs typeface="Courier New" pitchFamily="34" charset="-120"/>
              </a:rPr>
              <a:t>[</a:t>
            </a:r>
            <a:pPr indent="0" marL="0">
              <a:buNone/>
            </a:pPr>
            <a:r>
              <a:rPr lang="en-US" sz="1700" dirty="0">
                <a:solidFill>
                  <a:srgbClr val="F7B267"/>
                </a:solidFill>
                <a:latin typeface="Courier New" pitchFamily="34" charset="0"/>
                <a:ea typeface="Courier New" pitchFamily="34" charset="-122"/>
                <a:cs typeface="Courier New" pitchFamily="34" charset="-120"/>
              </a:rPr>
              <a:t>10</a:t>
            </a:r>
            <a:pPr indent="0" marL="0">
              <a:buNone/>
            </a:pPr>
            <a:r>
              <a:rPr lang="en-US" sz="1700" dirty="0">
                <a:solidFill>
                  <a:srgbClr val="E5E7EB"/>
                </a:solidFill>
                <a:latin typeface="Courier New" pitchFamily="34" charset="0"/>
                <a:ea typeface="Courier New" pitchFamily="34" charset="-122"/>
                <a:cs typeface="Courier New" pitchFamily="34" charset="-120"/>
              </a:rPr>
              <a:t>, </a:t>
            </a:r>
            <a:pPr indent="0" marL="0">
              <a:buNone/>
            </a:pPr>
            <a:r>
              <a:rPr lang="en-US" sz="1700" dirty="0">
                <a:solidFill>
                  <a:srgbClr val="F7B267"/>
                </a:solidFill>
                <a:latin typeface="Courier New" pitchFamily="34" charset="0"/>
                <a:ea typeface="Courier New" pitchFamily="34" charset="-122"/>
                <a:cs typeface="Courier New" pitchFamily="34" charset="-120"/>
              </a:rPr>
              <a:t>20</a:t>
            </a:r>
            <a:pPr indent="0" marL="0">
              <a:buNone/>
            </a:pPr>
            <a:r>
              <a:rPr lang="en-US" sz="1700" dirty="0">
                <a:solidFill>
                  <a:srgbClr val="E5E7EB"/>
                </a:solidFill>
                <a:latin typeface="Courier New" pitchFamily="34" charset="0"/>
                <a:ea typeface="Courier New" pitchFamily="34" charset="-122"/>
                <a:cs typeface="Courier New" pitchFamily="34" charset="-120"/>
              </a:rPr>
              <a:t>]) {}  </a:t>
            </a:r>
            <a:pPr indent="0" marL="0">
              <a:buNone/>
            </a:pPr>
            <a:r>
              <a:rPr lang="en-US" sz="1700" i="1" dirty="0">
                <a:solidFill>
                  <a:srgbClr val="8B949E"/>
                </a:solidFill>
                <a:latin typeface="Courier New" pitchFamily="34" charset="0"/>
                <a:ea typeface="Courier New" pitchFamily="34" charset="-122"/>
                <a:cs typeface="Courier New" pitchFamily="34" charset="-120"/>
              </a:rPr>
              <a:t>// values</a:t>
            </a:r>
            <a:endParaRPr lang="en-US" sz="1700" dirty="0"/>
          </a:p>
          <a:p>
            <a:pPr indent="0" marL="0">
              <a:buNone/>
            </a:pPr>
            <a:r>
              <a:rPr lang="en-US" sz="1700" dirty="0">
                <a:solidFill>
                  <a:srgbClr val="C792EA"/>
                </a:solidFill>
                <a:latin typeface="Courier New" pitchFamily="34" charset="0"/>
                <a:ea typeface="Courier New" pitchFamily="34" charset="-122"/>
                <a:cs typeface="Courier New" pitchFamily="34" charset="-120"/>
              </a:rPr>
              <a:t>for </a:t>
            </a:r>
            <a:pPr indent="0" marL="0">
              <a:buNone/>
            </a:pPr>
            <a:r>
              <a:rPr lang="en-US" sz="1700" dirty="0">
                <a:solidFill>
                  <a:srgbClr val="E5E7EB"/>
                </a:solidFill>
                <a:latin typeface="Courier New" pitchFamily="34" charset="0"/>
                <a:ea typeface="Courier New" pitchFamily="34" charset="-122"/>
                <a:cs typeface="Courier New" pitchFamily="34" charset="-120"/>
              </a:rPr>
              <a:t>(</a:t>
            </a:r>
            <a:pPr indent="0" marL="0">
              <a:buNone/>
            </a:pPr>
            <a:r>
              <a:rPr lang="en-US" sz="1700" dirty="0">
                <a:solidFill>
                  <a:srgbClr val="C792EA"/>
                </a:solidFill>
                <a:latin typeface="Courier New" pitchFamily="34" charset="0"/>
                <a:ea typeface="Courier New" pitchFamily="34" charset="-122"/>
                <a:cs typeface="Courier New" pitchFamily="34" charset="-120"/>
              </a:rPr>
              <a:t>const </a:t>
            </a:r>
            <a:pPr indent="0" marL="0">
              <a:buNone/>
            </a:pPr>
            <a:r>
              <a:rPr lang="en-US" sz="1700" dirty="0">
                <a:solidFill>
                  <a:srgbClr val="E5E7EB"/>
                </a:solidFill>
                <a:latin typeface="Courier New" pitchFamily="34" charset="0"/>
                <a:ea typeface="Courier New" pitchFamily="34" charset="-122"/>
                <a:cs typeface="Courier New" pitchFamily="34" charset="-120"/>
              </a:rPr>
              <a:t>k </a:t>
            </a:r>
            <a:pPr indent="0" marL="0">
              <a:buNone/>
            </a:pPr>
            <a:r>
              <a:rPr lang="en-US" sz="1700" dirty="0">
                <a:solidFill>
                  <a:srgbClr val="C792EA"/>
                </a:solidFill>
                <a:latin typeface="Courier New" pitchFamily="34" charset="0"/>
                <a:ea typeface="Courier New" pitchFamily="34" charset="-122"/>
                <a:cs typeface="Courier New" pitchFamily="34" charset="-120"/>
              </a:rPr>
              <a:t>in </a:t>
            </a:r>
            <a:pPr indent="0" marL="0">
              <a:buNone/>
            </a:pPr>
            <a:r>
              <a:rPr lang="en-US" sz="1700" dirty="0">
                <a:solidFill>
                  <a:srgbClr val="E5E7EB"/>
                </a:solidFill>
                <a:latin typeface="Courier New" pitchFamily="34" charset="0"/>
                <a:ea typeface="Courier New" pitchFamily="34" charset="-122"/>
                <a:cs typeface="Courier New" pitchFamily="34" charset="-120"/>
              </a:rPr>
              <a:t>{ a: </a:t>
            </a:r>
            <a:pPr indent="0" marL="0">
              <a:buNone/>
            </a:pPr>
            <a:r>
              <a:rPr lang="en-US" sz="1700" dirty="0">
                <a:solidFill>
                  <a:srgbClr val="F7B267"/>
                </a:solidFill>
                <a:latin typeface="Courier New" pitchFamily="34" charset="0"/>
                <a:ea typeface="Courier New" pitchFamily="34" charset="-122"/>
                <a:cs typeface="Courier New" pitchFamily="34" charset="-120"/>
              </a:rPr>
              <a:t>1 </a:t>
            </a:r>
            <a:pPr indent="0" marL="0">
              <a:buNone/>
            </a:pPr>
            <a:r>
              <a:rPr lang="en-US" sz="1700" dirty="0">
                <a:solidFill>
                  <a:srgbClr val="E5E7EB"/>
                </a:solidFill>
                <a:latin typeface="Courier New" pitchFamily="34" charset="0"/>
                <a:ea typeface="Courier New" pitchFamily="34" charset="-122"/>
                <a:cs typeface="Courier New" pitchFamily="34" charset="-120"/>
              </a:rPr>
              <a:t>}) {}  </a:t>
            </a:r>
            <a:pPr indent="0" marL="0">
              <a:buNone/>
            </a:pPr>
            <a:r>
              <a:rPr lang="en-US" sz="1700" i="1" dirty="0">
                <a:solidFill>
                  <a:srgbClr val="8B949E"/>
                </a:solidFill>
                <a:latin typeface="Courier New" pitchFamily="34" charset="0"/>
                <a:ea typeface="Courier New" pitchFamily="34" charset="-122"/>
                <a:cs typeface="Courier New" pitchFamily="34" charset="-120"/>
              </a:rPr>
              <a:t>// keys</a:t>
            </a:r>
            <a:endParaRPr lang="en-US" sz="1700" dirty="0"/>
          </a:p>
          <a:p>
            <a:pPr indent="0" marL="0">
              <a:buNone/>
            </a:pPr>
            <a:r>
              <a:rPr lang="en-US" sz="1700" i="1" dirty="0">
                <a:solidFill>
                  <a:srgbClr val="8B949E"/>
                </a:solidFill>
                <a:latin typeface="Courier New" pitchFamily="34" charset="0"/>
                <a:ea typeface="Courier New" pitchFamily="34" charset="-122"/>
                <a:cs typeface="Courier New" pitchFamily="34" charset="-120"/>
              </a:rPr>
              <a:t>// arrays: prefer for…of or .map()</a:t>
            </a:r>
            <a:endParaRPr lang="en-US" sz="17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Activity 1: Predict the output</a:t>
            </a:r>
            <a:endParaRPr lang="en-US" sz="3200" dirty="0"/>
          </a:p>
        </p:txBody>
      </p:sp>
      <p:sp>
        <p:nvSpPr>
          <p:cNvPr id="3" name="badge-79"/>
          <p:cNvSpPr txBox="1"/>
          <p:nvPr/>
        </p:nvSpPr>
        <p:spPr>
          <a:xfrm>
            <a:off x="548640" y="1261872"/>
            <a:ext cx="3840480" cy="384048"/>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300" b="1" spc="100" kern="0" dirty="0">
                <a:solidFill>
                  <a:srgbClr val="FFFFFF"/>
                </a:solidFill>
              </a:rPr>
              <a:t>ACTIVITY 1  ·  AI LEVEL: CLOSED</a:t>
            </a:r>
            <a:endParaRPr lang="en-US" sz="1300" dirty="0"/>
          </a:p>
        </p:txBody>
      </p:sp>
      <p:sp>
        <p:nvSpPr>
          <p:cNvPr id="4" name="act1-instr"/>
          <p:cNvSpPr txBox="1"/>
          <p:nvPr/>
        </p:nvSpPr>
        <p:spPr>
          <a:xfrm>
            <a:off x="4617720" y="1207008"/>
            <a:ext cx="7022592" cy="548640"/>
          </a:xfrm>
          <a:prstGeom prst="rect">
            <a:avLst/>
          </a:prstGeom>
          <a:noFill/>
          <a:ln/>
        </p:spPr>
        <p:txBody>
          <a:bodyPr wrap="square" lIns="0" tIns="0" rIns="0" bIns="0" rtlCol="0" anchor="ctr"/>
          <a:lstStyle/>
          <a:p>
            <a:pPr indent="0" marL="0">
              <a:buNone/>
            </a:pPr>
            <a:r>
              <a:rPr lang="en-US" sz="1500" dirty="0">
                <a:solidFill>
                  <a:srgbClr val="374151"/>
                </a:solidFill>
              </a:rPr>
              <a:t>Work alone, no laptop, 5 minutes. Write your answer for each line, then compare with your neighbour. Disagree? Explain why before checking.</a:t>
            </a:r>
            <a:endParaRPr lang="en-US" sz="1500" dirty="0"/>
          </a:p>
        </p:txBody>
      </p:sp>
      <p:sp>
        <p:nvSpPr>
          <p:cNvPr id="5" name="dot-80"/>
          <p:cNvSpPr txBox="1"/>
          <p:nvPr/>
        </p:nvSpPr>
        <p:spPr>
          <a:xfrm>
            <a:off x="548640" y="214884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rgbClr val="1B1B1F"/>
                </a:solidFill>
              </a:rPr>
              <a:t>1</a:t>
            </a:r>
            <a:endParaRPr lang="en-US" sz="1500" dirty="0"/>
          </a:p>
        </p:txBody>
      </p:sp>
      <p:sp>
        <p:nvSpPr>
          <p:cNvPr id="6" name="code-panel-81"/>
          <p:cNvSpPr/>
          <p:nvPr/>
        </p:nvSpPr>
        <p:spPr>
          <a:xfrm>
            <a:off x="1143000" y="1965960"/>
            <a:ext cx="4855464" cy="822960"/>
          </a:xfrm>
          <a:prstGeom prst="roundRect">
            <a:avLst>
              <a:gd name="adj" fmla="val 8889"/>
            </a:avLst>
          </a:prstGeom>
          <a:solidFill>
            <a:schemeClr val="tx2"/>
          </a:solidFill>
          <a:ln w="12700">
            <a:solidFill>
              <a:schemeClr val="tx2"/>
            </a:solidFill>
            <a:prstDash val="solid"/>
          </a:ln>
        </p:spPr>
      </p:sp>
      <p:sp>
        <p:nvSpPr>
          <p:cNvPr id="7" name="code-82"/>
          <p:cNvSpPr txBox="1"/>
          <p:nvPr/>
        </p:nvSpPr>
        <p:spPr>
          <a:xfrm>
            <a:off x="1371600" y="2130552"/>
            <a:ext cx="4398264" cy="548640"/>
          </a:xfrm>
          <a:prstGeom prst="rect">
            <a:avLst/>
          </a:prstGeom>
          <a:noFill/>
          <a:ln/>
        </p:spPr>
        <p:txBody>
          <a:bodyPr wrap="square" lIns="0" tIns="0" rIns="0" bIns="0" rtlCol="0" anchor="t"/>
          <a:lstStyle/>
          <a:p>
            <a:pPr indent="0" marL="0">
              <a:buNone/>
            </a:pPr>
            <a:r>
              <a:rPr lang="en-US" sz="1400" dirty="0">
                <a:solidFill>
                  <a:srgbClr val="79B8FF"/>
                </a:solidFill>
                <a:latin typeface="Courier New" pitchFamily="34" charset="0"/>
                <a:ea typeface="Courier New" pitchFamily="34" charset="-122"/>
                <a:cs typeface="Courier New" pitchFamily="34" charset="-120"/>
              </a:rPr>
              <a:t>console</a:t>
            </a:r>
            <a:pPr indent="0" marL="0">
              <a:buNone/>
            </a:pPr>
            <a:r>
              <a:rPr lang="en-US" sz="1400" dirty="0">
                <a:solidFill>
                  <a:srgbClr val="E5E7EB"/>
                </a:solidFill>
                <a:latin typeface="Courier New" pitchFamily="34" charset="0"/>
                <a:ea typeface="Courier New" pitchFamily="34" charset="-122"/>
                <a:cs typeface="Courier New" pitchFamily="34" charset="-120"/>
              </a:rPr>
              <a:t>.log([] + []);</a:t>
            </a:r>
            <a:endParaRPr lang="en-US" sz="1400" dirty="0"/>
          </a:p>
        </p:txBody>
      </p:sp>
      <p:sp>
        <p:nvSpPr>
          <p:cNvPr id="8" name="dot-83"/>
          <p:cNvSpPr txBox="1"/>
          <p:nvPr/>
        </p:nvSpPr>
        <p:spPr>
          <a:xfrm>
            <a:off x="548640" y="315468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rgbClr val="1B1B1F"/>
                </a:solidFill>
              </a:rPr>
              <a:t>2</a:t>
            </a:r>
            <a:endParaRPr lang="en-US" sz="1500" dirty="0"/>
          </a:p>
        </p:txBody>
      </p:sp>
      <p:sp>
        <p:nvSpPr>
          <p:cNvPr id="9" name="code-panel-84"/>
          <p:cNvSpPr/>
          <p:nvPr/>
        </p:nvSpPr>
        <p:spPr>
          <a:xfrm>
            <a:off x="1143000" y="2971800"/>
            <a:ext cx="4855464" cy="822960"/>
          </a:xfrm>
          <a:prstGeom prst="roundRect">
            <a:avLst>
              <a:gd name="adj" fmla="val 8889"/>
            </a:avLst>
          </a:prstGeom>
          <a:solidFill>
            <a:schemeClr val="tx2"/>
          </a:solidFill>
          <a:ln w="12700">
            <a:solidFill>
              <a:schemeClr val="tx2"/>
            </a:solidFill>
            <a:prstDash val="solid"/>
          </a:ln>
        </p:spPr>
      </p:sp>
      <p:sp>
        <p:nvSpPr>
          <p:cNvPr id="10" name="code-85"/>
          <p:cNvSpPr txBox="1"/>
          <p:nvPr/>
        </p:nvSpPr>
        <p:spPr>
          <a:xfrm>
            <a:off x="1371600" y="3136392"/>
            <a:ext cx="4398264" cy="548640"/>
          </a:xfrm>
          <a:prstGeom prst="rect">
            <a:avLst/>
          </a:prstGeom>
          <a:noFill/>
          <a:ln/>
        </p:spPr>
        <p:txBody>
          <a:bodyPr wrap="square" lIns="0" tIns="0" rIns="0" bIns="0" rtlCol="0" anchor="t"/>
          <a:lstStyle/>
          <a:p>
            <a:pPr indent="0" marL="0">
              <a:buNone/>
            </a:pPr>
            <a:r>
              <a:rPr lang="en-US" sz="1400" dirty="0">
                <a:solidFill>
                  <a:srgbClr val="79B8FF"/>
                </a:solidFill>
                <a:latin typeface="Courier New" pitchFamily="34" charset="0"/>
                <a:ea typeface="Courier New" pitchFamily="34" charset="-122"/>
                <a:cs typeface="Courier New" pitchFamily="34" charset="-120"/>
              </a:rPr>
              <a:t>console</a:t>
            </a:r>
            <a:pPr indent="0" marL="0">
              <a:buNone/>
            </a:pPr>
            <a:r>
              <a:rPr lang="en-US" sz="1400" dirty="0">
                <a:solidFill>
                  <a:srgbClr val="E5E7EB"/>
                </a:solidFill>
                <a:latin typeface="Courier New" pitchFamily="34" charset="0"/>
                <a:ea typeface="Courier New" pitchFamily="34" charset="-122"/>
                <a:cs typeface="Courier New" pitchFamily="34" charset="-120"/>
              </a:rPr>
              <a:t>.log(</a:t>
            </a:r>
            <a:pPr indent="0" marL="0">
              <a:buNone/>
            </a:pPr>
            <a:r>
              <a:rPr lang="en-US" sz="1400" dirty="0">
                <a:solidFill>
                  <a:srgbClr val="C792EA"/>
                </a:solidFill>
                <a:latin typeface="Courier New" pitchFamily="34" charset="0"/>
                <a:ea typeface="Courier New" pitchFamily="34" charset="-122"/>
                <a:cs typeface="Courier New" pitchFamily="34" charset="-120"/>
              </a:rPr>
              <a:t>typeof </a:t>
            </a:r>
            <a:pPr indent="0" marL="0">
              <a:buNone/>
            </a:pPr>
            <a:r>
              <a:rPr lang="en-US" sz="1400" dirty="0">
                <a:solidFill>
                  <a:srgbClr val="F7B267"/>
                </a:solidFill>
                <a:latin typeface="Courier New" pitchFamily="34" charset="0"/>
                <a:ea typeface="Courier New" pitchFamily="34" charset="-122"/>
                <a:cs typeface="Courier New" pitchFamily="34" charset="-120"/>
              </a:rPr>
              <a:t>NaN</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p:txBody>
      </p:sp>
      <p:sp>
        <p:nvSpPr>
          <p:cNvPr id="11" name="dot-86"/>
          <p:cNvSpPr txBox="1"/>
          <p:nvPr/>
        </p:nvSpPr>
        <p:spPr>
          <a:xfrm>
            <a:off x="548640" y="416052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rgbClr val="1B1B1F"/>
                </a:solidFill>
              </a:rPr>
              <a:t>3</a:t>
            </a:r>
            <a:endParaRPr lang="en-US" sz="1500" dirty="0"/>
          </a:p>
        </p:txBody>
      </p:sp>
      <p:sp>
        <p:nvSpPr>
          <p:cNvPr id="12" name="code-panel-87"/>
          <p:cNvSpPr/>
          <p:nvPr/>
        </p:nvSpPr>
        <p:spPr>
          <a:xfrm>
            <a:off x="1143000" y="3977640"/>
            <a:ext cx="4855464" cy="822960"/>
          </a:xfrm>
          <a:prstGeom prst="roundRect">
            <a:avLst>
              <a:gd name="adj" fmla="val 8889"/>
            </a:avLst>
          </a:prstGeom>
          <a:solidFill>
            <a:schemeClr val="tx2"/>
          </a:solidFill>
          <a:ln w="12700">
            <a:solidFill>
              <a:schemeClr val="tx2"/>
            </a:solidFill>
            <a:prstDash val="solid"/>
          </a:ln>
        </p:spPr>
      </p:sp>
      <p:sp>
        <p:nvSpPr>
          <p:cNvPr id="13" name="code-88"/>
          <p:cNvSpPr txBox="1"/>
          <p:nvPr/>
        </p:nvSpPr>
        <p:spPr>
          <a:xfrm>
            <a:off x="1371600" y="4142232"/>
            <a:ext cx="4398264" cy="548640"/>
          </a:xfrm>
          <a:prstGeom prst="rect">
            <a:avLst/>
          </a:prstGeom>
          <a:noFill/>
          <a:ln/>
        </p:spPr>
        <p:txBody>
          <a:bodyPr wrap="square" lIns="0" tIns="0" rIns="0" bIns="0" rtlCol="0" anchor="t"/>
          <a:lstStyle/>
          <a:p>
            <a:pPr indent="0" marL="0">
              <a:buNone/>
            </a:pPr>
            <a:r>
              <a:rPr lang="en-US" sz="1400" dirty="0">
                <a:solidFill>
                  <a:srgbClr val="79B8FF"/>
                </a:solidFill>
                <a:latin typeface="Courier New" pitchFamily="34" charset="0"/>
                <a:ea typeface="Courier New" pitchFamily="34" charset="-122"/>
                <a:cs typeface="Courier New" pitchFamily="34" charset="-120"/>
              </a:rPr>
              <a:t>console</a:t>
            </a:r>
            <a:pPr indent="0" marL="0">
              <a:buNone/>
            </a:pPr>
            <a:r>
              <a:rPr lang="en-US" sz="1400" dirty="0">
                <a:solidFill>
                  <a:srgbClr val="E5E7EB"/>
                </a:solidFill>
                <a:latin typeface="Courier New" pitchFamily="34" charset="0"/>
                <a:ea typeface="Courier New" pitchFamily="34" charset="-122"/>
                <a:cs typeface="Courier New" pitchFamily="34" charset="-120"/>
              </a:rPr>
              <a:t>.log(</a:t>
            </a:r>
            <a:pPr indent="0" marL="0">
              <a:buNone/>
            </a:pPr>
            <a:r>
              <a:rPr lang="en-US" sz="1400" dirty="0">
                <a:solidFill>
                  <a:srgbClr val="A5D6A7"/>
                </a:solidFill>
                <a:latin typeface="Courier New" pitchFamily="34" charset="0"/>
                <a:ea typeface="Courier New" pitchFamily="34" charset="-122"/>
                <a:cs typeface="Courier New" pitchFamily="34" charset="-120"/>
              </a:rPr>
              <a:t>"3" </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A5D6A7"/>
                </a:solidFill>
                <a:latin typeface="Courier New" pitchFamily="34" charset="0"/>
                <a:ea typeface="Courier New" pitchFamily="34" charset="-122"/>
                <a:cs typeface="Courier New" pitchFamily="34" charset="-120"/>
              </a:rPr>
              <a:t>"4"</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p:txBody>
      </p:sp>
      <p:sp>
        <p:nvSpPr>
          <p:cNvPr id="14" name="dot-89"/>
          <p:cNvSpPr txBox="1"/>
          <p:nvPr/>
        </p:nvSpPr>
        <p:spPr>
          <a:xfrm>
            <a:off x="6190488" y="214884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rgbClr val="1B1B1F"/>
                </a:solidFill>
              </a:rPr>
              <a:t>4</a:t>
            </a:r>
            <a:endParaRPr lang="en-US" sz="1500" dirty="0"/>
          </a:p>
        </p:txBody>
      </p:sp>
      <p:sp>
        <p:nvSpPr>
          <p:cNvPr id="15" name="code-panel-90"/>
          <p:cNvSpPr/>
          <p:nvPr/>
        </p:nvSpPr>
        <p:spPr>
          <a:xfrm>
            <a:off x="6784848" y="1965960"/>
            <a:ext cx="4855464" cy="822960"/>
          </a:xfrm>
          <a:prstGeom prst="roundRect">
            <a:avLst>
              <a:gd name="adj" fmla="val 8889"/>
            </a:avLst>
          </a:prstGeom>
          <a:solidFill>
            <a:schemeClr val="tx2"/>
          </a:solidFill>
          <a:ln w="12700">
            <a:solidFill>
              <a:schemeClr val="tx2"/>
            </a:solidFill>
            <a:prstDash val="solid"/>
          </a:ln>
        </p:spPr>
      </p:sp>
      <p:sp>
        <p:nvSpPr>
          <p:cNvPr id="16" name="code-91"/>
          <p:cNvSpPr txBox="1"/>
          <p:nvPr/>
        </p:nvSpPr>
        <p:spPr>
          <a:xfrm>
            <a:off x="7013448" y="2130552"/>
            <a:ext cx="4398264" cy="548640"/>
          </a:xfrm>
          <a:prstGeom prst="rect">
            <a:avLst/>
          </a:prstGeom>
          <a:noFill/>
          <a:ln/>
        </p:spPr>
        <p:txBody>
          <a:bodyPr wrap="square" lIns="0" tIns="0" rIns="0" bIns="0" rtlCol="0" anchor="t"/>
          <a:lstStyle/>
          <a:p>
            <a:pPr indent="0" marL="0">
              <a:buNone/>
            </a:pPr>
            <a:r>
              <a:rPr lang="en-US" sz="1400" dirty="0">
                <a:solidFill>
                  <a:srgbClr val="79B8FF"/>
                </a:solidFill>
                <a:latin typeface="Courier New" pitchFamily="34" charset="0"/>
                <a:ea typeface="Courier New" pitchFamily="34" charset="-122"/>
                <a:cs typeface="Courier New" pitchFamily="34" charset="-120"/>
              </a:rPr>
              <a:t>console</a:t>
            </a:r>
            <a:pPr indent="0" marL="0">
              <a:buNone/>
            </a:pPr>
            <a:r>
              <a:rPr lang="en-US" sz="1400" dirty="0">
                <a:solidFill>
                  <a:srgbClr val="E5E7EB"/>
                </a:solidFill>
                <a:latin typeface="Courier New" pitchFamily="34" charset="0"/>
                <a:ea typeface="Courier New" pitchFamily="34" charset="-122"/>
                <a:cs typeface="Courier New" pitchFamily="34" charset="-120"/>
              </a:rPr>
              <a:t>.log(</a:t>
            </a:r>
            <a:pPr indent="0" marL="0">
              <a:buNone/>
            </a:pPr>
            <a:r>
              <a:rPr lang="en-US" sz="1400" dirty="0">
                <a:solidFill>
                  <a:srgbClr val="F7B267"/>
                </a:solidFill>
                <a:latin typeface="Courier New" pitchFamily="34" charset="0"/>
                <a:ea typeface="Courier New" pitchFamily="34" charset="-122"/>
                <a:cs typeface="Courier New" pitchFamily="34" charset="-120"/>
              </a:rPr>
              <a:t>null </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A5D6A7"/>
                </a:solidFill>
                <a:latin typeface="Courier New" pitchFamily="34" charset="0"/>
                <a:ea typeface="Courier New" pitchFamily="34" charset="-122"/>
                <a:cs typeface="Courier New" pitchFamily="34" charset="-120"/>
              </a:rPr>
              <a:t>"x"</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F7B267"/>
                </a:solidFill>
                <a:latin typeface="Courier New" pitchFamily="34" charset="0"/>
                <a:ea typeface="Courier New" pitchFamily="34" charset="-122"/>
                <a:cs typeface="Courier New" pitchFamily="34" charset="-120"/>
              </a:rPr>
              <a:t>0 </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A5D6A7"/>
                </a:solidFill>
                <a:latin typeface="Courier New" pitchFamily="34" charset="0"/>
                <a:ea typeface="Courier New" pitchFamily="34" charset="-122"/>
                <a:cs typeface="Courier New" pitchFamily="34" charset="-120"/>
              </a:rPr>
              <a:t>"y"</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p:txBody>
      </p:sp>
      <p:sp>
        <p:nvSpPr>
          <p:cNvPr id="17" name="dot-92"/>
          <p:cNvSpPr txBox="1"/>
          <p:nvPr/>
        </p:nvSpPr>
        <p:spPr>
          <a:xfrm>
            <a:off x="6190488" y="315468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rgbClr val="1B1B1F"/>
                </a:solidFill>
              </a:rPr>
              <a:t>5</a:t>
            </a:r>
            <a:endParaRPr lang="en-US" sz="1500" dirty="0"/>
          </a:p>
        </p:txBody>
      </p:sp>
      <p:sp>
        <p:nvSpPr>
          <p:cNvPr id="18" name="code-panel-93"/>
          <p:cNvSpPr/>
          <p:nvPr/>
        </p:nvSpPr>
        <p:spPr>
          <a:xfrm>
            <a:off x="6784848" y="2971800"/>
            <a:ext cx="4855464" cy="1783080"/>
          </a:xfrm>
          <a:prstGeom prst="roundRect">
            <a:avLst>
              <a:gd name="adj" fmla="val 4103"/>
            </a:avLst>
          </a:prstGeom>
          <a:solidFill>
            <a:schemeClr val="tx2"/>
          </a:solidFill>
          <a:ln w="12700">
            <a:solidFill>
              <a:schemeClr val="tx2"/>
            </a:solidFill>
            <a:prstDash val="solid"/>
          </a:ln>
        </p:spPr>
      </p:sp>
      <p:sp>
        <p:nvSpPr>
          <p:cNvPr id="19" name="code-94"/>
          <p:cNvSpPr txBox="1"/>
          <p:nvPr/>
        </p:nvSpPr>
        <p:spPr>
          <a:xfrm>
            <a:off x="7013448" y="3136392"/>
            <a:ext cx="4398264" cy="1508760"/>
          </a:xfrm>
          <a:prstGeom prst="rect">
            <a:avLst/>
          </a:prstGeom>
          <a:noFill/>
          <a:ln/>
        </p:spPr>
        <p:txBody>
          <a:bodyPr wrap="square" lIns="0" tIns="0" rIns="0" bIns="0" rtlCol="0" anchor="t"/>
          <a:lstStyle/>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a = [</a:t>
            </a:r>
            <a:pPr indent="0" marL="0">
              <a:buNone/>
            </a:pPr>
            <a:r>
              <a:rPr lang="en-US" sz="1400" dirty="0">
                <a:solidFill>
                  <a:srgbClr val="F7B267"/>
                </a:solidFill>
                <a:latin typeface="Courier New" pitchFamily="34" charset="0"/>
                <a:ea typeface="Courier New" pitchFamily="34" charset="-122"/>
                <a:cs typeface="Courier New" pitchFamily="34" charset="-120"/>
              </a:rPr>
              <a:t>1</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F7B267"/>
                </a:solidFill>
                <a:latin typeface="Courier New" pitchFamily="34" charset="0"/>
                <a:ea typeface="Courier New" pitchFamily="34" charset="-122"/>
                <a:cs typeface="Courier New" pitchFamily="34" charset="-120"/>
              </a:rPr>
              <a:t>2</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F7B267"/>
                </a:solidFill>
                <a:latin typeface="Courier New" pitchFamily="34" charset="0"/>
                <a:ea typeface="Courier New" pitchFamily="34" charset="-122"/>
                <a:cs typeface="Courier New" pitchFamily="34" charset="-120"/>
              </a:rPr>
              <a:t>3</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b = a;</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b.push(</a:t>
            </a:r>
            <a:pPr indent="0" marL="0">
              <a:buNone/>
            </a:pPr>
            <a:r>
              <a:rPr lang="en-US" sz="1400" dirty="0">
                <a:solidFill>
                  <a:srgbClr val="F7B267"/>
                </a:solidFill>
                <a:latin typeface="Courier New" pitchFamily="34" charset="0"/>
                <a:ea typeface="Courier New" pitchFamily="34" charset="-122"/>
                <a:cs typeface="Courier New" pitchFamily="34" charset="-120"/>
              </a:rPr>
              <a:t>4</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79B8FF"/>
                </a:solidFill>
                <a:latin typeface="Courier New" pitchFamily="34" charset="0"/>
                <a:ea typeface="Courier New" pitchFamily="34" charset="-122"/>
                <a:cs typeface="Courier New" pitchFamily="34" charset="-120"/>
              </a:rPr>
              <a:t>console</a:t>
            </a:r>
            <a:pPr indent="0" marL="0">
              <a:buNone/>
            </a:pPr>
            <a:r>
              <a:rPr lang="en-US" sz="1400" dirty="0">
                <a:solidFill>
                  <a:srgbClr val="E5E7EB"/>
                </a:solidFill>
                <a:latin typeface="Courier New" pitchFamily="34" charset="0"/>
                <a:ea typeface="Courier New" pitchFamily="34" charset="-122"/>
                <a:cs typeface="Courier New" pitchFamily="34" charset="-120"/>
              </a:rPr>
              <a:t>.log(a.length);</a:t>
            </a:r>
            <a:endParaRPr lang="en-US" sz="1400" dirty="0"/>
          </a:p>
        </p:txBody>
      </p:sp>
      <p:sp>
        <p:nvSpPr>
          <p:cNvPr id="20" name="dot-95"/>
          <p:cNvSpPr txBox="1"/>
          <p:nvPr/>
        </p:nvSpPr>
        <p:spPr>
          <a:xfrm>
            <a:off x="6190488" y="512064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rgbClr val="1B1B1F"/>
                </a:solidFill>
              </a:rPr>
              <a:t>6</a:t>
            </a:r>
            <a:endParaRPr lang="en-US" sz="1500" dirty="0"/>
          </a:p>
        </p:txBody>
      </p:sp>
      <p:sp>
        <p:nvSpPr>
          <p:cNvPr id="21" name="code-panel-96"/>
          <p:cNvSpPr/>
          <p:nvPr/>
        </p:nvSpPr>
        <p:spPr>
          <a:xfrm>
            <a:off x="6784848" y="4937760"/>
            <a:ext cx="4855464" cy="822960"/>
          </a:xfrm>
          <a:prstGeom prst="roundRect">
            <a:avLst>
              <a:gd name="adj" fmla="val 8889"/>
            </a:avLst>
          </a:prstGeom>
          <a:solidFill>
            <a:schemeClr val="tx2"/>
          </a:solidFill>
          <a:ln w="12700">
            <a:solidFill>
              <a:schemeClr val="tx2"/>
            </a:solidFill>
            <a:prstDash val="solid"/>
          </a:ln>
        </p:spPr>
      </p:sp>
      <p:sp>
        <p:nvSpPr>
          <p:cNvPr id="22" name="code-97"/>
          <p:cNvSpPr txBox="1"/>
          <p:nvPr/>
        </p:nvSpPr>
        <p:spPr>
          <a:xfrm>
            <a:off x="7013448" y="5102352"/>
            <a:ext cx="4398264" cy="548640"/>
          </a:xfrm>
          <a:prstGeom prst="rect">
            <a:avLst/>
          </a:prstGeom>
          <a:noFill/>
          <a:ln/>
        </p:spPr>
        <p:txBody>
          <a:bodyPr wrap="square" lIns="0" tIns="0" rIns="0" bIns="0" rtlCol="0" anchor="t"/>
          <a:lstStyle/>
          <a:p>
            <a:pPr indent="0" marL="0">
              <a:buNone/>
            </a:pPr>
            <a:r>
              <a:rPr lang="en-US" sz="1400" dirty="0">
                <a:solidFill>
                  <a:srgbClr val="79B8FF"/>
                </a:solidFill>
                <a:latin typeface="Courier New" pitchFamily="34" charset="0"/>
                <a:ea typeface="Courier New" pitchFamily="34" charset="-122"/>
                <a:cs typeface="Courier New" pitchFamily="34" charset="-120"/>
              </a:rPr>
              <a:t>console</a:t>
            </a:r>
            <a:pPr indent="0" marL="0">
              <a:buNone/>
            </a:pPr>
            <a:r>
              <a:rPr lang="en-US" sz="1400" dirty="0">
                <a:solidFill>
                  <a:srgbClr val="E5E7EB"/>
                </a:solidFill>
                <a:latin typeface="Courier New" pitchFamily="34" charset="0"/>
                <a:ea typeface="Courier New" pitchFamily="34" charset="-122"/>
                <a:cs typeface="Courier New" pitchFamily="34" charset="-120"/>
              </a:rPr>
              <a:t>.log([</a:t>
            </a:r>
            <a:pPr indent="0" marL="0">
              <a:buNone/>
            </a:pPr>
            <a:r>
              <a:rPr lang="en-US" sz="1400" dirty="0">
                <a:solidFill>
                  <a:srgbClr val="F7B267"/>
                </a:solidFill>
                <a:latin typeface="Courier New" pitchFamily="34" charset="0"/>
                <a:ea typeface="Courier New" pitchFamily="34" charset="-122"/>
                <a:cs typeface="Courier New" pitchFamily="34" charset="-120"/>
              </a:rPr>
              <a:t>10</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F7B267"/>
                </a:solidFill>
                <a:latin typeface="Courier New" pitchFamily="34" charset="0"/>
                <a:ea typeface="Courier New" pitchFamily="34" charset="-122"/>
                <a:cs typeface="Courier New" pitchFamily="34" charset="-120"/>
              </a:rPr>
              <a:t>1</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F7B267"/>
                </a:solidFill>
                <a:latin typeface="Courier New" pitchFamily="34" charset="0"/>
                <a:ea typeface="Courier New" pitchFamily="34" charset="-122"/>
                <a:cs typeface="Courier New" pitchFamily="34" charset="-120"/>
              </a:rPr>
              <a:t>3</a:t>
            </a:r>
            <a:pPr indent="0" marL="0">
              <a:buNone/>
            </a:pPr>
            <a:r>
              <a:rPr lang="en-US" sz="1400" dirty="0">
                <a:solidFill>
                  <a:srgbClr val="E5E7EB"/>
                </a:solidFill>
                <a:latin typeface="Courier New" pitchFamily="34" charset="0"/>
                <a:ea typeface="Courier New" pitchFamily="34" charset="-122"/>
                <a:cs typeface="Courier New" pitchFamily="34" charset="-120"/>
              </a:rPr>
              <a:t>].sort());</a:t>
            </a:r>
            <a:endParaRPr lang="en-US" sz="1400" dirty="0"/>
          </a:p>
        </p:txBody>
      </p:sp>
      <p:sp>
        <p:nvSpPr>
          <p:cNvPr id="23" name="act1-bonus"/>
          <p:cNvSpPr txBox="1"/>
          <p:nvPr/>
        </p:nvSpPr>
        <p:spPr>
          <a:xfrm>
            <a:off x="548640" y="4983480"/>
            <a:ext cx="5394960" cy="777240"/>
          </a:xfrm>
          <a:prstGeom prst="rect">
            <a:avLst/>
          </a:prstGeom>
          <a:noFill/>
          <a:ln/>
        </p:spPr>
        <p:txBody>
          <a:bodyPr wrap="square" lIns="0" tIns="0" rIns="0" bIns="0" rtlCol="0" anchor="ctr"/>
          <a:lstStyle/>
          <a:p>
            <a:pPr indent="0" marL="0">
              <a:buNone/>
            </a:pPr>
            <a:r>
              <a:rPr lang="en-US" sz="1500" i="1" dirty="0">
                <a:solidFill>
                  <a:srgbClr val="6B7280"/>
                </a:solidFill>
              </a:rPr>
              <a:t>Bonus: which of these would a linter or TypeScript have warned you about?</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731520" y="1920240"/>
            <a:ext cx="7132320" cy="457200"/>
          </a:xfrm>
          <a:prstGeom prst="rect">
            <a:avLst/>
          </a:prstGeom>
          <a:noFill/>
          <a:ln/>
        </p:spPr>
        <p:txBody>
          <a:bodyPr wrap="square" lIns="0" tIns="0" rIns="0" bIns="0" rtlCol="0"/>
          <a:lstStyle/>
          <a:p>
            <a:pPr indent="0" marL="0">
              <a:buNone/>
            </a:pPr>
            <a:r>
              <a:rPr lang="en-US" sz="1800" b="1" spc="300" kern="0" dirty="0">
                <a:solidFill>
                  <a:schemeClr val="accent1"/>
                </a:solidFill>
              </a:rPr>
              <a:t>PART 2</a:t>
            </a:r>
            <a:endParaRPr lang="en-US" sz="1800" dirty="0"/>
          </a:p>
        </p:txBody>
      </p:sp>
      <p:sp>
        <p:nvSpPr>
          <p:cNvPr id="3" name="Text 0"/>
          <p:cNvSpPr/>
          <p:nvPr>
            <p:ph idx="101" type="title" hasCustomPrompt="1"/>
          </p:nvPr>
        </p:nvSpPr>
        <p:spPr>
          <a:xfrm>
            <a:off x="731520" y="2468880"/>
            <a:ext cx="7132320" cy="1280160"/>
          </a:xfrm>
          <a:prstGeom prst="rect">
            <a:avLst/>
          </a:prstGeom>
          <a:noFill/>
          <a:ln/>
        </p:spPr>
        <p:txBody>
          <a:bodyPr wrap="square" lIns="0" tIns="0" rIns="0" bIns="0" rtlCol="0" anchor="t"/>
          <a:lstStyle/>
          <a:p>
            <a:pPr algn="l" indent="0" marL="0">
              <a:buNone/>
            </a:pPr>
            <a:r>
              <a:rPr lang="en-US" sz="4400" b="1" dirty="0">
                <a:solidFill>
                  <a:schemeClr val="bg1"/>
                </a:solidFill>
              </a:rPr>
              <a:t>Functions &amp; objects</a:t>
            </a:r>
            <a:endParaRPr lang="en-US" sz="4400" dirty="0"/>
          </a:p>
        </p:txBody>
      </p:sp>
      <p:sp>
        <p:nvSpPr>
          <p:cNvPr id="4" name="Text 0"/>
          <p:cNvSpPr/>
          <p:nvPr>
            <p:ph idx="102" type="body" hasCustomPrompt="1"/>
          </p:nvPr>
        </p:nvSpPr>
        <p:spPr>
          <a:xfrm>
            <a:off x="731520" y="3840480"/>
            <a:ext cx="7132320" cy="1097280"/>
          </a:xfrm>
          <a:prstGeom prst="rect">
            <a:avLst/>
          </a:prstGeom>
          <a:noFill/>
          <a:ln/>
        </p:spPr>
        <p:txBody>
          <a:bodyPr wrap="square" lIns="0" tIns="0" rIns="0" bIns="0" rtlCol="0" anchor="t"/>
          <a:lstStyle/>
          <a:p>
            <a:pPr indent="0" marL="0">
              <a:buNone/>
            </a:pPr>
            <a:r>
              <a:rPr lang="en-US" sz="1800" dirty="0">
                <a:solidFill>
                  <a:srgbClr val="D1D5DB"/>
                </a:solidFill>
              </a:rPr>
              <a:t>Closures, this, arrays, references and classes: the patterns behind React and NestJS</a:t>
            </a:r>
            <a:endParaRPr lang="en-US" sz="1800" dirty="0"/>
          </a:p>
        </p:txBody>
      </p:sp>
      <p:sp>
        <p:nvSpPr>
          <p:cNvPr id="5" name="section-mark-98"/>
          <p:cNvSpPr txBox="1"/>
          <p:nvPr/>
        </p:nvSpPr>
        <p:spPr>
          <a:xfrm>
            <a:off x="8503920" y="1737360"/>
            <a:ext cx="3017520" cy="3017520"/>
          </a:xfrm>
          <a:prstGeom prst="roundRect">
            <a:avLst>
              <a:gd name="adj" fmla="val 4545"/>
            </a:avLst>
          </a:prstGeom>
          <a:solidFill>
            <a:schemeClr val="accent1"/>
          </a:solidFill>
          <a:ln>
            <a:solidFill>
              <a:schemeClr val="accent1"/>
            </a:solidFill>
          </a:ln>
        </p:spPr>
        <p:txBody>
          <a:bodyPr wrap="square" lIns="177800" tIns="177800" rIns="177800" bIns="177800" rtlCol="0" anchor="b"/>
          <a:lstStyle/>
          <a:p>
            <a:pPr algn="r" indent="0" marL="0">
              <a:buNone/>
            </a:pPr>
            <a:r>
              <a:rPr lang="en-US" sz="11000" b="1" dirty="0">
                <a:solidFill>
                  <a:srgbClr val="1B1B1F"/>
                </a:solidFill>
                <a:latin typeface="Arial" pitchFamily="34" charset="0"/>
                <a:ea typeface="Arial" pitchFamily="34" charset="-122"/>
                <a:cs typeface="Arial" pitchFamily="34" charset="-120"/>
              </a:rPr>
              <a:t>02</a:t>
            </a:r>
            <a:endParaRPr lang="en-US" sz="1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Functions: three ways to write them</a:t>
            </a:r>
            <a:endParaRPr lang="en-US" sz="3200" dirty="0"/>
          </a:p>
        </p:txBody>
      </p:sp>
      <p:sp>
        <p:nvSpPr>
          <p:cNvPr id="3" name="code-panel-99"/>
          <p:cNvSpPr/>
          <p:nvPr/>
        </p:nvSpPr>
        <p:spPr>
          <a:xfrm>
            <a:off x="548640" y="1371600"/>
            <a:ext cx="6675120" cy="4800600"/>
          </a:xfrm>
          <a:prstGeom prst="roundRect">
            <a:avLst>
              <a:gd name="adj" fmla="val 1524"/>
            </a:avLst>
          </a:prstGeom>
          <a:solidFill>
            <a:schemeClr val="tx2"/>
          </a:solidFill>
          <a:ln w="12700">
            <a:solidFill>
              <a:schemeClr val="tx2"/>
            </a:solidFill>
            <a:prstDash val="solid"/>
          </a:ln>
        </p:spPr>
      </p:sp>
      <p:sp>
        <p:nvSpPr>
          <p:cNvPr id="4" name="code-label-100"/>
          <p:cNvSpPr txBox="1"/>
          <p:nvPr/>
        </p:nvSpPr>
        <p:spPr>
          <a:xfrm>
            <a:off x="777240" y="1499616"/>
            <a:ext cx="6217920"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functions.js</a:t>
            </a:r>
            <a:endParaRPr lang="en-US" sz="1100" dirty="0"/>
          </a:p>
        </p:txBody>
      </p:sp>
      <p:sp>
        <p:nvSpPr>
          <p:cNvPr id="5" name="code-101"/>
          <p:cNvSpPr txBox="1"/>
          <p:nvPr/>
        </p:nvSpPr>
        <p:spPr>
          <a:xfrm>
            <a:off x="777240" y="1828800"/>
            <a:ext cx="6217920" cy="4233672"/>
          </a:xfrm>
          <a:prstGeom prst="rect">
            <a:avLst/>
          </a:prstGeom>
          <a:noFill/>
          <a:ln/>
        </p:spPr>
        <p:txBody>
          <a:bodyPr wrap="square" lIns="0" tIns="0" rIns="0" bIns="0" rtlCol="0" anchor="t"/>
          <a:lstStyle/>
          <a:p>
            <a:pPr indent="0" marL="0">
              <a:buNone/>
            </a:pPr>
            <a:r>
              <a:rPr lang="en-US" sz="1400" i="1" dirty="0">
                <a:solidFill>
                  <a:srgbClr val="8B949E"/>
                </a:solidFill>
                <a:latin typeface="Courier New" pitchFamily="34" charset="0"/>
                <a:ea typeface="Courier New" pitchFamily="34" charset="-122"/>
                <a:cs typeface="Courier New" pitchFamily="34" charset="-120"/>
              </a:rPr>
              <a:t>// declaration: hoisted</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function </a:t>
            </a:r>
            <a:pPr indent="0" marL="0">
              <a:buNone/>
            </a:pPr>
            <a:r>
              <a:rPr lang="en-US" sz="1400" dirty="0">
                <a:solidFill>
                  <a:srgbClr val="E5E7EB"/>
                </a:solidFill>
                <a:latin typeface="Courier New" pitchFamily="34" charset="0"/>
                <a:ea typeface="Courier New" pitchFamily="34" charset="-122"/>
                <a:cs typeface="Courier New" pitchFamily="34" charset="-120"/>
              </a:rPr>
              <a:t>add(a, b) { </a:t>
            </a:r>
            <a:pPr indent="0" marL="0">
              <a:buNone/>
            </a:pPr>
            <a:r>
              <a:rPr lang="en-US" sz="1400" dirty="0">
                <a:solidFill>
                  <a:srgbClr val="C792EA"/>
                </a:solidFill>
                <a:latin typeface="Courier New" pitchFamily="34" charset="0"/>
                <a:ea typeface="Courier New" pitchFamily="34" charset="-122"/>
                <a:cs typeface="Courier New" pitchFamily="34" charset="-120"/>
              </a:rPr>
              <a:t>return </a:t>
            </a:r>
            <a:pPr indent="0" marL="0">
              <a:buNone/>
            </a:pPr>
            <a:r>
              <a:rPr lang="en-US" sz="1400" dirty="0">
                <a:solidFill>
                  <a:srgbClr val="E5E7EB"/>
                </a:solidFill>
                <a:latin typeface="Courier New" pitchFamily="34" charset="0"/>
                <a:ea typeface="Courier New" pitchFamily="34" charset="-122"/>
                <a:cs typeface="Courier New" pitchFamily="34" charset="-120"/>
              </a:rPr>
              <a:t>a + b;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i="1" dirty="0">
                <a:solidFill>
                  <a:srgbClr val="8B949E"/>
                </a:solidFill>
                <a:latin typeface="Courier New" pitchFamily="34" charset="0"/>
                <a:ea typeface="Courier New" pitchFamily="34" charset="-122"/>
                <a:cs typeface="Courier New" pitchFamily="34" charset="-120"/>
              </a:rPr>
              <a:t>// expression</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sub = </a:t>
            </a:r>
            <a:pPr indent="0" marL="0">
              <a:buNone/>
            </a:pPr>
            <a:r>
              <a:rPr lang="en-US" sz="1400" dirty="0">
                <a:solidFill>
                  <a:srgbClr val="C792EA"/>
                </a:solidFill>
                <a:latin typeface="Courier New" pitchFamily="34" charset="0"/>
                <a:ea typeface="Courier New" pitchFamily="34" charset="-122"/>
                <a:cs typeface="Courier New" pitchFamily="34" charset="-120"/>
              </a:rPr>
              <a:t>function </a:t>
            </a:r>
            <a:pPr indent="0" marL="0">
              <a:buNone/>
            </a:pPr>
            <a:r>
              <a:rPr lang="en-US" sz="1400" dirty="0">
                <a:solidFill>
                  <a:srgbClr val="E5E7EB"/>
                </a:solidFill>
                <a:latin typeface="Courier New" pitchFamily="34" charset="0"/>
                <a:ea typeface="Courier New" pitchFamily="34" charset="-122"/>
                <a:cs typeface="Courier New" pitchFamily="34" charset="-120"/>
              </a:rPr>
              <a:t>(a, b) { </a:t>
            </a:r>
            <a:pPr indent="0" marL="0">
              <a:buNone/>
            </a:pPr>
            <a:r>
              <a:rPr lang="en-US" sz="1400" dirty="0">
                <a:solidFill>
                  <a:srgbClr val="C792EA"/>
                </a:solidFill>
                <a:latin typeface="Courier New" pitchFamily="34" charset="0"/>
                <a:ea typeface="Courier New" pitchFamily="34" charset="-122"/>
                <a:cs typeface="Courier New" pitchFamily="34" charset="-120"/>
              </a:rPr>
              <a:t>return </a:t>
            </a:r>
            <a:pPr indent="0" marL="0">
              <a:buNone/>
            </a:pPr>
            <a:r>
              <a:rPr lang="en-US" sz="1400" dirty="0">
                <a:solidFill>
                  <a:srgbClr val="E5E7EB"/>
                </a:solidFill>
                <a:latin typeface="Courier New" pitchFamily="34" charset="0"/>
                <a:ea typeface="Courier New" pitchFamily="34" charset="-122"/>
                <a:cs typeface="Courier New" pitchFamily="34" charset="-120"/>
              </a:rPr>
              <a:t>a - b;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i="1" dirty="0">
                <a:solidFill>
                  <a:srgbClr val="8B949E"/>
                </a:solidFill>
                <a:latin typeface="Courier New" pitchFamily="34" charset="0"/>
                <a:ea typeface="Courier New" pitchFamily="34" charset="-122"/>
                <a:cs typeface="Courier New" pitchFamily="34" charset="-120"/>
              </a:rPr>
              <a:t>// arrow: short, no own "this"</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mul = (a, b) =&gt; a * b;</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i="1" dirty="0">
                <a:solidFill>
                  <a:srgbClr val="8B949E"/>
                </a:solidFill>
                <a:latin typeface="Courier New" pitchFamily="34" charset="0"/>
                <a:ea typeface="Courier New" pitchFamily="34" charset="-122"/>
                <a:cs typeface="Courier New" pitchFamily="34" charset="-120"/>
              </a:rPr>
              <a:t>// default and rest parameters</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function </a:t>
            </a:r>
            <a:pPr indent="0" marL="0">
              <a:buNone/>
            </a:pPr>
            <a:r>
              <a:rPr lang="en-US" sz="1400" dirty="0">
                <a:solidFill>
                  <a:srgbClr val="E5E7EB"/>
                </a:solidFill>
                <a:latin typeface="Courier New" pitchFamily="34" charset="0"/>
                <a:ea typeface="Courier New" pitchFamily="34" charset="-122"/>
                <a:cs typeface="Courier New" pitchFamily="34" charset="-120"/>
              </a:rPr>
              <a:t>greet(name = </a:t>
            </a:r>
            <a:pPr indent="0" marL="0">
              <a:buNone/>
            </a:pPr>
            <a:r>
              <a:rPr lang="en-US" sz="1400" dirty="0">
                <a:solidFill>
                  <a:srgbClr val="A5D6A7"/>
                </a:solidFill>
                <a:latin typeface="Courier New" pitchFamily="34" charset="0"/>
                <a:ea typeface="Courier New" pitchFamily="34" charset="-122"/>
                <a:cs typeface="Courier New" pitchFamily="34" charset="-120"/>
              </a:rPr>
              <a:t>"student"</a:t>
            </a:r>
            <a:pPr indent="0" marL="0">
              <a:buNone/>
            </a:pPr>
            <a:r>
              <a:rPr lang="en-US" sz="1400" dirty="0">
                <a:solidFill>
                  <a:srgbClr val="E5E7EB"/>
                </a:solidFill>
                <a:latin typeface="Courier New" pitchFamily="34" charset="0"/>
                <a:ea typeface="Courier New" pitchFamily="34" charset="-122"/>
                <a:cs typeface="Courier New" pitchFamily="34" charset="-120"/>
              </a:rPr>
              <a:t>, ...tags)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return </a:t>
            </a:r>
            <a:pPr indent="0" marL="0">
              <a:buNone/>
            </a:pPr>
            <a:r>
              <a:rPr lang="en-US" sz="1400" dirty="0">
                <a:solidFill>
                  <a:srgbClr val="A5D6A7"/>
                </a:solidFill>
                <a:latin typeface="Courier New" pitchFamily="34" charset="0"/>
                <a:ea typeface="Courier New" pitchFamily="34" charset="-122"/>
                <a:cs typeface="Courier New" pitchFamily="34" charset="-120"/>
              </a:rPr>
              <a:t>`Hi ${name} [${tags.join(", ")}]`</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greet();                    </a:t>
            </a:r>
            <a:pPr indent="0" marL="0">
              <a:buNone/>
            </a:pPr>
            <a:r>
              <a:rPr lang="en-US" sz="1400" i="1" dirty="0">
                <a:solidFill>
                  <a:srgbClr val="8B949E"/>
                </a:solidFill>
                <a:latin typeface="Courier New" pitchFamily="34" charset="0"/>
                <a:ea typeface="Courier New" pitchFamily="34" charset="-122"/>
                <a:cs typeface="Courier New" pitchFamily="34" charset="-120"/>
              </a:rPr>
              <a:t>// "Hi student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greet(</a:t>
            </a:r>
            <a:pPr indent="0" marL="0">
              <a:buNone/>
            </a:pPr>
            <a:r>
              <a:rPr lang="en-US" sz="1400" dirty="0">
                <a:solidFill>
                  <a:srgbClr val="A5D6A7"/>
                </a:solidFill>
                <a:latin typeface="Courier New" pitchFamily="34" charset="0"/>
                <a:ea typeface="Courier New" pitchFamily="34" charset="-122"/>
                <a:cs typeface="Courier New" pitchFamily="34" charset="-120"/>
              </a:rPr>
              <a:t>"Dara"</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A5D6A7"/>
                </a:solidFill>
                <a:latin typeface="Courier New" pitchFamily="34" charset="0"/>
                <a:ea typeface="Courier New" pitchFamily="34" charset="-122"/>
                <a:cs typeface="Courier New" pitchFamily="34" charset="-120"/>
              </a:rPr>
              <a:t>"Y3"</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A5D6A7"/>
                </a:solidFill>
                <a:latin typeface="Courier New" pitchFamily="34" charset="0"/>
                <a:ea typeface="Courier New" pitchFamily="34" charset="-122"/>
                <a:cs typeface="Courier New" pitchFamily="34" charset="-120"/>
              </a:rPr>
              <a:t>"SE"</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"Hi Dara [Y3, SE]"</a:t>
            </a:r>
            <a:endParaRPr lang="en-US" sz="1400" dirty="0"/>
          </a:p>
        </p:txBody>
      </p:sp>
      <p:sp>
        <p:nvSpPr>
          <p:cNvPr id="6" name="card-102"/>
          <p:cNvSpPr/>
          <p:nvPr/>
        </p:nvSpPr>
        <p:spPr>
          <a:xfrm>
            <a:off x="7498080" y="1371600"/>
            <a:ext cx="4142232" cy="2148840"/>
          </a:xfrm>
          <a:prstGeom prst="roundRect">
            <a:avLst>
              <a:gd name="adj" fmla="val 3404"/>
            </a:avLst>
          </a:prstGeom>
          <a:solidFill>
            <a:schemeClr val="bg2"/>
          </a:solidFill>
          <a:ln w="12700">
            <a:solidFill>
              <a:schemeClr val="bg2"/>
            </a:solidFill>
            <a:prstDash val="solid"/>
          </a:ln>
        </p:spPr>
      </p:sp>
      <p:sp>
        <p:nvSpPr>
          <p:cNvPr id="7" name="card-text-103"/>
          <p:cNvSpPr txBox="1"/>
          <p:nvPr/>
        </p:nvSpPr>
        <p:spPr>
          <a:xfrm>
            <a:off x="7699248" y="1517904"/>
            <a:ext cx="3739896" cy="1856232"/>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Functions are values</a:t>
            </a:r>
            <a:endParaRPr lang="en-US" sz="1700" dirty="0"/>
          </a:p>
          <a:p>
            <a:pPr indent="0" marL="0">
              <a:buNone/>
            </a:pPr>
            <a:r>
              <a:rPr lang="en-US" sz="1500" dirty="0">
                <a:solidFill>
                  <a:srgbClr val="374151"/>
                </a:solidFill>
              </a:rPr>
              <a:t>You can store them in variables, pass them as arguments and return them from other functions. Functions that do this are higher-order functions.</a:t>
            </a:r>
            <a:endParaRPr lang="en-US" sz="1700" dirty="0"/>
          </a:p>
        </p:txBody>
      </p:sp>
      <p:sp>
        <p:nvSpPr>
          <p:cNvPr id="8" name="code-panel-104"/>
          <p:cNvSpPr/>
          <p:nvPr/>
        </p:nvSpPr>
        <p:spPr>
          <a:xfrm>
            <a:off x="7498080" y="3703320"/>
            <a:ext cx="4142232" cy="2468880"/>
          </a:xfrm>
          <a:prstGeom prst="roundRect">
            <a:avLst>
              <a:gd name="adj" fmla="val 2963"/>
            </a:avLst>
          </a:prstGeom>
          <a:solidFill>
            <a:schemeClr val="tx2"/>
          </a:solidFill>
          <a:ln w="12700">
            <a:solidFill>
              <a:schemeClr val="tx2"/>
            </a:solidFill>
            <a:prstDash val="solid"/>
          </a:ln>
        </p:spPr>
      </p:sp>
      <p:sp>
        <p:nvSpPr>
          <p:cNvPr id="9" name="code-label-105"/>
          <p:cNvSpPr txBox="1"/>
          <p:nvPr/>
        </p:nvSpPr>
        <p:spPr>
          <a:xfrm>
            <a:off x="7726680" y="3831336"/>
            <a:ext cx="3685032"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higher-order</a:t>
            </a:r>
            <a:endParaRPr lang="en-US" sz="1100" dirty="0"/>
          </a:p>
        </p:txBody>
      </p:sp>
      <p:sp>
        <p:nvSpPr>
          <p:cNvPr id="10" name="code-106"/>
          <p:cNvSpPr txBox="1"/>
          <p:nvPr/>
        </p:nvSpPr>
        <p:spPr>
          <a:xfrm>
            <a:off x="7726680" y="4160520"/>
            <a:ext cx="3685032" cy="1901952"/>
          </a:xfrm>
          <a:prstGeom prst="rect">
            <a:avLst/>
          </a:prstGeom>
          <a:noFill/>
          <a:ln/>
        </p:spPr>
        <p:txBody>
          <a:bodyPr wrap="square" lIns="0" tIns="0" rIns="0" bIns="0" rtlCol="0" anchor="t"/>
          <a:lstStyle/>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twice = f =&gt; x =&gt; f(f(x));</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add3 = n =&gt; n + </a:t>
            </a:r>
            <a:pPr indent="0" marL="0">
              <a:buNone/>
            </a:pPr>
            <a:r>
              <a:rPr lang="en-US" sz="1400" dirty="0">
                <a:solidFill>
                  <a:srgbClr val="F7B267"/>
                </a:solidFill>
                <a:latin typeface="Courier New" pitchFamily="34" charset="0"/>
                <a:ea typeface="Courier New" pitchFamily="34" charset="-122"/>
                <a:cs typeface="Courier New" pitchFamily="34" charset="-120"/>
              </a:rPr>
              <a:t>3</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twice(add3)(</a:t>
            </a:r>
            <a:pPr indent="0" marL="0">
              <a:buNone/>
            </a:pPr>
            <a:r>
              <a:rPr lang="en-US" sz="1400" dirty="0">
                <a:solidFill>
                  <a:srgbClr val="F7B267"/>
                </a:solidFill>
                <a:latin typeface="Courier New" pitchFamily="34" charset="0"/>
                <a:ea typeface="Courier New" pitchFamily="34" charset="-122"/>
                <a:cs typeface="Courier New" pitchFamily="34" charset="-120"/>
              </a:rPr>
              <a:t>10</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16</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pPr indent="0" marL="0">
              <a:buNone/>
            </a:pPr>
            <a:r>
              <a:rPr lang="en-US" sz="1400" dirty="0">
                <a:solidFill>
                  <a:srgbClr val="F7B267"/>
                </a:solidFill>
                <a:latin typeface="Courier New" pitchFamily="34" charset="0"/>
                <a:ea typeface="Courier New" pitchFamily="34" charset="-122"/>
                <a:cs typeface="Courier New" pitchFamily="34" charset="-120"/>
              </a:rPr>
              <a:t>1</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F7B267"/>
                </a:solidFill>
                <a:latin typeface="Courier New" pitchFamily="34" charset="0"/>
                <a:ea typeface="Courier New" pitchFamily="34" charset="-122"/>
                <a:cs typeface="Courier New" pitchFamily="34" charset="-120"/>
              </a:rPr>
              <a:t>2</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F7B267"/>
                </a:solidFill>
                <a:latin typeface="Courier New" pitchFamily="34" charset="0"/>
                <a:ea typeface="Courier New" pitchFamily="34" charset="-122"/>
                <a:cs typeface="Courier New" pitchFamily="34" charset="-120"/>
              </a:rPr>
              <a:t>3</a:t>
            </a:r>
            <a:pPr indent="0" marL="0">
              <a:buNone/>
            </a:pPr>
            <a:r>
              <a:rPr lang="en-US" sz="1400" dirty="0">
                <a:solidFill>
                  <a:srgbClr val="E5E7EB"/>
                </a:solidFill>
                <a:latin typeface="Courier New" pitchFamily="34" charset="0"/>
                <a:ea typeface="Courier New" pitchFamily="34" charset="-122"/>
                <a:cs typeface="Courier New" pitchFamily="34" charset="-120"/>
              </a:rPr>
              <a:t>].map(add3);</a:t>
            </a:r>
            <a:endParaRPr lang="en-US" sz="1400" dirty="0"/>
          </a:p>
          <a:p>
            <a:pPr indent="0" marL="0">
              <a:buNone/>
            </a:pPr>
            <a:r>
              <a:rPr lang="en-US" sz="1400" i="1" dirty="0">
                <a:solidFill>
                  <a:srgbClr val="8B949E"/>
                </a:solidFill>
                <a:latin typeface="Courier New" pitchFamily="34" charset="0"/>
                <a:ea typeface="Courier New" pitchFamily="34" charset="-122"/>
                <a:cs typeface="Courier New" pitchFamily="34" charset="-120"/>
              </a:rPr>
              <a:t>// [4, 5, 6]</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Closures: functions that remember</a:t>
            </a:r>
            <a:endParaRPr lang="en-US" sz="3200" dirty="0"/>
          </a:p>
        </p:txBody>
      </p:sp>
      <p:sp>
        <p:nvSpPr>
          <p:cNvPr id="3" name="code-panel-107"/>
          <p:cNvSpPr/>
          <p:nvPr/>
        </p:nvSpPr>
        <p:spPr>
          <a:xfrm>
            <a:off x="548640" y="1371600"/>
            <a:ext cx="5852160" cy="4800600"/>
          </a:xfrm>
          <a:prstGeom prst="roundRect">
            <a:avLst>
              <a:gd name="adj" fmla="val 1524"/>
            </a:avLst>
          </a:prstGeom>
          <a:solidFill>
            <a:schemeClr val="tx2"/>
          </a:solidFill>
          <a:ln w="12700">
            <a:solidFill>
              <a:schemeClr val="tx2"/>
            </a:solidFill>
            <a:prstDash val="solid"/>
          </a:ln>
        </p:spPr>
      </p:sp>
      <p:sp>
        <p:nvSpPr>
          <p:cNvPr id="4" name="code-label-108"/>
          <p:cNvSpPr txBox="1"/>
          <p:nvPr/>
        </p:nvSpPr>
        <p:spPr>
          <a:xfrm>
            <a:off x="777240" y="1499616"/>
            <a:ext cx="5394960"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closure.js</a:t>
            </a:r>
            <a:endParaRPr lang="en-US" sz="1100" dirty="0"/>
          </a:p>
        </p:txBody>
      </p:sp>
      <p:sp>
        <p:nvSpPr>
          <p:cNvPr id="5" name="code-109"/>
          <p:cNvSpPr txBox="1"/>
          <p:nvPr/>
        </p:nvSpPr>
        <p:spPr>
          <a:xfrm>
            <a:off x="777240" y="1828800"/>
            <a:ext cx="5394960" cy="4233672"/>
          </a:xfrm>
          <a:prstGeom prst="rect">
            <a:avLst/>
          </a:prstGeom>
          <a:noFill/>
          <a:ln/>
        </p:spPr>
        <p:txBody>
          <a:bodyPr wrap="square" lIns="0" tIns="0" rIns="0" bIns="0" rtlCol="0" anchor="t"/>
          <a:lstStyle/>
          <a:p>
            <a:pPr indent="0" marL="0">
              <a:buNone/>
            </a:pPr>
            <a:r>
              <a:rPr lang="en-US" sz="1400" dirty="0">
                <a:solidFill>
                  <a:srgbClr val="C792EA"/>
                </a:solidFill>
                <a:latin typeface="Courier New" pitchFamily="34" charset="0"/>
                <a:ea typeface="Courier New" pitchFamily="34" charset="-122"/>
                <a:cs typeface="Courier New" pitchFamily="34" charset="-120"/>
              </a:rPr>
              <a:t>function </a:t>
            </a:r>
            <a:pPr indent="0" marL="0">
              <a:buNone/>
            </a:pPr>
            <a:r>
              <a:rPr lang="en-US" sz="1400" dirty="0">
                <a:solidFill>
                  <a:srgbClr val="E5E7EB"/>
                </a:solidFill>
                <a:latin typeface="Courier New" pitchFamily="34" charset="0"/>
                <a:ea typeface="Courier New" pitchFamily="34" charset="-122"/>
                <a:cs typeface="Courier New" pitchFamily="34" charset="-120"/>
              </a:rPr>
              <a:t>makeCounter()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let </a:t>
            </a:r>
            <a:pPr indent="0" marL="0">
              <a:buNone/>
            </a:pPr>
            <a:r>
              <a:rPr lang="en-US" sz="1400" dirty="0">
                <a:solidFill>
                  <a:srgbClr val="E5E7EB"/>
                </a:solidFill>
                <a:latin typeface="Courier New" pitchFamily="34" charset="0"/>
                <a:ea typeface="Courier New" pitchFamily="34" charset="-122"/>
                <a:cs typeface="Courier New" pitchFamily="34" charset="-120"/>
              </a:rPr>
              <a:t>count = </a:t>
            </a:r>
            <a:pPr indent="0" marL="0">
              <a:buNone/>
            </a:pPr>
            <a:r>
              <a:rPr lang="en-US" sz="1400" dirty="0">
                <a:solidFill>
                  <a:srgbClr val="F7B267"/>
                </a:solidFill>
                <a:latin typeface="Courier New" pitchFamily="34" charset="0"/>
                <a:ea typeface="Courier New" pitchFamily="34" charset="-122"/>
                <a:cs typeface="Courier New" pitchFamily="34" charset="-120"/>
              </a:rPr>
              <a:t>0</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private state</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return function </a:t>
            </a:r>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count += </a:t>
            </a:r>
            <a:pPr indent="0" marL="0">
              <a:buNone/>
            </a:pPr>
            <a:r>
              <a:rPr lang="en-US" sz="1400" dirty="0">
                <a:solidFill>
                  <a:srgbClr val="F7B267"/>
                </a:solidFill>
                <a:latin typeface="Courier New" pitchFamily="34" charset="0"/>
                <a:ea typeface="Courier New" pitchFamily="34" charset="-122"/>
                <a:cs typeface="Courier New" pitchFamily="34" charset="-120"/>
              </a:rPr>
              <a:t>1</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return </a:t>
            </a:r>
            <a:pPr indent="0" marL="0">
              <a:buNone/>
            </a:pPr>
            <a:r>
              <a:rPr lang="en-US" sz="1400" dirty="0">
                <a:solidFill>
                  <a:srgbClr val="E5E7EB"/>
                </a:solidFill>
                <a:latin typeface="Courier New" pitchFamily="34" charset="0"/>
                <a:ea typeface="Courier New" pitchFamily="34" charset="-122"/>
                <a:cs typeface="Courier New" pitchFamily="34" charset="-120"/>
              </a:rPr>
              <a:t>count;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next = makeCounter();</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next();   </a:t>
            </a:r>
            <a:pPr indent="0" marL="0">
              <a:buNone/>
            </a:pPr>
            <a:r>
              <a:rPr lang="en-US" sz="1400" i="1" dirty="0">
                <a:solidFill>
                  <a:srgbClr val="8B949E"/>
                </a:solidFill>
                <a:latin typeface="Courier New" pitchFamily="34" charset="0"/>
                <a:ea typeface="Courier New" pitchFamily="34" charset="-122"/>
                <a:cs typeface="Courier New" pitchFamily="34" charset="-120"/>
              </a:rPr>
              <a:t>// 1</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next();   </a:t>
            </a:r>
            <a:pPr indent="0" marL="0">
              <a:buNone/>
            </a:pPr>
            <a:r>
              <a:rPr lang="en-US" sz="1400" i="1" dirty="0">
                <a:solidFill>
                  <a:srgbClr val="8B949E"/>
                </a:solidFill>
                <a:latin typeface="Courier New" pitchFamily="34" charset="0"/>
                <a:ea typeface="Courier New" pitchFamily="34" charset="-122"/>
                <a:cs typeface="Courier New" pitchFamily="34" charset="-120"/>
              </a:rPr>
              <a:t>// 2</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other = makeCounter();</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other();  </a:t>
            </a:r>
            <a:pPr indent="0" marL="0">
              <a:buNone/>
            </a:pPr>
            <a:r>
              <a:rPr lang="en-US" sz="1400" i="1" dirty="0">
                <a:solidFill>
                  <a:srgbClr val="8B949E"/>
                </a:solidFill>
                <a:latin typeface="Courier New" pitchFamily="34" charset="0"/>
                <a:ea typeface="Courier New" pitchFamily="34" charset="-122"/>
                <a:cs typeface="Courier New" pitchFamily="34" charset="-120"/>
              </a:rPr>
              <a:t>// 1  (its own count)</a:t>
            </a:r>
            <a:endParaRPr lang="en-US" sz="1400" dirty="0"/>
          </a:p>
        </p:txBody>
      </p:sp>
      <p:sp>
        <p:nvSpPr>
          <p:cNvPr id="6" name="closure-scope"/>
          <p:cNvSpPr/>
          <p:nvPr/>
        </p:nvSpPr>
        <p:spPr>
          <a:xfrm>
            <a:off x="6720840" y="1371600"/>
            <a:ext cx="4919472" cy="2514600"/>
          </a:xfrm>
          <a:prstGeom prst="roundRect">
            <a:avLst>
              <a:gd name="adj" fmla="val 2909"/>
            </a:avLst>
          </a:prstGeom>
          <a:solidFill>
            <a:schemeClr val="bg2"/>
          </a:solidFill>
          <a:ln w="12700">
            <a:solidFill>
              <a:srgbClr val="D1D5DB"/>
            </a:solidFill>
            <a:prstDash val="dash"/>
          </a:ln>
        </p:spPr>
      </p:sp>
      <p:sp>
        <p:nvSpPr>
          <p:cNvPr id="7" name="closure-scope-label"/>
          <p:cNvSpPr txBox="1"/>
          <p:nvPr/>
        </p:nvSpPr>
        <p:spPr>
          <a:xfrm>
            <a:off x="6949440" y="1481328"/>
            <a:ext cx="4480560" cy="320040"/>
          </a:xfrm>
          <a:prstGeom prst="rect">
            <a:avLst/>
          </a:prstGeom>
          <a:noFill/>
          <a:ln/>
        </p:spPr>
        <p:txBody>
          <a:bodyPr wrap="square" lIns="0" tIns="0" rIns="0" bIns="0" rtlCol="0" anchor="ctr"/>
          <a:lstStyle/>
          <a:p>
            <a:pPr indent="0" marL="0">
              <a:buNone/>
            </a:pPr>
            <a:r>
              <a:rPr lang="en-US" sz="1300" dirty="0">
                <a:solidFill>
                  <a:srgbClr val="6B7280"/>
                </a:solidFill>
              </a:rPr>
              <a:t>scope created by makeCounter() call #1</a:t>
            </a:r>
            <a:endParaRPr lang="en-US" sz="1300" dirty="0"/>
          </a:p>
        </p:txBody>
      </p:sp>
      <p:sp>
        <p:nvSpPr>
          <p:cNvPr id="8" name="box-110"/>
          <p:cNvSpPr txBox="1"/>
          <p:nvPr/>
        </p:nvSpPr>
        <p:spPr>
          <a:xfrm>
            <a:off x="6949440" y="1965960"/>
            <a:ext cx="1828800" cy="731520"/>
          </a:xfrm>
          <a:prstGeom prst="roundRect">
            <a:avLst>
              <a:gd name="adj" fmla="val 10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600" b="1" dirty="0">
                <a:solidFill>
                  <a:srgbClr val="1B1B1F"/>
                </a:solidFill>
                <a:latin typeface="Courier New" pitchFamily="34" charset="0"/>
                <a:ea typeface="Courier New" pitchFamily="34" charset="-122"/>
                <a:cs typeface="Courier New" pitchFamily="34" charset="-120"/>
              </a:rPr>
              <a:t>count = 2</a:t>
            </a:r>
            <a:endParaRPr lang="en-US" sz="1600" dirty="0"/>
          </a:p>
        </p:txBody>
      </p:sp>
      <p:sp>
        <p:nvSpPr>
          <p:cNvPr id="9" name="box-111"/>
          <p:cNvSpPr txBox="1"/>
          <p:nvPr/>
        </p:nvSpPr>
        <p:spPr>
          <a:xfrm>
            <a:off x="9509760" y="1965960"/>
            <a:ext cx="1920240" cy="731520"/>
          </a:xfrm>
          <a:prstGeom prst="roundRect">
            <a:avLst>
              <a:gd name="adj" fmla="val 10000"/>
            </a:avLst>
          </a:prstGeom>
          <a:solidFill>
            <a:schemeClr val="tx2"/>
          </a:solidFill>
          <a:ln w="12700">
            <a:solidFill>
              <a:schemeClr val="tx2"/>
            </a:solidFill>
          </a:ln>
        </p:spPr>
        <p:txBody>
          <a:bodyPr wrap="square" lIns="50800" tIns="50800" rIns="50800" bIns="50800" rtlCol="0" anchor="ctr"/>
          <a:lstStyle/>
          <a:p>
            <a:pPr algn="ctr" indent="0" marL="0">
              <a:buNone/>
            </a:pPr>
            <a:r>
              <a:rPr lang="en-US" sz="1600" dirty="0">
                <a:solidFill>
                  <a:srgbClr val="FFFFFF"/>
                </a:solidFill>
                <a:latin typeface="Courier New" pitchFamily="34" charset="0"/>
                <a:ea typeface="Courier New" pitchFamily="34" charset="-122"/>
                <a:cs typeface="Courier New" pitchFamily="34" charset="-120"/>
              </a:rPr>
              <a:t>inner fn</a:t>
            </a:r>
            <a:endParaRPr lang="en-US" sz="1600" dirty="0"/>
          </a:p>
        </p:txBody>
      </p:sp>
      <p:sp>
        <p:nvSpPr>
          <p:cNvPr id="10" name="closure-arrow"/>
          <p:cNvSpPr/>
          <p:nvPr/>
        </p:nvSpPr>
        <p:spPr>
          <a:xfrm>
            <a:off x="8823960" y="2331720"/>
            <a:ext cx="640080" cy="0"/>
          </a:xfrm>
          <a:prstGeom prst="line">
            <a:avLst/>
          </a:prstGeom>
          <a:noFill/>
          <a:ln w="25400">
            <a:solidFill>
              <a:srgbClr val="6B7280"/>
            </a:solidFill>
            <a:prstDash val="solid"/>
            <a:headEnd type="triangle"/>
          </a:ln>
        </p:spPr>
      </p:sp>
      <p:sp>
        <p:nvSpPr>
          <p:cNvPr id="11" name="closure-arrow-label"/>
          <p:cNvSpPr txBox="1"/>
          <p:nvPr/>
        </p:nvSpPr>
        <p:spPr>
          <a:xfrm>
            <a:off x="8229600" y="2788920"/>
            <a:ext cx="3200400" cy="320040"/>
          </a:xfrm>
          <a:prstGeom prst="rect">
            <a:avLst/>
          </a:prstGeom>
          <a:noFill/>
          <a:ln/>
        </p:spPr>
        <p:txBody>
          <a:bodyPr wrap="square" lIns="0" tIns="0" rIns="0" bIns="0" rtlCol="0" anchor="ctr"/>
          <a:lstStyle/>
          <a:p>
            <a:pPr algn="r" indent="0" marL="0">
              <a:buNone/>
            </a:pPr>
            <a:r>
              <a:rPr lang="en-US" sz="1300" dirty="0">
                <a:solidFill>
                  <a:srgbClr val="6B7280"/>
                </a:solidFill>
              </a:rPr>
              <a:t>keeps a reference</a:t>
            </a:r>
            <a:endParaRPr lang="en-US" sz="1300" dirty="0"/>
          </a:p>
        </p:txBody>
      </p:sp>
      <p:sp>
        <p:nvSpPr>
          <p:cNvPr id="12" name="closure-expl"/>
          <p:cNvSpPr txBox="1"/>
          <p:nvPr/>
        </p:nvSpPr>
        <p:spPr>
          <a:xfrm>
            <a:off x="6949440" y="3154680"/>
            <a:ext cx="4480560" cy="640080"/>
          </a:xfrm>
          <a:prstGeom prst="rect">
            <a:avLst/>
          </a:prstGeom>
          <a:noFill/>
          <a:ln/>
        </p:spPr>
        <p:txBody>
          <a:bodyPr wrap="square" lIns="0" tIns="0" rIns="0" bIns="0" rtlCol="0" anchor="ctr"/>
          <a:lstStyle/>
          <a:p>
            <a:pPr indent="0" marL="0">
              <a:buNone/>
            </a:pPr>
            <a:r>
              <a:rPr lang="en-US" sz="1400" b="1" dirty="0">
                <a:solidFill>
                  <a:srgbClr val="374151"/>
                </a:solidFill>
                <a:latin typeface="Courier New" pitchFamily="34" charset="0"/>
                <a:ea typeface="Courier New" pitchFamily="34" charset="-122"/>
                <a:cs typeface="Courier New" pitchFamily="34" charset="-120"/>
              </a:rPr>
              <a:t>next</a:t>
            </a:r>
            <a:pPr indent="0" marL="0">
              <a:buNone/>
            </a:pPr>
            <a:r>
              <a:rPr lang="en-US" sz="1400" dirty="0">
                <a:solidFill>
                  <a:srgbClr val="374151"/>
                </a:solidFill>
              </a:rPr>
              <a:t> holds the inner function, so count stays alive after makeCounter returns.</a:t>
            </a:r>
            <a:endParaRPr lang="en-US" sz="1400" dirty="0"/>
          </a:p>
        </p:txBody>
      </p:sp>
      <p:sp>
        <p:nvSpPr>
          <p:cNvPr id="13" name="card-112"/>
          <p:cNvSpPr/>
          <p:nvPr/>
        </p:nvSpPr>
        <p:spPr>
          <a:xfrm>
            <a:off x="6720840" y="4069080"/>
            <a:ext cx="4919472" cy="2103120"/>
          </a:xfrm>
          <a:prstGeom prst="roundRect">
            <a:avLst>
              <a:gd name="adj" fmla="val 3478"/>
            </a:avLst>
          </a:prstGeom>
          <a:solidFill>
            <a:schemeClr val="bg2"/>
          </a:solidFill>
          <a:ln w="12700">
            <a:solidFill>
              <a:schemeClr val="bg2"/>
            </a:solidFill>
            <a:prstDash val="solid"/>
          </a:ln>
        </p:spPr>
      </p:sp>
      <p:sp>
        <p:nvSpPr>
          <p:cNvPr id="14" name="card-text-113"/>
          <p:cNvSpPr txBox="1"/>
          <p:nvPr/>
        </p:nvSpPr>
        <p:spPr>
          <a:xfrm>
            <a:off x="6922008" y="4215384"/>
            <a:ext cx="4517136" cy="1810512"/>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Where you will meet closures</a:t>
            </a:r>
            <a:endParaRPr lang="en-US" sz="1700" dirty="0"/>
          </a:p>
          <a:p>
            <a:pPr marL="177800" indent="-177800">
              <a:spcAft>
                <a:spcPts val="400"/>
              </a:spcAft>
              <a:buSzPct val="100000"/>
              <a:buChar char="•"/>
            </a:pPr>
            <a:r>
              <a:rPr lang="en-US" sz="1500" dirty="0">
                <a:solidFill>
                  <a:srgbClr val="374151"/>
                </a:solidFill>
              </a:rPr>
              <a:t>Private state without classes</a:t>
            </a:r>
            <a:endParaRPr lang="en-US" sz="1700" dirty="0"/>
          </a:p>
          <a:p>
            <a:pPr marL="177800" indent="-177800">
              <a:spcAft>
                <a:spcPts val="400"/>
              </a:spcAft>
              <a:buSzPct val="100000"/>
              <a:buChar char="•"/>
            </a:pPr>
            <a:r>
              <a:rPr lang="en-US" sz="1500" dirty="0">
                <a:solidFill>
                  <a:srgbClr val="374151"/>
                </a:solidFill>
              </a:rPr>
              <a:t>Event handlers and callbacks</a:t>
            </a:r>
            <a:endParaRPr lang="en-US" sz="1700" dirty="0"/>
          </a:p>
          <a:p>
            <a:pPr marL="177800" indent="-177800">
              <a:spcAft>
                <a:spcPts val="400"/>
              </a:spcAft>
              <a:buSzPct val="100000"/>
              <a:buChar char="•"/>
            </a:pPr>
            <a:r>
              <a:rPr lang="en-US" sz="1500" dirty="0">
                <a:solidFill>
                  <a:srgbClr val="374151"/>
                </a:solidFill>
              </a:rPr>
              <a:t>React hooks (useState, useEffect)</a:t>
            </a:r>
            <a:endParaRPr lang="en-US" sz="1700" dirty="0"/>
          </a:p>
          <a:p>
            <a:pPr marL="177800" indent="-177800">
              <a:spcAft>
                <a:spcPts val="400"/>
              </a:spcAft>
              <a:buSzPct val="100000"/>
              <a:buChar char="•"/>
            </a:pPr>
            <a:r>
              <a:rPr lang="en-US" sz="1500" dirty="0">
                <a:solidFill>
                  <a:srgbClr val="374151"/>
                </a:solidFill>
              </a:rPr>
              <a:t>Factories and middleware in NestJS</a:t>
            </a:r>
            <a:endParaRPr lang="en-US" sz="17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this depends on how a function is called</a:t>
            </a:r>
            <a:endParaRPr lang="en-US" sz="3200" dirty="0"/>
          </a:p>
        </p:txBody>
      </p:sp>
      <p:graphicFrame>
        <p:nvGraphicFramePr>
          <p:cNvPr id="15" name="this-table"/>
          <p:cNvGraphicFramePr>
            <a:graphicFrameLocks noGrp="1"/>
          </p:cNvGraphicFramePr>
          <p:nvPr>
            <p:extLst>
              <p:ext uri="{D42A27DB-BD31-4B8C-83A1-F6EECF244321}">
                <p14:modId xmlns:p14="http://schemas.microsoft.com/office/powerpoint/2010/main" val="1579011935"/>
              </p:ext>
            </p:extLst>
          </p:nvPr>
        </p:nvGraphicFramePr>
        <p:xfrm>
          <a:off x="548640" y="1371600"/>
          <a:ext cx="5394960" cy="914400"/>
        </p:xfrm>
        <a:graphic>
          <a:graphicData uri="http://schemas.openxmlformats.org/drawingml/2006/table">
            <a:tbl>
              <a:tblPr/>
              <a:tblGrid>
                <a:gridCol w="3017520"/>
                <a:gridCol w="2377440"/>
              </a:tblGrid>
              <a:tr h="566928">
                <a:tc>
                  <a:txBody>
                    <a:bodyPr/>
                    <a:lstStyle/>
                    <a:p>
                      <a:pPr indent="0" marL="0">
                        <a:buNone/>
                      </a:pPr>
                      <a:r>
                        <a:rPr lang="en-US" sz="1500" b="1" dirty="0">
                          <a:solidFill>
                            <a:srgbClr val="FFFFFF"/>
                          </a:solidFill>
                        </a:rPr>
                        <a:t>How it is called</a:t>
                      </a:r>
                      <a:endParaRPr lang="en-US" sz="1500" dirty="0"/>
                    </a:p>
                  </a:txBody>
                  <a:tcPr marL="127000" marR="1270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tx2"/>
                    </a:solidFill>
                  </a:tcPr>
                </a:tc>
                <a:tc>
                  <a:txBody>
                    <a:bodyPr/>
                    <a:lstStyle/>
                    <a:p>
                      <a:pPr indent="0" marL="0">
                        <a:buNone/>
                      </a:pPr>
                      <a:r>
                        <a:rPr lang="en-US" sz="1500" b="1" dirty="0">
                          <a:solidFill>
                            <a:srgbClr val="FFFFFF"/>
                          </a:solidFill>
                        </a:rPr>
                        <a:t>this is…</a:t>
                      </a:r>
                      <a:endParaRPr lang="en-US" sz="1500" dirty="0"/>
                    </a:p>
                  </a:txBody>
                  <a:tcPr marL="127000" marR="1270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chemeClr val="tx2"/>
                    </a:solidFill>
                  </a:tcPr>
                </a:tc>
              </a:tr>
              <a:tr h="566928">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obj.method()</a:t>
                      </a:r>
                      <a:endParaRPr lang="en-US" sz="1500" dirty="0">
                        <a:latin typeface="Courier New" charset="0"/>
                        <a:ea typeface="Courier New" charset="0"/>
                        <a:cs typeface="Courier New" charset="0"/>
                      </a:endParaRPr>
                    </a:p>
                  </a:txBody>
                  <a:tcPr marL="127000" marR="1270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obj</a:t>
                      </a:r>
                      <a:endParaRPr lang="en-US" sz="1500" dirty="0"/>
                    </a:p>
                  </a:txBody>
                  <a:tcPr marL="127000" marR="1270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566928">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fn()</a:t>
                      </a:r>
                      <a:endParaRPr lang="en-US" sz="1500" dirty="0">
                        <a:latin typeface="Courier New" charset="0"/>
                        <a:ea typeface="Courier New" charset="0"/>
                        <a:cs typeface="Courier New" charset="0"/>
                      </a:endParaRPr>
                    </a:p>
                  </a:txBody>
                  <a:tcPr marL="127000" marR="1270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undefined (strict mode, modules)</a:t>
                      </a:r>
                      <a:endParaRPr lang="en-US" sz="1500" dirty="0"/>
                    </a:p>
                  </a:txBody>
                  <a:tcPr marL="127000" marR="1270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566928">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new Fn()</a:t>
                      </a:r>
                      <a:endParaRPr lang="en-US" sz="1500" dirty="0">
                        <a:latin typeface="Courier New" charset="0"/>
                        <a:ea typeface="Courier New" charset="0"/>
                        <a:cs typeface="Courier New" charset="0"/>
                      </a:endParaRPr>
                    </a:p>
                  </a:txBody>
                  <a:tcPr marL="127000" marR="1270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the new object</a:t>
                      </a:r>
                      <a:endParaRPr lang="en-US" sz="1500" dirty="0"/>
                    </a:p>
                  </a:txBody>
                  <a:tcPr marL="127000" marR="1270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566928">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fn.call(x) / fn.bind(x)</a:t>
                      </a:r>
                      <a:endParaRPr lang="en-US" sz="1500" dirty="0">
                        <a:latin typeface="Courier New" charset="0"/>
                        <a:ea typeface="Courier New" charset="0"/>
                        <a:cs typeface="Courier New" charset="0"/>
                      </a:endParaRPr>
                    </a:p>
                  </a:txBody>
                  <a:tcPr marL="127000" marR="1270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x</a:t>
                      </a:r>
                      <a:endParaRPr lang="en-US" sz="1500" dirty="0"/>
                    </a:p>
                  </a:txBody>
                  <a:tcPr marL="127000" marR="1270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chemeClr val="tx1"/>
                          </a:solidFill>
                        </a:rPr>
                        <a:t>arrow function</a:t>
                      </a:r>
                      <a:endParaRPr lang="en-US" sz="1500" dirty="0"/>
                    </a:p>
                  </a:txBody>
                  <a:tcPr marL="127000" marR="1270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this of the surrounding code</a:t>
                      </a:r>
                      <a:endParaRPr lang="en-US" sz="1500" dirty="0"/>
                    </a:p>
                  </a:txBody>
                  <a:tcPr marL="127000" marR="1270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bl>
          </a:graphicData>
        </a:graphic>
      </p:graphicFrame>
      <p:sp>
        <p:nvSpPr>
          <p:cNvPr id="4" name="code-panel-114"/>
          <p:cNvSpPr/>
          <p:nvPr/>
        </p:nvSpPr>
        <p:spPr>
          <a:xfrm>
            <a:off x="6217920" y="1371600"/>
            <a:ext cx="5422392" cy="3246120"/>
          </a:xfrm>
          <a:prstGeom prst="roundRect">
            <a:avLst>
              <a:gd name="adj" fmla="val 2254"/>
            </a:avLst>
          </a:prstGeom>
          <a:solidFill>
            <a:schemeClr val="tx2"/>
          </a:solidFill>
          <a:ln w="12700">
            <a:solidFill>
              <a:schemeClr val="tx2"/>
            </a:solidFill>
            <a:prstDash val="solid"/>
          </a:ln>
        </p:spPr>
      </p:sp>
      <p:sp>
        <p:nvSpPr>
          <p:cNvPr id="5" name="code-label-115"/>
          <p:cNvSpPr txBox="1"/>
          <p:nvPr/>
        </p:nvSpPr>
        <p:spPr>
          <a:xfrm>
            <a:off x="6446520" y="1499616"/>
            <a:ext cx="4965192"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bug: this is not timer</a:t>
            </a:r>
            <a:endParaRPr lang="en-US" sz="1100" dirty="0"/>
          </a:p>
        </p:txBody>
      </p:sp>
      <p:sp>
        <p:nvSpPr>
          <p:cNvPr id="6" name="code-116"/>
          <p:cNvSpPr txBox="1"/>
          <p:nvPr/>
        </p:nvSpPr>
        <p:spPr>
          <a:xfrm>
            <a:off x="6446520" y="1828800"/>
            <a:ext cx="4965192" cy="2679192"/>
          </a:xfrm>
          <a:prstGeom prst="rect">
            <a:avLst/>
          </a:prstGeom>
          <a:noFill/>
          <a:ln/>
        </p:spPr>
        <p:txBody>
          <a:bodyPr wrap="square" lIns="0" tIns="0" rIns="0" bIns="0" rtlCol="0" anchor="t"/>
          <a:lstStyle/>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timer =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seconds: </a:t>
            </a:r>
            <a:pPr indent="0" marL="0">
              <a:buNone/>
            </a:pPr>
            <a:r>
              <a:rPr lang="en-US" sz="1400" dirty="0">
                <a:solidFill>
                  <a:srgbClr val="F7B267"/>
                </a:solidFill>
                <a:latin typeface="Courier New" pitchFamily="34" charset="0"/>
                <a:ea typeface="Courier New" pitchFamily="34" charset="-122"/>
                <a:cs typeface="Courier New" pitchFamily="34" charset="-120"/>
              </a:rPr>
              <a:t>0</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start()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79B8FF"/>
                </a:solidFill>
                <a:latin typeface="Courier New" pitchFamily="34" charset="0"/>
                <a:ea typeface="Courier New" pitchFamily="34" charset="-122"/>
                <a:cs typeface="Courier New" pitchFamily="34" charset="-120"/>
              </a:rPr>
              <a:t>setInterval</a:t>
            </a:r>
            <a:pPr indent="0" marL="0">
              <a:buNone/>
            </a:pPr>
            <a:r>
              <a:rPr lang="en-US" sz="1400" dirty="0">
                <a:solidFill>
                  <a:srgbClr val="E5E7EB"/>
                </a:solidFill>
                <a:latin typeface="Courier New" pitchFamily="34" charset="0"/>
                <a:ea typeface="Courier New" pitchFamily="34" charset="-122"/>
                <a:cs typeface="Courier New" pitchFamily="34" charset="-120"/>
              </a:rPr>
              <a:t>(</a:t>
            </a:r>
            <a:pPr indent="0" marL="0">
              <a:buNone/>
            </a:pPr>
            <a:r>
              <a:rPr lang="en-US" sz="1400" dirty="0">
                <a:solidFill>
                  <a:srgbClr val="C792EA"/>
                </a:solidFill>
                <a:latin typeface="Courier New" pitchFamily="34" charset="0"/>
                <a:ea typeface="Courier New" pitchFamily="34" charset="-122"/>
                <a:cs typeface="Courier New" pitchFamily="34" charset="-120"/>
              </a:rPr>
              <a:t>function </a:t>
            </a:r>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this</a:t>
            </a:r>
            <a:pPr indent="0" marL="0">
              <a:buNone/>
            </a:pPr>
            <a:r>
              <a:rPr lang="en-US" sz="1400" dirty="0">
                <a:solidFill>
                  <a:srgbClr val="E5E7EB"/>
                </a:solidFill>
                <a:latin typeface="Courier New" pitchFamily="34" charset="0"/>
                <a:ea typeface="Courier New" pitchFamily="34" charset="-122"/>
                <a:cs typeface="Courier New" pitchFamily="34" charset="-120"/>
              </a:rPr>
              <a:t>.seconds++;  </a:t>
            </a:r>
            <a:pPr indent="0" marL="0">
              <a:buNone/>
            </a:pPr>
            <a:r>
              <a:rPr lang="en-US" sz="1400" i="1" dirty="0">
                <a:solidFill>
                  <a:srgbClr val="8B949E"/>
                </a:solidFill>
                <a:latin typeface="Courier New" pitchFamily="34" charset="0"/>
                <a:ea typeface="Courier New" pitchFamily="34" charset="-122"/>
                <a:cs typeface="Courier New" pitchFamily="34" charset="-120"/>
              </a:rPr>
              <a:t>// bug!</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 </a:t>
            </a:r>
            <a:pPr indent="0" marL="0">
              <a:buNone/>
            </a:pPr>
            <a:r>
              <a:rPr lang="en-US" sz="1400" dirty="0">
                <a:solidFill>
                  <a:srgbClr val="F7B267"/>
                </a:solidFill>
                <a:latin typeface="Courier New" pitchFamily="34" charset="0"/>
                <a:ea typeface="Courier New" pitchFamily="34" charset="-122"/>
                <a:cs typeface="Courier New" pitchFamily="34" charset="-120"/>
              </a:rPr>
              <a:t>1000</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timer.start();</a:t>
            </a:r>
            <a:endParaRPr lang="en-US" sz="1400" dirty="0"/>
          </a:p>
        </p:txBody>
      </p:sp>
      <p:sp>
        <p:nvSpPr>
          <p:cNvPr id="7" name="code-panel-117"/>
          <p:cNvSpPr/>
          <p:nvPr/>
        </p:nvSpPr>
        <p:spPr>
          <a:xfrm>
            <a:off x="6217920" y="4800600"/>
            <a:ext cx="5422392" cy="1371600"/>
          </a:xfrm>
          <a:prstGeom prst="roundRect">
            <a:avLst>
              <a:gd name="adj" fmla="val 5333"/>
            </a:avLst>
          </a:prstGeom>
          <a:solidFill>
            <a:schemeClr val="tx2"/>
          </a:solidFill>
          <a:ln w="12700">
            <a:solidFill>
              <a:schemeClr val="tx2"/>
            </a:solidFill>
            <a:prstDash val="solid"/>
          </a:ln>
        </p:spPr>
      </p:sp>
      <p:sp>
        <p:nvSpPr>
          <p:cNvPr id="8" name="code-label-118"/>
          <p:cNvSpPr txBox="1"/>
          <p:nvPr/>
        </p:nvSpPr>
        <p:spPr>
          <a:xfrm>
            <a:off x="6446520" y="4928616"/>
            <a:ext cx="4965192"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fix</a:t>
            </a:r>
            <a:endParaRPr lang="en-US" sz="1100" dirty="0"/>
          </a:p>
        </p:txBody>
      </p:sp>
      <p:sp>
        <p:nvSpPr>
          <p:cNvPr id="9" name="code-119"/>
          <p:cNvSpPr txBox="1"/>
          <p:nvPr/>
        </p:nvSpPr>
        <p:spPr>
          <a:xfrm>
            <a:off x="6446520" y="5257800"/>
            <a:ext cx="4965192" cy="804672"/>
          </a:xfrm>
          <a:prstGeom prst="rect">
            <a:avLst/>
          </a:prstGeom>
          <a:noFill/>
          <a:ln/>
        </p:spPr>
        <p:txBody>
          <a:bodyPr wrap="square" lIns="0" tIns="0" rIns="0" bIns="0" rtlCol="0" anchor="t"/>
          <a:lstStyle/>
          <a:p>
            <a:pPr indent="0" marL="0">
              <a:buNone/>
            </a:pPr>
            <a:r>
              <a:rPr lang="en-US" sz="1400" dirty="0">
                <a:solidFill>
                  <a:srgbClr val="79B8FF"/>
                </a:solidFill>
                <a:latin typeface="Courier New" pitchFamily="34" charset="0"/>
                <a:ea typeface="Courier New" pitchFamily="34" charset="-122"/>
                <a:cs typeface="Courier New" pitchFamily="34" charset="-120"/>
              </a:rPr>
              <a:t>setInterval</a:t>
            </a:r>
            <a:pPr indent="0" marL="0">
              <a:buNone/>
            </a:pPr>
            <a:r>
              <a:rPr lang="en-US" sz="1400" dirty="0">
                <a:solidFill>
                  <a:srgbClr val="E5E7EB"/>
                </a:solidFill>
                <a:latin typeface="Courier New" pitchFamily="34" charset="0"/>
                <a:ea typeface="Courier New" pitchFamily="34" charset="-122"/>
                <a:cs typeface="Courier New" pitchFamily="34" charset="-120"/>
              </a:rPr>
              <a:t>(() =&gt; </a:t>
            </a:r>
            <a:pPr indent="0" marL="0">
              <a:buNone/>
            </a:pPr>
            <a:r>
              <a:rPr lang="en-US" sz="1400" dirty="0">
                <a:solidFill>
                  <a:srgbClr val="C792EA"/>
                </a:solidFill>
                <a:latin typeface="Courier New" pitchFamily="34" charset="0"/>
                <a:ea typeface="Courier New" pitchFamily="34" charset="-122"/>
                <a:cs typeface="Courier New" pitchFamily="34" charset="-120"/>
              </a:rPr>
              <a:t>this</a:t>
            </a:r>
            <a:pPr indent="0" marL="0">
              <a:buNone/>
            </a:pPr>
            <a:r>
              <a:rPr lang="en-US" sz="1400" dirty="0">
                <a:solidFill>
                  <a:srgbClr val="E5E7EB"/>
                </a:solidFill>
                <a:latin typeface="Courier New" pitchFamily="34" charset="0"/>
                <a:ea typeface="Courier New" pitchFamily="34" charset="-122"/>
                <a:cs typeface="Courier New" pitchFamily="34" charset="-120"/>
              </a:rPr>
              <a:t>.seconds++, </a:t>
            </a:r>
            <a:pPr indent="0" marL="0">
              <a:buNone/>
            </a:pPr>
            <a:r>
              <a:rPr lang="en-US" sz="1400" dirty="0">
                <a:solidFill>
                  <a:srgbClr val="F7B267"/>
                </a:solidFill>
                <a:latin typeface="Courier New" pitchFamily="34" charset="0"/>
                <a:ea typeface="Courier New" pitchFamily="34" charset="-122"/>
                <a:cs typeface="Courier New" pitchFamily="34" charset="-120"/>
              </a:rPr>
              <a:t>1000</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i="1" dirty="0">
                <a:solidFill>
                  <a:srgbClr val="8B949E"/>
                </a:solidFill>
                <a:latin typeface="Courier New" pitchFamily="34" charset="0"/>
                <a:ea typeface="Courier New" pitchFamily="34" charset="-122"/>
                <a:cs typeface="Courier New" pitchFamily="34" charset="-120"/>
              </a:rPr>
              <a:t>// arrow keeps the this of start()</a:t>
            </a:r>
            <a:endParaRPr lang="en-US" sz="1400" dirty="0"/>
          </a:p>
        </p:txBody>
      </p:sp>
      <p:sp>
        <p:nvSpPr>
          <p:cNvPr id="10" name="this-rule"/>
          <p:cNvSpPr txBox="1"/>
          <p:nvPr/>
        </p:nvSpPr>
        <p:spPr>
          <a:xfrm>
            <a:off x="548640" y="4983480"/>
            <a:ext cx="5394960" cy="914400"/>
          </a:xfrm>
          <a:prstGeom prst="rect">
            <a:avLst/>
          </a:prstGeom>
          <a:noFill/>
          <a:ln/>
        </p:spPr>
        <p:txBody>
          <a:bodyPr wrap="square" lIns="0" tIns="0" rIns="0" bIns="0" rtlCol="0" anchor="ctr"/>
          <a:lstStyle/>
          <a:p>
            <a:pPr indent="0" marL="0">
              <a:buNone/>
            </a:pPr>
            <a:r>
              <a:rPr lang="en-US" sz="1800" b="1" dirty="0">
                <a:solidFill>
                  <a:schemeClr val="tx1"/>
                </a:solidFill>
              </a:rPr>
              <a:t>Look at the call site, not the definition.</a:t>
            </a:r>
            <a:endParaRPr lang="en-US" sz="18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Objects: destructuring and spread</a:t>
            </a:r>
            <a:endParaRPr lang="en-US" sz="3200" dirty="0"/>
          </a:p>
        </p:txBody>
      </p:sp>
      <p:sp>
        <p:nvSpPr>
          <p:cNvPr id="3" name="code-panel-120"/>
          <p:cNvSpPr/>
          <p:nvPr/>
        </p:nvSpPr>
        <p:spPr>
          <a:xfrm>
            <a:off x="548640" y="1371600"/>
            <a:ext cx="6675120" cy="4800600"/>
          </a:xfrm>
          <a:prstGeom prst="roundRect">
            <a:avLst>
              <a:gd name="adj" fmla="val 1524"/>
            </a:avLst>
          </a:prstGeom>
          <a:solidFill>
            <a:schemeClr val="tx2"/>
          </a:solidFill>
          <a:ln w="12700">
            <a:solidFill>
              <a:schemeClr val="tx2"/>
            </a:solidFill>
            <a:prstDash val="solid"/>
          </a:ln>
        </p:spPr>
      </p:sp>
      <p:sp>
        <p:nvSpPr>
          <p:cNvPr id="4" name="code-label-121"/>
          <p:cNvSpPr txBox="1"/>
          <p:nvPr/>
        </p:nvSpPr>
        <p:spPr>
          <a:xfrm>
            <a:off x="777240" y="1499616"/>
            <a:ext cx="6217920"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objects.js</a:t>
            </a:r>
            <a:endParaRPr lang="en-US" sz="1100" dirty="0"/>
          </a:p>
        </p:txBody>
      </p:sp>
      <p:sp>
        <p:nvSpPr>
          <p:cNvPr id="5" name="code-122"/>
          <p:cNvSpPr txBox="1"/>
          <p:nvPr/>
        </p:nvSpPr>
        <p:spPr>
          <a:xfrm>
            <a:off x="777240" y="1828800"/>
            <a:ext cx="6217920" cy="4233672"/>
          </a:xfrm>
          <a:prstGeom prst="rect">
            <a:avLst/>
          </a:prstGeom>
          <a:noFill/>
          <a:ln/>
        </p:spPr>
        <p:txBody>
          <a:bodyPr wrap="square" lIns="0" tIns="0" rIns="0" bIns="0" rtlCol="0" anchor="t"/>
          <a:lstStyle/>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user = { id: </a:t>
            </a:r>
            <a:pPr indent="0" marL="0">
              <a:buNone/>
            </a:pPr>
            <a:r>
              <a:rPr lang="en-US" sz="1400" dirty="0">
                <a:solidFill>
                  <a:srgbClr val="F7B267"/>
                </a:solidFill>
                <a:latin typeface="Courier New" pitchFamily="34" charset="0"/>
                <a:ea typeface="Courier New" pitchFamily="34" charset="-122"/>
                <a:cs typeface="Courier New" pitchFamily="34" charset="-120"/>
              </a:rPr>
              <a:t>7</a:t>
            </a:r>
            <a:pPr indent="0" marL="0">
              <a:buNone/>
            </a:pPr>
            <a:r>
              <a:rPr lang="en-US" sz="1400" dirty="0">
                <a:solidFill>
                  <a:srgbClr val="E5E7EB"/>
                </a:solidFill>
                <a:latin typeface="Courier New" pitchFamily="34" charset="0"/>
                <a:ea typeface="Courier New" pitchFamily="34" charset="-122"/>
                <a:cs typeface="Courier New" pitchFamily="34" charset="-120"/>
              </a:rPr>
              <a:t>, name: </a:t>
            </a:r>
            <a:pPr indent="0" marL="0">
              <a:buNone/>
            </a:pPr>
            <a:r>
              <a:rPr lang="en-US" sz="1400" dirty="0">
                <a:solidFill>
                  <a:srgbClr val="A5D6A7"/>
                </a:solidFill>
                <a:latin typeface="Courier New" pitchFamily="34" charset="0"/>
                <a:ea typeface="Courier New" pitchFamily="34" charset="-122"/>
                <a:cs typeface="Courier New" pitchFamily="34" charset="-120"/>
              </a:rPr>
              <a:t>"Dara"</a:t>
            </a:r>
            <a:pPr indent="0" marL="0">
              <a:buNone/>
            </a:pPr>
            <a:r>
              <a:rPr lang="en-US" sz="1400" dirty="0">
                <a:solidFill>
                  <a:srgbClr val="E5E7EB"/>
                </a:solidFill>
                <a:latin typeface="Courier New" pitchFamily="34" charset="0"/>
                <a:ea typeface="Courier New" pitchFamily="34" charset="-122"/>
                <a:cs typeface="Courier New" pitchFamily="34" charset="-120"/>
              </a:rPr>
              <a:t>, role: </a:t>
            </a:r>
            <a:pPr indent="0" marL="0">
              <a:buNone/>
            </a:pPr>
            <a:r>
              <a:rPr lang="en-US" sz="1400" dirty="0">
                <a:solidFill>
                  <a:srgbClr val="A5D6A7"/>
                </a:solidFill>
                <a:latin typeface="Courier New" pitchFamily="34" charset="0"/>
                <a:ea typeface="Courier New" pitchFamily="34" charset="-122"/>
                <a:cs typeface="Courier New" pitchFamily="34" charset="-120"/>
              </a:rPr>
              <a:t>"admin" </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i="1" dirty="0">
                <a:solidFill>
                  <a:srgbClr val="8B949E"/>
                </a:solidFill>
                <a:latin typeface="Courier New" pitchFamily="34" charset="0"/>
                <a:ea typeface="Courier New" pitchFamily="34" charset="-122"/>
                <a:cs typeface="Courier New" pitchFamily="34" charset="-120"/>
              </a:rPr>
              <a:t>// destructuring: pull values out</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 name, role = </a:t>
            </a:r>
            <a:pPr indent="0" marL="0">
              <a:buNone/>
            </a:pPr>
            <a:r>
              <a:rPr lang="en-US" sz="1400" dirty="0">
                <a:solidFill>
                  <a:srgbClr val="A5D6A7"/>
                </a:solidFill>
                <a:latin typeface="Courier New" pitchFamily="34" charset="0"/>
                <a:ea typeface="Courier New" pitchFamily="34" charset="-122"/>
                <a:cs typeface="Courier New" pitchFamily="34" charset="-120"/>
              </a:rPr>
              <a:t>"student" </a:t>
            </a:r>
            <a:pPr indent="0" marL="0">
              <a:buNone/>
            </a:pPr>
            <a:r>
              <a:rPr lang="en-US" sz="1400" dirty="0">
                <a:solidFill>
                  <a:srgbClr val="E5E7EB"/>
                </a:solidFill>
                <a:latin typeface="Courier New" pitchFamily="34" charset="0"/>
                <a:ea typeface="Courier New" pitchFamily="34" charset="-122"/>
                <a:cs typeface="Courier New" pitchFamily="34" charset="-120"/>
              </a:rPr>
              <a:t>} = user;</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[first, ...rest] = [</a:t>
            </a:r>
            <a:pPr indent="0" marL="0">
              <a:buNone/>
            </a:pPr>
            <a:r>
              <a:rPr lang="en-US" sz="1400" dirty="0">
                <a:solidFill>
                  <a:srgbClr val="F7B267"/>
                </a:solidFill>
                <a:latin typeface="Courier New" pitchFamily="34" charset="0"/>
                <a:ea typeface="Courier New" pitchFamily="34" charset="-122"/>
                <a:cs typeface="Courier New" pitchFamily="34" charset="-120"/>
              </a:rPr>
              <a:t>3</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F7B267"/>
                </a:solidFill>
                <a:latin typeface="Courier New" pitchFamily="34" charset="0"/>
                <a:ea typeface="Courier New" pitchFamily="34" charset="-122"/>
                <a:cs typeface="Courier New" pitchFamily="34" charset="-120"/>
              </a:rPr>
              <a:t>1</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F7B267"/>
                </a:solidFill>
                <a:latin typeface="Courier New" pitchFamily="34" charset="0"/>
                <a:ea typeface="Courier New" pitchFamily="34" charset="-122"/>
                <a:cs typeface="Courier New" pitchFamily="34" charset="-120"/>
              </a:rPr>
              <a:t>4</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F7B267"/>
                </a:solidFill>
                <a:latin typeface="Courier New" pitchFamily="34" charset="0"/>
                <a:ea typeface="Courier New" pitchFamily="34" charset="-122"/>
                <a:cs typeface="Courier New" pitchFamily="34" charset="-120"/>
              </a:rPr>
              <a:t>1</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i="1" dirty="0">
                <a:solidFill>
                  <a:srgbClr val="8B949E"/>
                </a:solidFill>
                <a:latin typeface="Courier New" pitchFamily="34" charset="0"/>
                <a:ea typeface="Courier New" pitchFamily="34" charset="-122"/>
                <a:cs typeface="Courier New" pitchFamily="34" charset="-120"/>
              </a:rPr>
              <a:t>// spread: copy into something new</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updated = { ...user, role: </a:t>
            </a:r>
            <a:pPr indent="0" marL="0">
              <a:buNone/>
            </a:pPr>
            <a:r>
              <a:rPr lang="en-US" sz="1400" dirty="0">
                <a:solidFill>
                  <a:srgbClr val="A5D6A7"/>
                </a:solidFill>
                <a:latin typeface="Courier New" pitchFamily="34" charset="0"/>
                <a:ea typeface="Courier New" pitchFamily="34" charset="-122"/>
                <a:cs typeface="Courier New" pitchFamily="34" charset="-120"/>
              </a:rPr>
              <a:t>"editor" </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more = [...rest, </a:t>
            </a:r>
            <a:pPr indent="0" marL="0">
              <a:buNone/>
            </a:pPr>
            <a:r>
              <a:rPr lang="en-US" sz="1400" dirty="0">
                <a:solidFill>
                  <a:srgbClr val="F7B267"/>
                </a:solidFill>
                <a:latin typeface="Courier New" pitchFamily="34" charset="0"/>
                <a:ea typeface="Courier New" pitchFamily="34" charset="-122"/>
                <a:cs typeface="Courier New" pitchFamily="34" charset="-120"/>
              </a:rPr>
              <a:t>5</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F7B267"/>
                </a:solidFill>
                <a:latin typeface="Courier New" pitchFamily="34" charset="0"/>
                <a:ea typeface="Courier New" pitchFamily="34" charset="-122"/>
                <a:cs typeface="Courier New" pitchFamily="34" charset="-120"/>
              </a:rPr>
              <a:t>9</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i="1" dirty="0">
                <a:solidFill>
                  <a:srgbClr val="8B949E"/>
                </a:solidFill>
                <a:latin typeface="Courier New" pitchFamily="34" charset="0"/>
                <a:ea typeface="Courier New" pitchFamily="34" charset="-122"/>
                <a:cs typeface="Courier New" pitchFamily="34" charset="-120"/>
              </a:rPr>
              <a:t>// shorthand and computed keys</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key = </a:t>
            </a:r>
            <a:pPr indent="0" marL="0">
              <a:buNone/>
            </a:pPr>
            <a:r>
              <a:rPr lang="en-US" sz="1400" dirty="0">
                <a:solidFill>
                  <a:srgbClr val="A5D6A7"/>
                </a:solidFill>
                <a:latin typeface="Courier New" pitchFamily="34" charset="0"/>
                <a:ea typeface="Courier New" pitchFamily="34" charset="-122"/>
                <a:cs typeface="Courier New" pitchFamily="34" charset="-120"/>
              </a:rPr>
              <a:t>"score"</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row = { name, [key]: </a:t>
            </a:r>
            <a:pPr indent="0" marL="0">
              <a:buNone/>
            </a:pPr>
            <a:r>
              <a:rPr lang="en-US" sz="1400" dirty="0">
                <a:solidFill>
                  <a:srgbClr val="F7B267"/>
                </a:solidFill>
                <a:latin typeface="Courier New" pitchFamily="34" charset="0"/>
                <a:ea typeface="Courier New" pitchFamily="34" charset="-122"/>
                <a:cs typeface="Courier New" pitchFamily="34" charset="-120"/>
              </a:rPr>
              <a:t>95 </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i="1" dirty="0">
                <a:solidFill>
                  <a:srgbClr val="8B949E"/>
                </a:solidFill>
                <a:latin typeface="Courier New" pitchFamily="34" charset="0"/>
                <a:ea typeface="Courier New" pitchFamily="34" charset="-122"/>
                <a:cs typeface="Courier New" pitchFamily="34" charset="-120"/>
              </a:rPr>
              <a:t>// { name: "Dara", score: 95 }</a:t>
            </a:r>
            <a:endParaRPr lang="en-US" sz="1400" dirty="0"/>
          </a:p>
        </p:txBody>
      </p:sp>
      <p:sp>
        <p:nvSpPr>
          <p:cNvPr id="6" name="dot-123"/>
          <p:cNvSpPr txBox="1"/>
          <p:nvPr/>
        </p:nvSpPr>
        <p:spPr>
          <a:xfrm>
            <a:off x="7543800" y="141732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rgbClr val="1B1B1F"/>
                </a:solidFill>
              </a:rPr>
              <a:t>1</a:t>
            </a:r>
            <a:endParaRPr lang="en-US" sz="1500" dirty="0"/>
          </a:p>
        </p:txBody>
      </p:sp>
      <p:sp>
        <p:nvSpPr>
          <p:cNvPr id="7" name="obj-item-124"/>
          <p:cNvSpPr txBox="1"/>
          <p:nvPr/>
        </p:nvSpPr>
        <p:spPr>
          <a:xfrm>
            <a:off x="8183880" y="1371600"/>
            <a:ext cx="3474720" cy="141732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Destructuring</a:t>
            </a:r>
            <a:endParaRPr lang="en-US" sz="1800" dirty="0"/>
          </a:p>
          <a:p>
            <a:pPr indent="0" marL="0">
              <a:spcAft>
                <a:spcPts val="400"/>
              </a:spcAft>
              <a:buNone/>
            </a:pPr>
            <a:r>
              <a:rPr lang="en-US" sz="1500" dirty="0">
                <a:solidFill>
                  <a:srgbClr val="374151"/>
                </a:solidFill>
              </a:rPr>
              <a:t>Name only the fields you need. Defaults apply when a value is undefined.</a:t>
            </a:r>
            <a:endParaRPr lang="en-US" sz="1800" dirty="0"/>
          </a:p>
        </p:txBody>
      </p:sp>
      <p:sp>
        <p:nvSpPr>
          <p:cNvPr id="8" name="dot-125"/>
          <p:cNvSpPr txBox="1"/>
          <p:nvPr/>
        </p:nvSpPr>
        <p:spPr>
          <a:xfrm>
            <a:off x="7543800" y="3044952"/>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rgbClr val="1B1B1F"/>
                </a:solidFill>
              </a:rPr>
              <a:t>2</a:t>
            </a:r>
            <a:endParaRPr lang="en-US" sz="1500" dirty="0"/>
          </a:p>
        </p:txBody>
      </p:sp>
      <p:sp>
        <p:nvSpPr>
          <p:cNvPr id="9" name="obj-item-126"/>
          <p:cNvSpPr txBox="1"/>
          <p:nvPr/>
        </p:nvSpPr>
        <p:spPr>
          <a:xfrm>
            <a:off x="8183880" y="2999232"/>
            <a:ext cx="3474720" cy="141732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Spread</a:t>
            </a:r>
            <a:endParaRPr lang="en-US" sz="1800" dirty="0"/>
          </a:p>
          <a:p>
            <a:pPr indent="0" marL="0">
              <a:spcAft>
                <a:spcPts val="400"/>
              </a:spcAft>
              <a:buNone/>
            </a:pPr>
            <a:r>
              <a:rPr lang="en-US" sz="1500" dirty="0">
                <a:solidFill>
                  <a:srgbClr val="374151"/>
                </a:solidFill>
              </a:rPr>
              <a:t>Builds a new object or array. Later keys overwrite earlier ones.</a:t>
            </a:r>
            <a:endParaRPr lang="en-US" sz="1800" dirty="0"/>
          </a:p>
        </p:txBody>
      </p:sp>
      <p:sp>
        <p:nvSpPr>
          <p:cNvPr id="10" name="dot-127"/>
          <p:cNvSpPr txBox="1"/>
          <p:nvPr/>
        </p:nvSpPr>
        <p:spPr>
          <a:xfrm>
            <a:off x="7543800" y="4672584"/>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rgbClr val="1B1B1F"/>
                </a:solidFill>
              </a:rPr>
              <a:t>3</a:t>
            </a:r>
            <a:endParaRPr lang="en-US" sz="1500" dirty="0"/>
          </a:p>
        </p:txBody>
      </p:sp>
      <p:sp>
        <p:nvSpPr>
          <p:cNvPr id="11" name="obj-item-128"/>
          <p:cNvSpPr txBox="1"/>
          <p:nvPr/>
        </p:nvSpPr>
        <p:spPr>
          <a:xfrm>
            <a:off x="8183880" y="4626864"/>
            <a:ext cx="3474720" cy="141732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Everywhere</a:t>
            </a:r>
            <a:endParaRPr lang="en-US" sz="1800" dirty="0"/>
          </a:p>
          <a:p>
            <a:pPr indent="0" marL="0">
              <a:spcAft>
                <a:spcPts val="400"/>
              </a:spcAft>
              <a:buNone/>
            </a:pPr>
            <a:r>
              <a:rPr lang="en-US" sz="1500" dirty="0">
                <a:solidFill>
                  <a:srgbClr val="374151"/>
                </a:solidFill>
              </a:rPr>
              <a:t>React props, NestJS DTOs and API responses all use these patterns.</a:t>
            </a:r>
            <a:endParaRPr lang="en-US" sz="18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Array methods: describe the what, not the how</a:t>
            </a:r>
            <a:endParaRPr lang="en-US" sz="3200" dirty="0"/>
          </a:p>
        </p:txBody>
      </p:sp>
      <p:sp>
        <p:nvSpPr>
          <p:cNvPr id="3" name="box-129"/>
          <p:cNvSpPr txBox="1"/>
          <p:nvPr/>
        </p:nvSpPr>
        <p:spPr>
          <a:xfrm>
            <a:off x="548640" y="1371600"/>
            <a:ext cx="2514600" cy="1051560"/>
          </a:xfrm>
          <a:prstGeom prst="roundRect">
            <a:avLst>
              <a:gd name="adj" fmla="val 6957"/>
            </a:avLst>
          </a:prstGeom>
          <a:solidFill>
            <a:schemeClr val="bg2"/>
          </a:solidFill>
          <a:ln w="12700">
            <a:solidFill>
              <a:schemeClr val="bg2"/>
            </a:solidFill>
          </a:ln>
        </p:spPr>
        <p:txBody>
          <a:bodyPr wrap="square" lIns="50800" tIns="50800" rIns="50800" bIns="5080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orders</a:t>
            </a:r>
            <a:endParaRPr lang="en-US" sz="1500" dirty="0"/>
          </a:p>
          <a:p>
            <a:pPr algn="ctr" indent="0" marL="0">
              <a:buNone/>
            </a:pPr>
            <a:r>
              <a:rPr lang="en-US" sz="1500" dirty="0">
                <a:solidFill>
                  <a:schemeClr val="tx1"/>
                </a:solidFill>
              </a:rPr>
              <a:t>3 orders</a:t>
            </a:r>
            <a:endParaRPr lang="en-US" sz="1500" dirty="0"/>
          </a:p>
        </p:txBody>
      </p:sp>
      <p:sp>
        <p:nvSpPr>
          <p:cNvPr id="4" name="arrow-130"/>
          <p:cNvSpPr/>
          <p:nvPr/>
        </p:nvSpPr>
        <p:spPr>
          <a:xfrm>
            <a:off x="3090672" y="1897380"/>
            <a:ext cx="283464" cy="0"/>
          </a:xfrm>
          <a:prstGeom prst="line">
            <a:avLst/>
          </a:prstGeom>
          <a:noFill/>
          <a:ln w="25400">
            <a:solidFill>
              <a:srgbClr val="9CA3AF"/>
            </a:solidFill>
            <a:prstDash val="solid"/>
            <a:tailEnd type="triangle"/>
          </a:ln>
        </p:spPr>
      </p:sp>
      <p:sp>
        <p:nvSpPr>
          <p:cNvPr id="5" name="box-131"/>
          <p:cNvSpPr txBox="1"/>
          <p:nvPr/>
        </p:nvSpPr>
        <p:spPr>
          <a:xfrm>
            <a:off x="3401568" y="1371600"/>
            <a:ext cx="2514600" cy="1051560"/>
          </a:xfrm>
          <a:prstGeom prst="roundRect">
            <a:avLst>
              <a:gd name="adj" fmla="val 6957"/>
            </a:avLst>
          </a:prstGeom>
          <a:solidFill>
            <a:schemeClr val="bg2"/>
          </a:solidFill>
          <a:ln w="12700">
            <a:solidFill>
              <a:schemeClr val="bg2"/>
            </a:solidFill>
          </a:ln>
        </p:spPr>
        <p:txBody>
          <a:bodyPr wrap="square" lIns="50800" tIns="50800" rIns="50800" bIns="5080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.filter(o =&gt; o.paid)</a:t>
            </a:r>
            <a:endParaRPr lang="en-US" sz="1500" dirty="0"/>
          </a:p>
          <a:p>
            <a:pPr algn="ctr" indent="0" marL="0">
              <a:buNone/>
            </a:pPr>
            <a:r>
              <a:rPr lang="en-US" sz="1500" dirty="0">
                <a:solidFill>
                  <a:schemeClr val="tx1"/>
                </a:solidFill>
              </a:rPr>
              <a:t>2 paid orders</a:t>
            </a:r>
            <a:endParaRPr lang="en-US" sz="1500" dirty="0"/>
          </a:p>
        </p:txBody>
      </p:sp>
      <p:sp>
        <p:nvSpPr>
          <p:cNvPr id="6" name="arrow-132"/>
          <p:cNvSpPr/>
          <p:nvPr/>
        </p:nvSpPr>
        <p:spPr>
          <a:xfrm>
            <a:off x="5943600" y="1897380"/>
            <a:ext cx="283464" cy="0"/>
          </a:xfrm>
          <a:prstGeom prst="line">
            <a:avLst/>
          </a:prstGeom>
          <a:noFill/>
          <a:ln w="25400">
            <a:solidFill>
              <a:srgbClr val="9CA3AF"/>
            </a:solidFill>
            <a:prstDash val="solid"/>
            <a:tailEnd type="triangle"/>
          </a:ln>
        </p:spPr>
      </p:sp>
      <p:sp>
        <p:nvSpPr>
          <p:cNvPr id="7" name="box-133"/>
          <p:cNvSpPr txBox="1"/>
          <p:nvPr/>
        </p:nvSpPr>
        <p:spPr>
          <a:xfrm>
            <a:off x="6254496" y="1371600"/>
            <a:ext cx="2514600" cy="1051560"/>
          </a:xfrm>
          <a:prstGeom prst="roundRect">
            <a:avLst>
              <a:gd name="adj" fmla="val 6957"/>
            </a:avLst>
          </a:prstGeom>
          <a:solidFill>
            <a:schemeClr val="bg2"/>
          </a:solidFill>
          <a:ln w="12700">
            <a:solidFill>
              <a:schemeClr val="bg2"/>
            </a:solidFill>
          </a:ln>
        </p:spPr>
        <p:txBody>
          <a:bodyPr wrap="square" lIns="50800" tIns="50800" rIns="50800" bIns="5080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.map(o =&gt; o.total)</a:t>
            </a:r>
            <a:endParaRPr lang="en-US" sz="1500" dirty="0"/>
          </a:p>
          <a:p>
            <a:pPr algn="ctr" indent="0" marL="0">
              <a:buNone/>
            </a:pPr>
            <a:r>
              <a:rPr lang="en-US" sz="1500" dirty="0">
                <a:solidFill>
                  <a:schemeClr val="tx1"/>
                </a:solidFill>
              </a:rPr>
              <a:t>[120, 125]</a:t>
            </a:r>
            <a:endParaRPr lang="en-US" sz="1500" dirty="0"/>
          </a:p>
        </p:txBody>
      </p:sp>
      <p:sp>
        <p:nvSpPr>
          <p:cNvPr id="8" name="arrow-134"/>
          <p:cNvSpPr/>
          <p:nvPr/>
        </p:nvSpPr>
        <p:spPr>
          <a:xfrm>
            <a:off x="8796528" y="1897380"/>
            <a:ext cx="283464" cy="0"/>
          </a:xfrm>
          <a:prstGeom prst="line">
            <a:avLst/>
          </a:prstGeom>
          <a:noFill/>
          <a:ln w="25400">
            <a:solidFill>
              <a:srgbClr val="9CA3AF"/>
            </a:solidFill>
            <a:prstDash val="solid"/>
            <a:tailEnd type="triangle"/>
          </a:ln>
        </p:spPr>
      </p:sp>
      <p:sp>
        <p:nvSpPr>
          <p:cNvPr id="9" name="box-135"/>
          <p:cNvSpPr txBox="1"/>
          <p:nvPr/>
        </p:nvSpPr>
        <p:spPr>
          <a:xfrm>
            <a:off x="9107424" y="1371600"/>
            <a:ext cx="2514600" cy="1051560"/>
          </a:xfrm>
          <a:prstGeom prst="roundRect">
            <a:avLst>
              <a:gd name="adj" fmla="val 6957"/>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400" b="1" dirty="0">
                <a:solidFill>
                  <a:srgbClr val="1B1B1F"/>
                </a:solidFill>
                <a:latin typeface="Courier New" pitchFamily="34" charset="0"/>
                <a:ea typeface="Courier New" pitchFamily="34" charset="-122"/>
                <a:cs typeface="Courier New" pitchFamily="34" charset="-120"/>
              </a:rPr>
              <a:t>.reduce(sum, 0)</a:t>
            </a:r>
            <a:endParaRPr lang="en-US" sz="1500" dirty="0"/>
          </a:p>
          <a:p>
            <a:pPr algn="ctr" indent="0" marL="0">
              <a:buNone/>
            </a:pPr>
            <a:r>
              <a:rPr lang="en-US" sz="1500" dirty="0">
                <a:solidFill>
                  <a:srgbClr val="1B1B1F"/>
                </a:solidFill>
              </a:rPr>
              <a:t>245</a:t>
            </a:r>
            <a:endParaRPr lang="en-US" sz="1500" dirty="0"/>
          </a:p>
        </p:txBody>
      </p:sp>
      <p:sp>
        <p:nvSpPr>
          <p:cNvPr id="10" name="code-panel-136"/>
          <p:cNvSpPr/>
          <p:nvPr/>
        </p:nvSpPr>
        <p:spPr>
          <a:xfrm>
            <a:off x="548640" y="2697480"/>
            <a:ext cx="6675120" cy="3474720"/>
          </a:xfrm>
          <a:prstGeom prst="roundRect">
            <a:avLst>
              <a:gd name="adj" fmla="val 2105"/>
            </a:avLst>
          </a:prstGeom>
          <a:solidFill>
            <a:schemeClr val="tx2"/>
          </a:solidFill>
          <a:ln w="12700">
            <a:solidFill>
              <a:schemeClr val="tx2"/>
            </a:solidFill>
            <a:prstDash val="solid"/>
          </a:ln>
        </p:spPr>
      </p:sp>
      <p:sp>
        <p:nvSpPr>
          <p:cNvPr id="11" name="code-label-137"/>
          <p:cNvSpPr txBox="1"/>
          <p:nvPr/>
        </p:nvSpPr>
        <p:spPr>
          <a:xfrm>
            <a:off x="777240" y="2825496"/>
            <a:ext cx="6217920"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pipeline.js</a:t>
            </a:r>
            <a:endParaRPr lang="en-US" sz="1100" dirty="0"/>
          </a:p>
        </p:txBody>
      </p:sp>
      <p:sp>
        <p:nvSpPr>
          <p:cNvPr id="12" name="code-138"/>
          <p:cNvSpPr txBox="1"/>
          <p:nvPr/>
        </p:nvSpPr>
        <p:spPr>
          <a:xfrm>
            <a:off x="777240" y="3154680"/>
            <a:ext cx="6217920" cy="2907792"/>
          </a:xfrm>
          <a:prstGeom prst="rect">
            <a:avLst/>
          </a:prstGeom>
          <a:noFill/>
          <a:ln/>
        </p:spPr>
        <p:txBody>
          <a:bodyPr wrap="square" lIns="0" tIns="0" rIns="0" bIns="0" rtlCol="0" anchor="t"/>
          <a:lstStyle/>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orders =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 id: </a:t>
            </a:r>
            <a:pPr indent="0" marL="0">
              <a:buNone/>
            </a:pPr>
            <a:r>
              <a:rPr lang="en-US" sz="1400" dirty="0">
                <a:solidFill>
                  <a:srgbClr val="F7B267"/>
                </a:solidFill>
                <a:latin typeface="Courier New" pitchFamily="34" charset="0"/>
                <a:ea typeface="Courier New" pitchFamily="34" charset="-122"/>
                <a:cs typeface="Courier New" pitchFamily="34" charset="-120"/>
              </a:rPr>
              <a:t>1</a:t>
            </a:r>
            <a:pPr indent="0" marL="0">
              <a:buNone/>
            </a:pPr>
            <a:r>
              <a:rPr lang="en-US" sz="1400" dirty="0">
                <a:solidFill>
                  <a:srgbClr val="E5E7EB"/>
                </a:solidFill>
                <a:latin typeface="Courier New" pitchFamily="34" charset="0"/>
                <a:ea typeface="Courier New" pitchFamily="34" charset="-122"/>
                <a:cs typeface="Courier New" pitchFamily="34" charset="-120"/>
              </a:rPr>
              <a:t>, paid: </a:t>
            </a:r>
            <a:pPr indent="0" marL="0">
              <a:buNone/>
            </a:pPr>
            <a:r>
              <a:rPr lang="en-US" sz="1400" dirty="0">
                <a:solidFill>
                  <a:srgbClr val="F7B267"/>
                </a:solidFill>
                <a:latin typeface="Courier New" pitchFamily="34" charset="0"/>
                <a:ea typeface="Courier New" pitchFamily="34" charset="-122"/>
                <a:cs typeface="Courier New" pitchFamily="34" charset="-120"/>
              </a:rPr>
              <a:t>true</a:t>
            </a:r>
            <a:pPr indent="0" marL="0">
              <a:buNone/>
            </a:pPr>
            <a:r>
              <a:rPr lang="en-US" sz="1400" dirty="0">
                <a:solidFill>
                  <a:srgbClr val="E5E7EB"/>
                </a:solidFill>
                <a:latin typeface="Courier New" pitchFamily="34" charset="0"/>
                <a:ea typeface="Courier New" pitchFamily="34" charset="-122"/>
                <a:cs typeface="Courier New" pitchFamily="34" charset="-120"/>
              </a:rPr>
              <a:t>,  total: </a:t>
            </a:r>
            <a:pPr indent="0" marL="0">
              <a:buNone/>
            </a:pPr>
            <a:r>
              <a:rPr lang="en-US" sz="1400" dirty="0">
                <a:solidFill>
                  <a:srgbClr val="F7B267"/>
                </a:solidFill>
                <a:latin typeface="Courier New" pitchFamily="34" charset="0"/>
                <a:ea typeface="Courier New" pitchFamily="34" charset="-122"/>
                <a:cs typeface="Courier New" pitchFamily="34" charset="-120"/>
              </a:rPr>
              <a:t>120 </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 id: </a:t>
            </a:r>
            <a:pPr indent="0" marL="0">
              <a:buNone/>
            </a:pPr>
            <a:r>
              <a:rPr lang="en-US" sz="1400" dirty="0">
                <a:solidFill>
                  <a:srgbClr val="F7B267"/>
                </a:solidFill>
                <a:latin typeface="Courier New" pitchFamily="34" charset="0"/>
                <a:ea typeface="Courier New" pitchFamily="34" charset="-122"/>
                <a:cs typeface="Courier New" pitchFamily="34" charset="-120"/>
              </a:rPr>
              <a:t>2</a:t>
            </a:r>
            <a:pPr indent="0" marL="0">
              <a:buNone/>
            </a:pPr>
            <a:r>
              <a:rPr lang="en-US" sz="1400" dirty="0">
                <a:solidFill>
                  <a:srgbClr val="E5E7EB"/>
                </a:solidFill>
                <a:latin typeface="Courier New" pitchFamily="34" charset="0"/>
                <a:ea typeface="Courier New" pitchFamily="34" charset="-122"/>
                <a:cs typeface="Courier New" pitchFamily="34" charset="-120"/>
              </a:rPr>
              <a:t>, paid: </a:t>
            </a:r>
            <a:pPr indent="0" marL="0">
              <a:buNone/>
            </a:pPr>
            <a:r>
              <a:rPr lang="en-US" sz="1400" dirty="0">
                <a:solidFill>
                  <a:srgbClr val="F7B267"/>
                </a:solidFill>
                <a:latin typeface="Courier New" pitchFamily="34" charset="0"/>
                <a:ea typeface="Courier New" pitchFamily="34" charset="-122"/>
                <a:cs typeface="Courier New" pitchFamily="34" charset="-120"/>
              </a:rPr>
              <a:t>false</a:t>
            </a:r>
            <a:pPr indent="0" marL="0">
              <a:buNone/>
            </a:pPr>
            <a:r>
              <a:rPr lang="en-US" sz="1400" dirty="0">
                <a:solidFill>
                  <a:srgbClr val="E5E7EB"/>
                </a:solidFill>
                <a:latin typeface="Courier New" pitchFamily="34" charset="0"/>
                <a:ea typeface="Courier New" pitchFamily="34" charset="-122"/>
                <a:cs typeface="Courier New" pitchFamily="34" charset="-120"/>
              </a:rPr>
              <a:t>, total: </a:t>
            </a:r>
            <a:pPr indent="0" marL="0">
              <a:buNone/>
            </a:pPr>
            <a:r>
              <a:rPr lang="en-US" sz="1400" dirty="0">
                <a:solidFill>
                  <a:srgbClr val="F7B267"/>
                </a:solidFill>
                <a:latin typeface="Courier New" pitchFamily="34" charset="0"/>
                <a:ea typeface="Courier New" pitchFamily="34" charset="-122"/>
                <a:cs typeface="Courier New" pitchFamily="34" charset="-120"/>
              </a:rPr>
              <a:t>80 </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 id: </a:t>
            </a:r>
            <a:pPr indent="0" marL="0">
              <a:buNone/>
            </a:pPr>
            <a:r>
              <a:rPr lang="en-US" sz="1400" dirty="0">
                <a:solidFill>
                  <a:srgbClr val="F7B267"/>
                </a:solidFill>
                <a:latin typeface="Courier New" pitchFamily="34" charset="0"/>
                <a:ea typeface="Courier New" pitchFamily="34" charset="-122"/>
                <a:cs typeface="Courier New" pitchFamily="34" charset="-120"/>
              </a:rPr>
              <a:t>3</a:t>
            </a:r>
            <a:pPr indent="0" marL="0">
              <a:buNone/>
            </a:pPr>
            <a:r>
              <a:rPr lang="en-US" sz="1400" dirty="0">
                <a:solidFill>
                  <a:srgbClr val="E5E7EB"/>
                </a:solidFill>
                <a:latin typeface="Courier New" pitchFamily="34" charset="0"/>
                <a:ea typeface="Courier New" pitchFamily="34" charset="-122"/>
                <a:cs typeface="Courier New" pitchFamily="34" charset="-120"/>
              </a:rPr>
              <a:t>, paid: </a:t>
            </a:r>
            <a:pPr indent="0" marL="0">
              <a:buNone/>
            </a:pPr>
            <a:r>
              <a:rPr lang="en-US" sz="1400" dirty="0">
                <a:solidFill>
                  <a:srgbClr val="F7B267"/>
                </a:solidFill>
                <a:latin typeface="Courier New" pitchFamily="34" charset="0"/>
                <a:ea typeface="Courier New" pitchFamily="34" charset="-122"/>
                <a:cs typeface="Courier New" pitchFamily="34" charset="-120"/>
              </a:rPr>
              <a:t>true</a:t>
            </a:r>
            <a:pPr indent="0" marL="0">
              <a:buNone/>
            </a:pPr>
            <a:r>
              <a:rPr lang="en-US" sz="1400" dirty="0">
                <a:solidFill>
                  <a:srgbClr val="E5E7EB"/>
                </a:solidFill>
                <a:latin typeface="Courier New" pitchFamily="34" charset="0"/>
                <a:ea typeface="Courier New" pitchFamily="34" charset="-122"/>
                <a:cs typeface="Courier New" pitchFamily="34" charset="-120"/>
              </a:rPr>
              <a:t>,  total: </a:t>
            </a:r>
            <a:pPr indent="0" marL="0">
              <a:buNone/>
            </a:pPr>
            <a:r>
              <a:rPr lang="en-US" sz="1400" dirty="0">
                <a:solidFill>
                  <a:srgbClr val="F7B267"/>
                </a:solidFill>
                <a:latin typeface="Courier New" pitchFamily="34" charset="0"/>
                <a:ea typeface="Courier New" pitchFamily="34" charset="-122"/>
                <a:cs typeface="Courier New" pitchFamily="34" charset="-120"/>
              </a:rPr>
              <a:t>125 </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revenue = orders</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.filter(o =&gt; o.paid)</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.map(o =&gt; o.total)</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.reduce((sum, t) =&gt; sum + t, </a:t>
            </a:r>
            <a:pPr indent="0" marL="0">
              <a:buNone/>
            </a:pPr>
            <a:r>
              <a:rPr lang="en-US" sz="1400" dirty="0">
                <a:solidFill>
                  <a:srgbClr val="F7B267"/>
                </a:solidFill>
                <a:latin typeface="Courier New" pitchFamily="34" charset="0"/>
                <a:ea typeface="Courier New" pitchFamily="34" charset="-122"/>
                <a:cs typeface="Courier New" pitchFamily="34" charset="-120"/>
              </a:rPr>
              <a:t>0</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245</a:t>
            </a:r>
            <a:endParaRPr lang="en-US" sz="1400" dirty="0"/>
          </a:p>
        </p:txBody>
      </p:sp>
      <p:sp>
        <p:nvSpPr>
          <p:cNvPr id="13" name="card-139"/>
          <p:cNvSpPr/>
          <p:nvPr/>
        </p:nvSpPr>
        <p:spPr>
          <a:xfrm>
            <a:off x="7498080" y="2697480"/>
            <a:ext cx="4142232" cy="3474720"/>
          </a:xfrm>
          <a:prstGeom prst="roundRect">
            <a:avLst>
              <a:gd name="adj" fmla="val 2105"/>
            </a:avLst>
          </a:prstGeom>
          <a:solidFill>
            <a:schemeClr val="bg2"/>
          </a:solidFill>
          <a:ln w="12700">
            <a:solidFill>
              <a:schemeClr val="bg2"/>
            </a:solidFill>
            <a:prstDash val="solid"/>
          </a:ln>
        </p:spPr>
      </p:sp>
      <p:sp>
        <p:nvSpPr>
          <p:cNvPr id="14" name="card-text-140"/>
          <p:cNvSpPr txBox="1"/>
          <p:nvPr/>
        </p:nvSpPr>
        <p:spPr>
          <a:xfrm>
            <a:off x="7699248" y="2843784"/>
            <a:ext cx="3739896" cy="3182112"/>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Also know</a:t>
            </a:r>
            <a:endParaRPr lang="en-US" sz="1700" dirty="0"/>
          </a:p>
          <a:p>
            <a:pPr marL="177800" indent="-177800">
              <a:spcAft>
                <a:spcPts val="400"/>
              </a:spcAft>
              <a:buSzPct val="100000"/>
              <a:buChar char="•"/>
            </a:pPr>
            <a:r>
              <a:rPr lang="en-US" sz="1500" dirty="0">
                <a:solidFill>
                  <a:srgbClr val="374151"/>
                </a:solidFill>
              </a:rPr>
              <a:t>find, findIndex: first match</a:t>
            </a:r>
            <a:endParaRPr lang="en-US" sz="1700" dirty="0"/>
          </a:p>
          <a:p>
            <a:pPr marL="177800" indent="-177800">
              <a:spcAft>
                <a:spcPts val="400"/>
              </a:spcAft>
              <a:buSzPct val="100000"/>
              <a:buChar char="•"/>
            </a:pPr>
            <a:r>
              <a:rPr lang="en-US" sz="1500" dirty="0">
                <a:solidFill>
                  <a:srgbClr val="374151"/>
                </a:solidFill>
              </a:rPr>
              <a:t>some, every: true or false</a:t>
            </a:r>
            <a:endParaRPr lang="en-US" sz="1700" dirty="0"/>
          </a:p>
          <a:p>
            <a:pPr marL="177800" indent="-177800">
              <a:spcAft>
                <a:spcPts val="400"/>
              </a:spcAft>
              <a:buSzPct val="100000"/>
              <a:buChar char="•"/>
            </a:pPr>
            <a:r>
              <a:rPr lang="en-US" sz="1500" dirty="0">
                <a:solidFill>
                  <a:srgbClr val="374151"/>
                </a:solidFill>
              </a:rPr>
              <a:t>includes: membership</a:t>
            </a:r>
            <a:endParaRPr lang="en-US" sz="1700" dirty="0"/>
          </a:p>
          <a:p>
            <a:pPr marL="177800" indent="-177800">
              <a:spcAft>
                <a:spcPts val="400"/>
              </a:spcAft>
              <a:buSzPct val="100000"/>
              <a:buChar char="•"/>
            </a:pPr>
            <a:r>
              <a:rPr lang="en-US" sz="1500" dirty="0">
                <a:solidFill>
                  <a:srgbClr val="374151"/>
                </a:solidFill>
              </a:rPr>
              <a:t>sort, reverse, splice mutate the array</a:t>
            </a:r>
            <a:endParaRPr lang="en-US" sz="1700" dirty="0"/>
          </a:p>
          <a:p>
            <a:pPr marL="177800" indent="-177800">
              <a:spcAft>
                <a:spcPts val="400"/>
              </a:spcAft>
              <a:buSzPct val="100000"/>
              <a:buChar char="•"/>
            </a:pPr>
            <a:r>
              <a:rPr lang="en-US" sz="1500" dirty="0">
                <a:solidFill>
                  <a:srgbClr val="374151"/>
                </a:solidFill>
              </a:rPr>
              <a:t>toSorted, toReversed return a copy</a:t>
            </a:r>
            <a:endParaRPr lang="en-US" sz="17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Copy or reference? Know when you mutate</a:t>
            </a:r>
            <a:endParaRPr lang="en-US" sz="3200" dirty="0"/>
          </a:p>
        </p:txBody>
      </p:sp>
      <p:sp>
        <p:nvSpPr>
          <p:cNvPr id="3" name="code-panel-141"/>
          <p:cNvSpPr/>
          <p:nvPr/>
        </p:nvSpPr>
        <p:spPr>
          <a:xfrm>
            <a:off x="548640" y="1371600"/>
            <a:ext cx="6035040" cy="4800600"/>
          </a:xfrm>
          <a:prstGeom prst="roundRect">
            <a:avLst>
              <a:gd name="adj" fmla="val 1524"/>
            </a:avLst>
          </a:prstGeom>
          <a:solidFill>
            <a:schemeClr val="tx2"/>
          </a:solidFill>
          <a:ln w="12700">
            <a:solidFill>
              <a:schemeClr val="tx2"/>
            </a:solidFill>
            <a:prstDash val="solid"/>
          </a:ln>
        </p:spPr>
      </p:sp>
      <p:sp>
        <p:nvSpPr>
          <p:cNvPr id="4" name="code-label-142"/>
          <p:cNvSpPr txBox="1"/>
          <p:nvPr/>
        </p:nvSpPr>
        <p:spPr>
          <a:xfrm>
            <a:off x="777240" y="1499616"/>
            <a:ext cx="5577840"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references.js</a:t>
            </a:r>
            <a:endParaRPr lang="en-US" sz="1100" dirty="0"/>
          </a:p>
        </p:txBody>
      </p:sp>
      <p:sp>
        <p:nvSpPr>
          <p:cNvPr id="5" name="code-143"/>
          <p:cNvSpPr txBox="1"/>
          <p:nvPr/>
        </p:nvSpPr>
        <p:spPr>
          <a:xfrm>
            <a:off x="777240" y="1828800"/>
            <a:ext cx="5577840" cy="4233672"/>
          </a:xfrm>
          <a:prstGeom prst="rect">
            <a:avLst/>
          </a:prstGeom>
          <a:noFill/>
          <a:ln/>
        </p:spPr>
        <p:txBody>
          <a:bodyPr wrap="square" lIns="0" tIns="0" rIns="0" bIns="0" rtlCol="0" anchor="t"/>
          <a:lstStyle/>
          <a:p>
            <a:pPr indent="0" marL="0">
              <a:buNone/>
            </a:pPr>
            <a:r>
              <a:rPr lang="en-US" sz="1400" dirty="0">
                <a:solidFill>
                  <a:srgbClr val="C792EA"/>
                </a:solidFill>
                <a:latin typeface="Courier New" pitchFamily="34" charset="0"/>
                <a:ea typeface="Courier New" pitchFamily="34" charset="-122"/>
                <a:cs typeface="Courier New" pitchFamily="34" charset="-120"/>
              </a:rPr>
              <a:t>let </a:t>
            </a:r>
            <a:pPr indent="0" marL="0">
              <a:buNone/>
            </a:pPr>
            <a:r>
              <a:rPr lang="en-US" sz="1400" dirty="0">
                <a:solidFill>
                  <a:srgbClr val="E5E7EB"/>
                </a:solidFill>
                <a:latin typeface="Courier New" pitchFamily="34" charset="0"/>
                <a:ea typeface="Courier New" pitchFamily="34" charset="-122"/>
                <a:cs typeface="Courier New" pitchFamily="34" charset="-120"/>
              </a:rPr>
              <a:t>a = </a:t>
            </a:r>
            <a:pPr indent="0" marL="0">
              <a:buNone/>
            </a:pPr>
            <a:r>
              <a:rPr lang="en-US" sz="1400" dirty="0">
                <a:solidFill>
                  <a:srgbClr val="F7B267"/>
                </a:solidFill>
                <a:latin typeface="Courier New" pitchFamily="34" charset="0"/>
                <a:ea typeface="Courier New" pitchFamily="34" charset="-122"/>
                <a:cs typeface="Courier New" pitchFamily="34" charset="-120"/>
              </a:rPr>
              <a:t>5</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let </a:t>
            </a:r>
            <a:pPr indent="0" marL="0">
              <a:buNone/>
            </a:pPr>
            <a:r>
              <a:rPr lang="en-US" sz="1400" dirty="0">
                <a:solidFill>
                  <a:srgbClr val="E5E7EB"/>
                </a:solidFill>
                <a:latin typeface="Courier New" pitchFamily="34" charset="0"/>
                <a:ea typeface="Courier New" pitchFamily="34" charset="-122"/>
                <a:cs typeface="Courier New" pitchFamily="34" charset="-120"/>
              </a:rPr>
              <a:t>b = a;</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b++;                   </a:t>
            </a:r>
            <a:pPr indent="0" marL="0">
              <a:buNone/>
            </a:pPr>
            <a:r>
              <a:rPr lang="en-US" sz="1400" i="1" dirty="0">
                <a:solidFill>
                  <a:srgbClr val="8B949E"/>
                </a:solidFill>
                <a:latin typeface="Courier New" pitchFamily="34" charset="0"/>
                <a:ea typeface="Courier New" pitchFamily="34" charset="-122"/>
                <a:cs typeface="Courier New" pitchFamily="34" charset="-120"/>
              </a:rPr>
              <a:t>// a is still 5</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p = { tags: [</a:t>
            </a:r>
            <a:pPr indent="0" marL="0">
              <a:buNone/>
            </a:pPr>
            <a:r>
              <a:rPr lang="en-US" sz="1400" dirty="0">
                <a:solidFill>
                  <a:srgbClr val="A5D6A7"/>
                </a:solidFill>
                <a:latin typeface="Courier New" pitchFamily="34" charset="0"/>
                <a:ea typeface="Courier New" pitchFamily="34" charset="-122"/>
                <a:cs typeface="Courier New" pitchFamily="34" charset="-120"/>
              </a:rPr>
              <a:t>"js"</a:t>
            </a:r>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q = p;           </a:t>
            </a:r>
            <a:pPr indent="0" marL="0">
              <a:buNone/>
            </a:pPr>
            <a:r>
              <a:rPr lang="en-US" sz="1400" i="1" dirty="0">
                <a:solidFill>
                  <a:srgbClr val="8B949E"/>
                </a:solidFill>
                <a:latin typeface="Courier New" pitchFamily="34" charset="0"/>
                <a:ea typeface="Courier New" pitchFamily="34" charset="-122"/>
                <a:cs typeface="Courier New" pitchFamily="34" charset="-120"/>
              </a:rPr>
              <a:t>// same object</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r = { ...p };    </a:t>
            </a:r>
            <a:pPr indent="0" marL="0">
              <a:buNone/>
            </a:pPr>
            <a:r>
              <a:rPr lang="en-US" sz="1400" i="1" dirty="0">
                <a:solidFill>
                  <a:srgbClr val="8B949E"/>
                </a:solidFill>
                <a:latin typeface="Courier New" pitchFamily="34" charset="0"/>
                <a:ea typeface="Courier New" pitchFamily="34" charset="-122"/>
                <a:cs typeface="Courier New" pitchFamily="34" charset="-120"/>
              </a:rPr>
              <a:t>// new object...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r.tags.push(</a:t>
            </a:r>
            <a:pPr indent="0" marL="0">
              <a:buNone/>
            </a:pPr>
            <a:r>
              <a:rPr lang="en-US" sz="1400" dirty="0">
                <a:solidFill>
                  <a:srgbClr val="A5D6A7"/>
                </a:solidFill>
                <a:latin typeface="Courier New" pitchFamily="34" charset="0"/>
                <a:ea typeface="Courier New" pitchFamily="34" charset="-122"/>
                <a:cs typeface="Courier New" pitchFamily="34" charset="-120"/>
              </a:rPr>
              <a:t>"ts"</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...same tags array</a:t>
            </a:r>
            <a:endParaRPr lang="en-US" sz="1400" dirty="0"/>
          </a:p>
          <a:p>
            <a:pPr indent="0" marL="0">
              <a:buNone/>
            </a:pPr>
            <a:r>
              <a:rPr lang="en-US" sz="1400" dirty="0">
                <a:solidFill>
                  <a:srgbClr val="79B8FF"/>
                </a:solidFill>
                <a:latin typeface="Courier New" pitchFamily="34" charset="0"/>
                <a:ea typeface="Courier New" pitchFamily="34" charset="-122"/>
                <a:cs typeface="Courier New" pitchFamily="34" charset="-120"/>
              </a:rPr>
              <a:t>console</a:t>
            </a:r>
            <a:pPr indent="0" marL="0">
              <a:buNone/>
            </a:pPr>
            <a:r>
              <a:rPr lang="en-US" sz="1400" dirty="0">
                <a:solidFill>
                  <a:srgbClr val="E5E7EB"/>
                </a:solidFill>
                <a:latin typeface="Courier New" pitchFamily="34" charset="0"/>
                <a:ea typeface="Courier New" pitchFamily="34" charset="-122"/>
                <a:cs typeface="Courier New" pitchFamily="34" charset="-120"/>
              </a:rPr>
              <a:t>.log(p.tags);   </a:t>
            </a:r>
            <a:pPr indent="0" marL="0">
              <a:buNone/>
            </a:pPr>
            <a:r>
              <a:rPr lang="en-US" sz="1400" i="1" dirty="0">
                <a:solidFill>
                  <a:srgbClr val="8B949E"/>
                </a:solidFill>
                <a:latin typeface="Courier New" pitchFamily="34" charset="0"/>
                <a:ea typeface="Courier New" pitchFamily="34" charset="-122"/>
                <a:cs typeface="Courier New" pitchFamily="34" charset="-120"/>
              </a:rPr>
              <a:t>// ["js", "ts"]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deep = </a:t>
            </a:r>
            <a:pPr indent="0" marL="0">
              <a:buNone/>
            </a:pPr>
            <a:r>
              <a:rPr lang="en-US" sz="1400" dirty="0">
                <a:solidFill>
                  <a:srgbClr val="79B8FF"/>
                </a:solidFill>
                <a:latin typeface="Courier New" pitchFamily="34" charset="0"/>
                <a:ea typeface="Courier New" pitchFamily="34" charset="-122"/>
                <a:cs typeface="Courier New" pitchFamily="34" charset="-120"/>
              </a:rPr>
              <a:t>structuredClone</a:t>
            </a:r>
            <a:pPr indent="0" marL="0">
              <a:buNone/>
            </a:pPr>
            <a:r>
              <a:rPr lang="en-US" sz="1400" dirty="0">
                <a:solidFill>
                  <a:srgbClr val="E5E7EB"/>
                </a:solidFill>
                <a:latin typeface="Courier New" pitchFamily="34" charset="0"/>
                <a:ea typeface="Courier New" pitchFamily="34" charset="-122"/>
                <a:cs typeface="Courier New" pitchFamily="34" charset="-120"/>
              </a:rPr>
              <a:t>(p);</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deep.tags.push(</a:t>
            </a:r>
            <a:pPr indent="0" marL="0">
              <a:buNone/>
            </a:pPr>
            <a:r>
              <a:rPr lang="en-US" sz="1400" dirty="0">
                <a:solidFill>
                  <a:srgbClr val="A5D6A7"/>
                </a:solidFill>
                <a:latin typeface="Courier New" pitchFamily="34" charset="0"/>
                <a:ea typeface="Courier New" pitchFamily="34" charset="-122"/>
                <a:cs typeface="Courier New" pitchFamily="34" charset="-120"/>
              </a:rPr>
              <a:t>"vue"</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p is untouched</a:t>
            </a:r>
            <a:endParaRPr lang="en-US" sz="1400" dirty="0"/>
          </a:p>
        </p:txBody>
      </p:sp>
      <p:sp>
        <p:nvSpPr>
          <p:cNvPr id="6" name="box-144"/>
          <p:cNvSpPr txBox="1"/>
          <p:nvPr/>
        </p:nvSpPr>
        <p:spPr>
          <a:xfrm>
            <a:off x="6903720" y="1600200"/>
            <a:ext cx="822960" cy="548640"/>
          </a:xfrm>
          <a:prstGeom prst="roundRect">
            <a:avLst>
              <a:gd name="adj" fmla="val 13333"/>
            </a:avLst>
          </a:prstGeom>
          <a:solidFill>
            <a:schemeClr val="tx2"/>
          </a:solidFill>
          <a:ln w="12700">
            <a:solidFill>
              <a:schemeClr val="tx2"/>
            </a:solidFill>
          </a:ln>
        </p:spPr>
        <p:txBody>
          <a:bodyPr wrap="square" lIns="50800" tIns="50800" rIns="50800" bIns="5080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p</a:t>
            </a:r>
            <a:endParaRPr lang="en-US" sz="1600" dirty="0"/>
          </a:p>
        </p:txBody>
      </p:sp>
      <p:sp>
        <p:nvSpPr>
          <p:cNvPr id="7" name="box-145"/>
          <p:cNvSpPr txBox="1"/>
          <p:nvPr/>
        </p:nvSpPr>
        <p:spPr>
          <a:xfrm>
            <a:off x="6903720" y="2423160"/>
            <a:ext cx="822960" cy="548640"/>
          </a:xfrm>
          <a:prstGeom prst="roundRect">
            <a:avLst>
              <a:gd name="adj" fmla="val 13333"/>
            </a:avLst>
          </a:prstGeom>
          <a:solidFill>
            <a:schemeClr val="tx2"/>
          </a:solidFill>
          <a:ln w="12700">
            <a:solidFill>
              <a:schemeClr val="tx2"/>
            </a:solidFill>
          </a:ln>
        </p:spPr>
        <p:txBody>
          <a:bodyPr wrap="square" lIns="50800" tIns="50800" rIns="50800" bIns="5080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q</a:t>
            </a:r>
            <a:endParaRPr lang="en-US" sz="1600" dirty="0"/>
          </a:p>
        </p:txBody>
      </p:sp>
      <p:sp>
        <p:nvSpPr>
          <p:cNvPr id="8" name="box-146"/>
          <p:cNvSpPr txBox="1"/>
          <p:nvPr/>
        </p:nvSpPr>
        <p:spPr>
          <a:xfrm>
            <a:off x="6903720" y="3977640"/>
            <a:ext cx="822960" cy="548640"/>
          </a:xfrm>
          <a:prstGeom prst="roundRect">
            <a:avLst>
              <a:gd name="adj" fmla="val 13333"/>
            </a:avLst>
          </a:prstGeom>
          <a:solidFill>
            <a:schemeClr val="tx2"/>
          </a:solidFill>
          <a:ln w="12700">
            <a:solidFill>
              <a:schemeClr val="tx2"/>
            </a:solidFill>
          </a:ln>
        </p:spPr>
        <p:txBody>
          <a:bodyPr wrap="square" lIns="50800" tIns="50800" rIns="50800" bIns="5080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r</a:t>
            </a:r>
            <a:endParaRPr lang="en-US" sz="1600" dirty="0"/>
          </a:p>
        </p:txBody>
      </p:sp>
      <p:sp>
        <p:nvSpPr>
          <p:cNvPr id="9" name="box-147"/>
          <p:cNvSpPr txBox="1"/>
          <p:nvPr/>
        </p:nvSpPr>
        <p:spPr>
          <a:xfrm>
            <a:off x="8321040" y="1783080"/>
            <a:ext cx="1463040" cy="1005840"/>
          </a:xfrm>
          <a:prstGeom prst="roundRect">
            <a:avLst>
              <a:gd name="adj" fmla="val 7273"/>
            </a:avLst>
          </a:prstGeom>
          <a:solidFill>
            <a:schemeClr val="bg2"/>
          </a:solidFill>
          <a:ln w="12700">
            <a:solidFill>
              <a:srgbClr val="9CA3AF"/>
            </a:solidFill>
          </a:ln>
        </p:spPr>
        <p:txBody>
          <a:bodyPr wrap="square" lIns="50800" tIns="50800" rIns="50800" bIns="50800" rtlCol="0" anchor="ctr"/>
          <a:lstStyle/>
          <a:p>
            <a:pPr algn="ctr" indent="0" marL="0">
              <a:buNone/>
            </a:pPr>
            <a:r>
              <a:rPr lang="en-US" sz="1500" b="1" dirty="0">
                <a:solidFill>
                  <a:schemeClr val="tx1"/>
                </a:solidFill>
              </a:rPr>
              <a:t>object A</a:t>
            </a:r>
            <a:endParaRPr lang="en-US" sz="1500" dirty="0"/>
          </a:p>
          <a:p>
            <a:pPr algn="ctr" indent="0" marL="0">
              <a:buNone/>
            </a:pPr>
            <a:r>
              <a:rPr lang="en-US" sz="1300" dirty="0">
                <a:solidFill>
                  <a:schemeClr val="tx1"/>
                </a:solidFill>
                <a:latin typeface="Courier New" pitchFamily="34" charset="0"/>
                <a:ea typeface="Courier New" pitchFamily="34" charset="-122"/>
                <a:cs typeface="Courier New" pitchFamily="34" charset="-120"/>
              </a:rPr>
              <a:t>tags →</a:t>
            </a:r>
            <a:endParaRPr lang="en-US" sz="1500" dirty="0"/>
          </a:p>
        </p:txBody>
      </p:sp>
      <p:sp>
        <p:nvSpPr>
          <p:cNvPr id="10" name="box-148"/>
          <p:cNvSpPr txBox="1"/>
          <p:nvPr/>
        </p:nvSpPr>
        <p:spPr>
          <a:xfrm>
            <a:off x="8321040" y="3749040"/>
            <a:ext cx="1463040" cy="1005840"/>
          </a:xfrm>
          <a:prstGeom prst="roundRect">
            <a:avLst>
              <a:gd name="adj" fmla="val 7273"/>
            </a:avLst>
          </a:prstGeom>
          <a:solidFill>
            <a:schemeClr val="bg2"/>
          </a:solidFill>
          <a:ln w="12700">
            <a:solidFill>
              <a:srgbClr val="9CA3AF"/>
            </a:solidFill>
          </a:ln>
        </p:spPr>
        <p:txBody>
          <a:bodyPr wrap="square" lIns="50800" tIns="50800" rIns="50800" bIns="50800" rtlCol="0" anchor="ctr"/>
          <a:lstStyle/>
          <a:p>
            <a:pPr algn="ctr" indent="0" marL="0">
              <a:buNone/>
            </a:pPr>
            <a:r>
              <a:rPr lang="en-US" sz="1500" b="1" dirty="0">
                <a:solidFill>
                  <a:schemeClr val="tx1"/>
                </a:solidFill>
              </a:rPr>
              <a:t>object B</a:t>
            </a:r>
            <a:endParaRPr lang="en-US" sz="1500" dirty="0"/>
          </a:p>
          <a:p>
            <a:pPr algn="ctr" indent="0" marL="0">
              <a:buNone/>
            </a:pPr>
            <a:r>
              <a:rPr lang="en-US" sz="1300" dirty="0">
                <a:solidFill>
                  <a:schemeClr val="tx1"/>
                </a:solidFill>
                <a:latin typeface="Courier New" pitchFamily="34" charset="0"/>
                <a:ea typeface="Courier New" pitchFamily="34" charset="-122"/>
                <a:cs typeface="Courier New" pitchFamily="34" charset="-120"/>
              </a:rPr>
              <a:t>tags →</a:t>
            </a:r>
            <a:endParaRPr lang="en-US" sz="1500" dirty="0"/>
          </a:p>
        </p:txBody>
      </p:sp>
      <p:sp>
        <p:nvSpPr>
          <p:cNvPr id="11" name="box-149"/>
          <p:cNvSpPr txBox="1"/>
          <p:nvPr/>
        </p:nvSpPr>
        <p:spPr>
          <a:xfrm>
            <a:off x="10287000" y="2788920"/>
            <a:ext cx="1353312" cy="1005840"/>
          </a:xfrm>
          <a:prstGeom prst="roundRect">
            <a:avLst>
              <a:gd name="adj" fmla="val 7273"/>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500" b="1" dirty="0">
                <a:solidFill>
                  <a:srgbClr val="1B1B1F"/>
                </a:solidFill>
              </a:rPr>
              <a:t>array</a:t>
            </a:r>
            <a:endParaRPr lang="en-US" sz="1500" dirty="0"/>
          </a:p>
          <a:p>
            <a:pPr algn="ctr" indent="0" marL="0">
              <a:buNone/>
            </a:pPr>
            <a:r>
              <a:rPr lang="en-US" sz="1200" dirty="0">
                <a:solidFill>
                  <a:srgbClr val="1B1B1F"/>
                </a:solidFill>
                <a:latin typeface="Courier New" pitchFamily="34" charset="0"/>
                <a:ea typeface="Courier New" pitchFamily="34" charset="-122"/>
                <a:cs typeface="Courier New" pitchFamily="34" charset="-120"/>
              </a:rPr>
              <a:t>["js","ts"]</a:t>
            </a:r>
            <a:endParaRPr lang="en-US" sz="1500" dirty="0"/>
          </a:p>
        </p:txBody>
      </p:sp>
      <p:sp>
        <p:nvSpPr>
          <p:cNvPr id="12" name="arrow-150"/>
          <p:cNvSpPr/>
          <p:nvPr/>
        </p:nvSpPr>
        <p:spPr>
          <a:xfrm>
            <a:off x="7772400" y="1874520"/>
            <a:ext cx="502920" cy="0"/>
          </a:xfrm>
          <a:prstGeom prst="line">
            <a:avLst/>
          </a:prstGeom>
          <a:noFill/>
          <a:ln w="25400">
            <a:solidFill>
              <a:srgbClr val="6B7280"/>
            </a:solidFill>
            <a:prstDash val="solid"/>
            <a:tailEnd type="triangle"/>
          </a:ln>
        </p:spPr>
      </p:sp>
      <p:sp>
        <p:nvSpPr>
          <p:cNvPr id="13" name="arrow-151"/>
          <p:cNvSpPr/>
          <p:nvPr/>
        </p:nvSpPr>
        <p:spPr>
          <a:xfrm>
            <a:off x="7772400" y="2697480"/>
            <a:ext cx="502920" cy="0"/>
          </a:xfrm>
          <a:prstGeom prst="line">
            <a:avLst/>
          </a:prstGeom>
          <a:noFill/>
          <a:ln w="25400">
            <a:solidFill>
              <a:srgbClr val="6B7280"/>
            </a:solidFill>
            <a:prstDash val="solid"/>
            <a:tailEnd type="triangle"/>
          </a:ln>
        </p:spPr>
      </p:sp>
      <p:sp>
        <p:nvSpPr>
          <p:cNvPr id="14" name="arrow-152"/>
          <p:cNvSpPr/>
          <p:nvPr/>
        </p:nvSpPr>
        <p:spPr>
          <a:xfrm>
            <a:off x="7772400" y="4251960"/>
            <a:ext cx="502920" cy="0"/>
          </a:xfrm>
          <a:prstGeom prst="line">
            <a:avLst/>
          </a:prstGeom>
          <a:noFill/>
          <a:ln w="25400">
            <a:solidFill>
              <a:srgbClr val="6B7280"/>
            </a:solidFill>
            <a:prstDash val="solid"/>
            <a:tailEnd type="triangle"/>
          </a:ln>
        </p:spPr>
      </p:sp>
      <p:sp>
        <p:nvSpPr>
          <p:cNvPr id="15" name="ref-arrow-a"/>
          <p:cNvSpPr/>
          <p:nvPr/>
        </p:nvSpPr>
        <p:spPr>
          <a:xfrm>
            <a:off x="9829800" y="2286000"/>
            <a:ext cx="411480" cy="868680"/>
          </a:xfrm>
          <a:prstGeom prst="line">
            <a:avLst/>
          </a:prstGeom>
          <a:noFill/>
          <a:ln w="25400">
            <a:solidFill>
              <a:schemeClr val="accent3"/>
            </a:solidFill>
            <a:prstDash val="solid"/>
            <a:tailEnd type="triangle"/>
          </a:ln>
        </p:spPr>
      </p:sp>
      <p:sp>
        <p:nvSpPr>
          <p:cNvPr id="16" name="ref-arrow-b"/>
          <p:cNvSpPr/>
          <p:nvPr/>
        </p:nvSpPr>
        <p:spPr>
          <a:xfrm flipV="1">
            <a:off x="9829800" y="3429000"/>
            <a:ext cx="411480" cy="822960"/>
          </a:xfrm>
          <a:prstGeom prst="line">
            <a:avLst/>
          </a:prstGeom>
          <a:noFill/>
          <a:ln w="25400">
            <a:solidFill>
              <a:schemeClr val="accent3"/>
            </a:solidFill>
            <a:prstDash val="solid"/>
            <a:tailEnd type="triangle"/>
          </a:ln>
        </p:spPr>
      </p:sp>
      <p:sp>
        <p:nvSpPr>
          <p:cNvPr id="17" name="ref-note"/>
          <p:cNvSpPr txBox="1"/>
          <p:nvPr/>
        </p:nvSpPr>
        <p:spPr>
          <a:xfrm>
            <a:off x="6903720" y="5074920"/>
            <a:ext cx="4736592" cy="914400"/>
          </a:xfrm>
          <a:prstGeom prst="rect">
            <a:avLst/>
          </a:prstGeom>
          <a:noFill/>
          <a:ln/>
        </p:spPr>
        <p:txBody>
          <a:bodyPr wrap="square" lIns="0" tIns="0" rIns="0" bIns="0" rtlCol="0" anchor="ctr"/>
          <a:lstStyle/>
          <a:p>
            <a:pPr indent="0" marL="0">
              <a:buNone/>
            </a:pPr>
            <a:r>
              <a:rPr lang="en-US" sz="1600" b="1" dirty="0">
                <a:solidFill>
                  <a:schemeClr val="tx1"/>
                </a:solidFill>
              </a:rPr>
              <a:t>Spread is a shallow copy: nested objects are still shared.</a:t>
            </a:r>
            <a:endParaRPr lang="en-US" sz="16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Classes are built on prototypes</a:t>
            </a:r>
            <a:endParaRPr lang="en-US" sz="3200" dirty="0"/>
          </a:p>
        </p:txBody>
      </p:sp>
      <p:sp>
        <p:nvSpPr>
          <p:cNvPr id="3" name="code-panel-153"/>
          <p:cNvSpPr/>
          <p:nvPr/>
        </p:nvSpPr>
        <p:spPr>
          <a:xfrm>
            <a:off x="548640" y="1371600"/>
            <a:ext cx="6675120" cy="4800600"/>
          </a:xfrm>
          <a:prstGeom prst="roundRect">
            <a:avLst>
              <a:gd name="adj" fmla="val 1524"/>
            </a:avLst>
          </a:prstGeom>
          <a:solidFill>
            <a:schemeClr val="tx2"/>
          </a:solidFill>
          <a:ln w="12700">
            <a:solidFill>
              <a:schemeClr val="tx2"/>
            </a:solidFill>
            <a:prstDash val="solid"/>
          </a:ln>
        </p:spPr>
      </p:sp>
      <p:sp>
        <p:nvSpPr>
          <p:cNvPr id="4" name="code-label-154"/>
          <p:cNvSpPr txBox="1"/>
          <p:nvPr/>
        </p:nvSpPr>
        <p:spPr>
          <a:xfrm>
            <a:off x="777240" y="1499616"/>
            <a:ext cx="6217920"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account.js</a:t>
            </a:r>
            <a:endParaRPr lang="en-US" sz="1100" dirty="0"/>
          </a:p>
        </p:txBody>
      </p:sp>
      <p:sp>
        <p:nvSpPr>
          <p:cNvPr id="5" name="code-155"/>
          <p:cNvSpPr txBox="1"/>
          <p:nvPr/>
        </p:nvSpPr>
        <p:spPr>
          <a:xfrm>
            <a:off x="777240" y="1828800"/>
            <a:ext cx="6217920" cy="4233672"/>
          </a:xfrm>
          <a:prstGeom prst="rect">
            <a:avLst/>
          </a:prstGeom>
          <a:noFill/>
          <a:ln/>
        </p:spPr>
        <p:txBody>
          <a:bodyPr wrap="square" lIns="0" tIns="0" rIns="0" bIns="0" rtlCol="0" anchor="t"/>
          <a:lstStyle/>
          <a:p>
            <a:pPr indent="0" marL="0">
              <a:buNone/>
            </a:pPr>
            <a:r>
              <a:rPr lang="en-US" sz="1400" dirty="0">
                <a:solidFill>
                  <a:srgbClr val="C792EA"/>
                </a:solidFill>
                <a:latin typeface="Courier New" pitchFamily="34" charset="0"/>
                <a:ea typeface="Courier New" pitchFamily="34" charset="-122"/>
                <a:cs typeface="Courier New" pitchFamily="34" charset="-120"/>
              </a:rPr>
              <a:t>class </a:t>
            </a:r>
            <a:pPr indent="0" marL="0">
              <a:buNone/>
            </a:pPr>
            <a:r>
              <a:rPr lang="en-US" sz="1400" dirty="0">
                <a:solidFill>
                  <a:srgbClr val="E5E7EB"/>
                </a:solidFill>
                <a:latin typeface="Courier New" pitchFamily="34" charset="0"/>
                <a:ea typeface="Courier New" pitchFamily="34" charset="-122"/>
                <a:cs typeface="Courier New" pitchFamily="34" charset="-120"/>
              </a:rPr>
              <a:t>Account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#balance = </a:t>
            </a:r>
            <a:pPr indent="0" marL="0">
              <a:buNone/>
            </a:pPr>
            <a:r>
              <a:rPr lang="en-US" sz="1400" dirty="0">
                <a:solidFill>
                  <a:srgbClr val="F7B267"/>
                </a:solidFill>
                <a:latin typeface="Courier New" pitchFamily="34" charset="0"/>
                <a:ea typeface="Courier New" pitchFamily="34" charset="-122"/>
                <a:cs typeface="Courier New" pitchFamily="34" charset="-120"/>
              </a:rPr>
              <a:t>0</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private field</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constructor</a:t>
            </a:r>
            <a:pPr indent="0" marL="0">
              <a:buNone/>
            </a:pPr>
            <a:r>
              <a:rPr lang="en-US" sz="1400" dirty="0">
                <a:solidFill>
                  <a:srgbClr val="E5E7EB"/>
                </a:solidFill>
                <a:latin typeface="Courier New" pitchFamily="34" charset="0"/>
                <a:ea typeface="Courier New" pitchFamily="34" charset="-122"/>
                <a:cs typeface="Courier New" pitchFamily="34" charset="-120"/>
              </a:rPr>
              <a:t>(owner) { </a:t>
            </a:r>
            <a:pPr indent="0" marL="0">
              <a:buNone/>
            </a:pPr>
            <a:r>
              <a:rPr lang="en-US" sz="1400" dirty="0">
                <a:solidFill>
                  <a:srgbClr val="C792EA"/>
                </a:solidFill>
                <a:latin typeface="Courier New" pitchFamily="34" charset="0"/>
                <a:ea typeface="Courier New" pitchFamily="34" charset="-122"/>
                <a:cs typeface="Courier New" pitchFamily="34" charset="-120"/>
              </a:rPr>
              <a:t>this</a:t>
            </a:r>
            <a:pPr indent="0" marL="0">
              <a:buNone/>
            </a:pPr>
            <a:r>
              <a:rPr lang="en-US" sz="1400" dirty="0">
                <a:solidFill>
                  <a:srgbClr val="E5E7EB"/>
                </a:solidFill>
                <a:latin typeface="Courier New" pitchFamily="34" charset="0"/>
                <a:ea typeface="Courier New" pitchFamily="34" charset="-122"/>
                <a:cs typeface="Courier New" pitchFamily="34" charset="-120"/>
              </a:rPr>
              <a:t>.owner = owner;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deposit(amount)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if </a:t>
            </a:r>
            <a:pPr indent="0" marL="0">
              <a:buNone/>
            </a:pPr>
            <a:r>
              <a:rPr lang="en-US" sz="1400" dirty="0">
                <a:solidFill>
                  <a:srgbClr val="E5E7EB"/>
                </a:solidFill>
                <a:latin typeface="Courier New" pitchFamily="34" charset="0"/>
                <a:ea typeface="Courier New" pitchFamily="34" charset="-122"/>
                <a:cs typeface="Courier New" pitchFamily="34" charset="-120"/>
              </a:rPr>
              <a:t>(amount &lt;= </a:t>
            </a:r>
            <a:pPr indent="0" marL="0">
              <a:buNone/>
            </a:pPr>
            <a:r>
              <a:rPr lang="en-US" sz="1400" dirty="0">
                <a:solidFill>
                  <a:srgbClr val="F7B267"/>
                </a:solidFill>
                <a:latin typeface="Courier New" pitchFamily="34" charset="0"/>
                <a:ea typeface="Courier New" pitchFamily="34" charset="-122"/>
                <a:cs typeface="Courier New" pitchFamily="34" charset="-120"/>
              </a:rPr>
              <a:t>0</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throw new </a:t>
            </a:r>
            <a:pPr indent="0" marL="0">
              <a:buNone/>
            </a:pPr>
            <a:r>
              <a:rPr lang="en-US" sz="1400" dirty="0">
                <a:solidFill>
                  <a:srgbClr val="79B8FF"/>
                </a:solidFill>
                <a:latin typeface="Courier New" pitchFamily="34" charset="0"/>
                <a:ea typeface="Courier New" pitchFamily="34" charset="-122"/>
                <a:cs typeface="Courier New" pitchFamily="34" charset="-120"/>
              </a:rPr>
              <a:t>Error</a:t>
            </a:r>
            <a:pPr indent="0" marL="0">
              <a:buNone/>
            </a:pPr>
            <a:r>
              <a:rPr lang="en-US" sz="1400" dirty="0">
                <a:solidFill>
                  <a:srgbClr val="E5E7EB"/>
                </a:solidFill>
                <a:latin typeface="Courier New" pitchFamily="34" charset="0"/>
                <a:ea typeface="Courier New" pitchFamily="34" charset="-122"/>
                <a:cs typeface="Courier New" pitchFamily="34" charset="-120"/>
              </a:rPr>
              <a:t>(</a:t>
            </a:r>
            <a:pPr indent="0" marL="0">
              <a:buNone/>
            </a:pPr>
            <a:r>
              <a:rPr lang="en-US" sz="1400" dirty="0">
                <a:solidFill>
                  <a:srgbClr val="A5D6A7"/>
                </a:solidFill>
                <a:latin typeface="Courier New" pitchFamily="34" charset="0"/>
                <a:ea typeface="Courier New" pitchFamily="34" charset="-122"/>
                <a:cs typeface="Courier New" pitchFamily="34" charset="-120"/>
              </a:rPr>
              <a:t>"Invalid"</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this</a:t>
            </a:r>
            <a:pPr indent="0" marL="0">
              <a:buNone/>
            </a:pPr>
            <a:r>
              <a:rPr lang="en-US" sz="1400" dirty="0">
                <a:solidFill>
                  <a:srgbClr val="E5E7EB"/>
                </a:solidFill>
                <a:latin typeface="Courier New" pitchFamily="34" charset="0"/>
                <a:ea typeface="Courier New" pitchFamily="34" charset="-122"/>
                <a:cs typeface="Courier New" pitchFamily="34" charset="-120"/>
              </a:rPr>
              <a:t>.#balance += amount;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return this</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allows chaining</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get </a:t>
            </a:r>
            <a:pPr indent="0" marL="0">
              <a:buNone/>
            </a:pPr>
            <a:r>
              <a:rPr lang="en-US" sz="1400" dirty="0">
                <a:solidFill>
                  <a:srgbClr val="E5E7EB"/>
                </a:solidFill>
                <a:latin typeface="Courier New" pitchFamily="34" charset="0"/>
                <a:ea typeface="Courier New" pitchFamily="34" charset="-122"/>
                <a:cs typeface="Courier New" pitchFamily="34" charset="-120"/>
              </a:rPr>
              <a:t>balance() { </a:t>
            </a:r>
            <a:pPr indent="0" marL="0">
              <a:buNone/>
            </a:pPr>
            <a:r>
              <a:rPr lang="en-US" sz="1400" dirty="0">
                <a:solidFill>
                  <a:srgbClr val="C792EA"/>
                </a:solidFill>
                <a:latin typeface="Courier New" pitchFamily="34" charset="0"/>
                <a:ea typeface="Courier New" pitchFamily="34" charset="-122"/>
                <a:cs typeface="Courier New" pitchFamily="34" charset="-120"/>
              </a:rPr>
              <a:t>return this</a:t>
            </a:r>
            <a:pPr indent="0" marL="0">
              <a:buNone/>
            </a:pPr>
            <a:r>
              <a:rPr lang="en-US" sz="1400" dirty="0">
                <a:solidFill>
                  <a:srgbClr val="E5E7EB"/>
                </a:solidFill>
                <a:latin typeface="Courier New" pitchFamily="34" charset="0"/>
                <a:ea typeface="Courier New" pitchFamily="34" charset="-122"/>
                <a:cs typeface="Courier New" pitchFamily="34" charset="-120"/>
              </a:rPr>
              <a:t>.#balance;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class </a:t>
            </a:r>
            <a:pPr indent="0" marL="0">
              <a:buNone/>
            </a:pPr>
            <a:r>
              <a:rPr lang="en-US" sz="1400" dirty="0">
                <a:solidFill>
                  <a:srgbClr val="E5E7EB"/>
                </a:solidFill>
                <a:latin typeface="Courier New" pitchFamily="34" charset="0"/>
                <a:ea typeface="Courier New" pitchFamily="34" charset="-122"/>
                <a:cs typeface="Courier New" pitchFamily="34" charset="-120"/>
              </a:rPr>
              <a:t>Savings </a:t>
            </a:r>
            <a:pPr indent="0" marL="0">
              <a:buNone/>
            </a:pPr>
            <a:r>
              <a:rPr lang="en-US" sz="1400" dirty="0">
                <a:solidFill>
                  <a:srgbClr val="C792EA"/>
                </a:solidFill>
                <a:latin typeface="Courier New" pitchFamily="34" charset="0"/>
                <a:ea typeface="Courier New" pitchFamily="34" charset="-122"/>
                <a:cs typeface="Courier New" pitchFamily="34" charset="-120"/>
              </a:rPr>
              <a:t>extends </a:t>
            </a:r>
            <a:pPr indent="0" marL="0">
              <a:buNone/>
            </a:pPr>
            <a:r>
              <a:rPr lang="en-US" sz="1400" dirty="0">
                <a:solidFill>
                  <a:srgbClr val="E5E7EB"/>
                </a:solidFill>
                <a:latin typeface="Courier New" pitchFamily="34" charset="0"/>
                <a:ea typeface="Courier New" pitchFamily="34" charset="-122"/>
                <a:cs typeface="Courier New" pitchFamily="34" charset="-120"/>
              </a:rPr>
              <a:t>Account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addInterest(rate)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return this</a:t>
            </a:r>
            <a:pPr indent="0" marL="0">
              <a:buNone/>
            </a:pPr>
            <a:r>
              <a:rPr lang="en-US" sz="1400" dirty="0">
                <a:solidFill>
                  <a:srgbClr val="E5E7EB"/>
                </a:solidFill>
                <a:latin typeface="Courier New" pitchFamily="34" charset="0"/>
                <a:ea typeface="Courier New" pitchFamily="34" charset="-122"/>
                <a:cs typeface="Courier New" pitchFamily="34" charset="-120"/>
              </a:rPr>
              <a:t>.deposit(</a:t>
            </a:r>
            <a:pPr indent="0" marL="0">
              <a:buNone/>
            </a:pPr>
            <a:r>
              <a:rPr lang="en-US" sz="1400" dirty="0">
                <a:solidFill>
                  <a:srgbClr val="C792EA"/>
                </a:solidFill>
                <a:latin typeface="Courier New" pitchFamily="34" charset="0"/>
                <a:ea typeface="Courier New" pitchFamily="34" charset="-122"/>
                <a:cs typeface="Courier New" pitchFamily="34" charset="-120"/>
              </a:rPr>
              <a:t>this</a:t>
            </a:r>
            <a:pPr indent="0" marL="0">
              <a:buNone/>
            </a:pPr>
            <a:r>
              <a:rPr lang="en-US" sz="1400" dirty="0">
                <a:solidFill>
                  <a:srgbClr val="E5E7EB"/>
                </a:solidFill>
                <a:latin typeface="Courier New" pitchFamily="34" charset="0"/>
                <a:ea typeface="Courier New" pitchFamily="34" charset="-122"/>
                <a:cs typeface="Courier New" pitchFamily="34" charset="-120"/>
              </a:rPr>
              <a:t>.balance * rate);</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acc = </a:t>
            </a:r>
            <a:pPr indent="0" marL="0">
              <a:buNone/>
            </a:pPr>
            <a:r>
              <a:rPr lang="en-US" sz="1400" dirty="0">
                <a:solidFill>
                  <a:srgbClr val="C792EA"/>
                </a:solidFill>
                <a:latin typeface="Courier New" pitchFamily="34" charset="0"/>
                <a:ea typeface="Courier New" pitchFamily="34" charset="-122"/>
                <a:cs typeface="Courier New" pitchFamily="34" charset="-120"/>
              </a:rPr>
              <a:t>new </a:t>
            </a:r>
            <a:pPr indent="0" marL="0">
              <a:buNone/>
            </a:pPr>
            <a:r>
              <a:rPr lang="en-US" sz="1400" dirty="0">
                <a:solidFill>
                  <a:srgbClr val="E5E7EB"/>
                </a:solidFill>
                <a:latin typeface="Courier New" pitchFamily="34" charset="0"/>
                <a:ea typeface="Courier New" pitchFamily="34" charset="-122"/>
                <a:cs typeface="Courier New" pitchFamily="34" charset="-120"/>
              </a:rPr>
              <a:t>Savings(</a:t>
            </a:r>
            <a:pPr indent="0" marL="0">
              <a:buNone/>
            </a:pPr>
            <a:r>
              <a:rPr lang="en-US" sz="1400" dirty="0">
                <a:solidFill>
                  <a:srgbClr val="A5D6A7"/>
                </a:solidFill>
                <a:latin typeface="Courier New" pitchFamily="34" charset="0"/>
                <a:ea typeface="Courier New" pitchFamily="34" charset="-122"/>
                <a:cs typeface="Courier New" pitchFamily="34" charset="-120"/>
              </a:rPr>
              <a:t>"Dara"</a:t>
            </a:r>
            <a:pPr indent="0" marL="0">
              <a:buNone/>
            </a:pPr>
            <a:r>
              <a:rPr lang="en-US" sz="1400" dirty="0">
                <a:solidFill>
                  <a:srgbClr val="E5E7EB"/>
                </a:solidFill>
                <a:latin typeface="Courier New" pitchFamily="34" charset="0"/>
                <a:ea typeface="Courier New" pitchFamily="34" charset="-122"/>
                <a:cs typeface="Courier New" pitchFamily="34" charset="-120"/>
              </a:rPr>
              <a:t>).deposit(</a:t>
            </a:r>
            <a:pPr indent="0" marL="0">
              <a:buNone/>
            </a:pPr>
            <a:r>
              <a:rPr lang="en-US" sz="1400" dirty="0">
                <a:solidFill>
                  <a:srgbClr val="F7B267"/>
                </a:solidFill>
                <a:latin typeface="Courier New" pitchFamily="34" charset="0"/>
                <a:ea typeface="Courier New" pitchFamily="34" charset="-122"/>
                <a:cs typeface="Courier New" pitchFamily="34" charset="-120"/>
              </a:rPr>
              <a:t>100</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p:txBody>
      </p:sp>
      <p:sp>
        <p:nvSpPr>
          <p:cNvPr id="6" name="proto-head"/>
          <p:cNvSpPr txBox="1"/>
          <p:nvPr/>
        </p:nvSpPr>
        <p:spPr>
          <a:xfrm>
            <a:off x="7498080" y="1371600"/>
            <a:ext cx="4142232" cy="365760"/>
          </a:xfrm>
          <a:prstGeom prst="rect">
            <a:avLst/>
          </a:prstGeom>
          <a:noFill/>
          <a:ln/>
        </p:spPr>
        <p:txBody>
          <a:bodyPr wrap="square" lIns="0" tIns="0" rIns="0" bIns="0" rtlCol="0" anchor="ctr"/>
          <a:lstStyle/>
          <a:p>
            <a:pPr indent="0" marL="0">
              <a:buNone/>
            </a:pPr>
            <a:r>
              <a:rPr lang="en-US" sz="1700" b="1" dirty="0">
                <a:solidFill>
                  <a:schemeClr val="tx1"/>
                </a:solidFill>
              </a:rPr>
              <a:t>Prototype chain of acc</a:t>
            </a:r>
            <a:endParaRPr lang="en-US" sz="1700" dirty="0"/>
          </a:p>
        </p:txBody>
      </p:sp>
      <p:sp>
        <p:nvSpPr>
          <p:cNvPr id="7" name="box-156"/>
          <p:cNvSpPr txBox="1"/>
          <p:nvPr/>
        </p:nvSpPr>
        <p:spPr>
          <a:xfrm>
            <a:off x="7498080" y="1828800"/>
            <a:ext cx="4142232" cy="603504"/>
          </a:xfrm>
          <a:prstGeom prst="roundRect">
            <a:avLst>
              <a:gd name="adj" fmla="val 12121"/>
            </a:avLst>
          </a:prstGeom>
          <a:solidFill>
            <a:schemeClr val="accent1"/>
          </a:solidFill>
          <a:ln w="12700">
            <a:solidFill>
              <a:schemeClr val="accent1"/>
            </a:solidFill>
          </a:ln>
        </p:spPr>
        <p:txBody>
          <a:bodyPr wrap="square" lIns="127000" tIns="127000" rIns="127000" bIns="127000" rtlCol="0" anchor="ctr"/>
          <a:lstStyle/>
          <a:p>
            <a:pPr algn="l" indent="0" marL="0">
              <a:buNone/>
            </a:pPr>
            <a:r>
              <a:rPr lang="en-US" sz="1400" b="1" dirty="0">
                <a:solidFill>
                  <a:srgbClr val="1B1B1F"/>
                </a:solidFill>
                <a:latin typeface="Courier New" pitchFamily="34" charset="0"/>
                <a:ea typeface="Courier New" pitchFamily="34" charset="-122"/>
                <a:cs typeface="Courier New" pitchFamily="34" charset="-120"/>
              </a:rPr>
              <a:t>acc</a:t>
            </a:r>
            <a:pPr algn="l" indent="0" marL="0">
              <a:buNone/>
            </a:pPr>
            <a:r>
              <a:rPr lang="en-US" sz="1400" dirty="0">
                <a:solidFill>
                  <a:srgbClr val="1B1B1F"/>
                </a:solidFill>
              </a:rPr>
              <a:t>  owner, #balance</a:t>
            </a:r>
            <a:endParaRPr lang="en-US" sz="1500" dirty="0"/>
          </a:p>
        </p:txBody>
      </p:sp>
      <p:sp>
        <p:nvSpPr>
          <p:cNvPr id="8" name="arrow-157"/>
          <p:cNvSpPr/>
          <p:nvPr/>
        </p:nvSpPr>
        <p:spPr>
          <a:xfrm>
            <a:off x="9564624" y="2450592"/>
            <a:ext cx="0" cy="210312"/>
          </a:xfrm>
          <a:prstGeom prst="line">
            <a:avLst/>
          </a:prstGeom>
          <a:noFill/>
          <a:ln w="25400">
            <a:solidFill>
              <a:srgbClr val="6B7280"/>
            </a:solidFill>
            <a:prstDash val="solid"/>
            <a:tailEnd type="triangle"/>
          </a:ln>
        </p:spPr>
      </p:sp>
      <p:sp>
        <p:nvSpPr>
          <p:cNvPr id="9" name="box-158"/>
          <p:cNvSpPr txBox="1"/>
          <p:nvPr/>
        </p:nvSpPr>
        <p:spPr>
          <a:xfrm>
            <a:off x="7498080" y="2679192"/>
            <a:ext cx="4142232" cy="603504"/>
          </a:xfrm>
          <a:prstGeom prst="roundRect">
            <a:avLst>
              <a:gd name="adj" fmla="val 12121"/>
            </a:avLst>
          </a:prstGeom>
          <a:solidFill>
            <a:schemeClr val="bg2"/>
          </a:solidFill>
          <a:ln w="12700">
            <a:solidFill>
              <a:schemeClr val="bg2"/>
            </a:solidFill>
          </a:ln>
        </p:spPr>
        <p:txBody>
          <a:bodyPr wrap="square" lIns="127000" tIns="127000" rIns="127000" bIns="127000" rtlCol="0" anchor="ctr"/>
          <a:lstStyle/>
          <a:p>
            <a:pPr algn="l" indent="0" marL="0">
              <a:buNone/>
            </a:pPr>
            <a:r>
              <a:rPr lang="en-US" sz="1400" b="1" dirty="0">
                <a:solidFill>
                  <a:schemeClr val="tx1"/>
                </a:solidFill>
                <a:latin typeface="Courier New" pitchFamily="34" charset="0"/>
                <a:ea typeface="Courier New" pitchFamily="34" charset="-122"/>
                <a:cs typeface="Courier New" pitchFamily="34" charset="-120"/>
              </a:rPr>
              <a:t>Savings.prototype</a:t>
            </a:r>
            <a:pPr algn="l" indent="0" marL="0">
              <a:buNone/>
            </a:pPr>
            <a:r>
              <a:rPr lang="en-US" sz="1400" dirty="0">
                <a:solidFill>
                  <a:schemeClr val="tx1"/>
                </a:solidFill>
              </a:rPr>
              <a:t>  addInterest</a:t>
            </a:r>
            <a:endParaRPr lang="en-US" sz="1500" dirty="0"/>
          </a:p>
        </p:txBody>
      </p:sp>
      <p:sp>
        <p:nvSpPr>
          <p:cNvPr id="10" name="arrow-159"/>
          <p:cNvSpPr/>
          <p:nvPr/>
        </p:nvSpPr>
        <p:spPr>
          <a:xfrm>
            <a:off x="9564624" y="3300984"/>
            <a:ext cx="0" cy="210312"/>
          </a:xfrm>
          <a:prstGeom prst="line">
            <a:avLst/>
          </a:prstGeom>
          <a:noFill/>
          <a:ln w="25400">
            <a:solidFill>
              <a:srgbClr val="6B7280"/>
            </a:solidFill>
            <a:prstDash val="solid"/>
            <a:tailEnd type="triangle"/>
          </a:ln>
        </p:spPr>
      </p:sp>
      <p:sp>
        <p:nvSpPr>
          <p:cNvPr id="11" name="box-160"/>
          <p:cNvSpPr txBox="1"/>
          <p:nvPr/>
        </p:nvSpPr>
        <p:spPr>
          <a:xfrm>
            <a:off x="7498080" y="3529584"/>
            <a:ext cx="4142232" cy="603504"/>
          </a:xfrm>
          <a:prstGeom prst="roundRect">
            <a:avLst>
              <a:gd name="adj" fmla="val 12121"/>
            </a:avLst>
          </a:prstGeom>
          <a:solidFill>
            <a:schemeClr val="bg2"/>
          </a:solidFill>
          <a:ln w="12700">
            <a:solidFill>
              <a:schemeClr val="bg2"/>
            </a:solidFill>
          </a:ln>
        </p:spPr>
        <p:txBody>
          <a:bodyPr wrap="square" lIns="127000" tIns="127000" rIns="127000" bIns="127000" rtlCol="0" anchor="ctr"/>
          <a:lstStyle/>
          <a:p>
            <a:pPr algn="l" indent="0" marL="0">
              <a:buNone/>
            </a:pPr>
            <a:r>
              <a:rPr lang="en-US" sz="1400" b="1" dirty="0">
                <a:solidFill>
                  <a:schemeClr val="tx1"/>
                </a:solidFill>
                <a:latin typeface="Courier New" pitchFamily="34" charset="0"/>
                <a:ea typeface="Courier New" pitchFamily="34" charset="-122"/>
                <a:cs typeface="Courier New" pitchFamily="34" charset="-120"/>
              </a:rPr>
              <a:t>Account.prototype</a:t>
            </a:r>
            <a:pPr algn="l" indent="0" marL="0">
              <a:buNone/>
            </a:pPr>
            <a:r>
              <a:rPr lang="en-US" sz="1400" dirty="0">
                <a:solidFill>
                  <a:schemeClr val="tx1"/>
                </a:solidFill>
              </a:rPr>
              <a:t>  deposit, balance</a:t>
            </a:r>
            <a:endParaRPr lang="en-US" sz="1500" dirty="0"/>
          </a:p>
        </p:txBody>
      </p:sp>
      <p:sp>
        <p:nvSpPr>
          <p:cNvPr id="12" name="arrow-161"/>
          <p:cNvSpPr/>
          <p:nvPr/>
        </p:nvSpPr>
        <p:spPr>
          <a:xfrm>
            <a:off x="9564624" y="4151376"/>
            <a:ext cx="0" cy="210312"/>
          </a:xfrm>
          <a:prstGeom prst="line">
            <a:avLst/>
          </a:prstGeom>
          <a:noFill/>
          <a:ln w="25400">
            <a:solidFill>
              <a:srgbClr val="6B7280"/>
            </a:solidFill>
            <a:prstDash val="solid"/>
            <a:tailEnd type="triangle"/>
          </a:ln>
        </p:spPr>
      </p:sp>
      <p:sp>
        <p:nvSpPr>
          <p:cNvPr id="13" name="box-162"/>
          <p:cNvSpPr txBox="1"/>
          <p:nvPr/>
        </p:nvSpPr>
        <p:spPr>
          <a:xfrm>
            <a:off x="7498080" y="4379976"/>
            <a:ext cx="4142232" cy="603504"/>
          </a:xfrm>
          <a:prstGeom prst="roundRect">
            <a:avLst>
              <a:gd name="adj" fmla="val 12121"/>
            </a:avLst>
          </a:prstGeom>
          <a:solidFill>
            <a:schemeClr val="bg2"/>
          </a:solidFill>
          <a:ln w="12700">
            <a:solidFill>
              <a:schemeClr val="bg2"/>
            </a:solidFill>
          </a:ln>
        </p:spPr>
        <p:txBody>
          <a:bodyPr wrap="square" lIns="127000" tIns="127000" rIns="127000" bIns="127000" rtlCol="0" anchor="ctr"/>
          <a:lstStyle/>
          <a:p>
            <a:pPr algn="l" indent="0" marL="0">
              <a:buNone/>
            </a:pPr>
            <a:r>
              <a:rPr lang="en-US" sz="1400" b="1" dirty="0">
                <a:solidFill>
                  <a:schemeClr val="tx1"/>
                </a:solidFill>
                <a:latin typeface="Courier New" pitchFamily="34" charset="0"/>
                <a:ea typeface="Courier New" pitchFamily="34" charset="-122"/>
                <a:cs typeface="Courier New" pitchFamily="34" charset="-120"/>
              </a:rPr>
              <a:t>Object.prototype</a:t>
            </a:r>
            <a:pPr algn="l" indent="0" marL="0">
              <a:buNone/>
            </a:pPr>
            <a:r>
              <a:rPr lang="en-US" sz="1400" dirty="0">
                <a:solidFill>
                  <a:schemeClr val="tx1"/>
                </a:solidFill>
              </a:rPr>
              <a:t>  toString, …</a:t>
            </a:r>
            <a:endParaRPr lang="en-US" sz="1500" dirty="0"/>
          </a:p>
        </p:txBody>
      </p:sp>
      <p:sp>
        <p:nvSpPr>
          <p:cNvPr id="14" name="proto-note"/>
          <p:cNvSpPr txBox="1"/>
          <p:nvPr/>
        </p:nvSpPr>
        <p:spPr>
          <a:xfrm>
            <a:off x="7498080" y="5257800"/>
            <a:ext cx="4142232" cy="914400"/>
          </a:xfrm>
          <a:prstGeom prst="rect">
            <a:avLst/>
          </a:prstGeom>
          <a:noFill/>
          <a:ln/>
        </p:spPr>
        <p:txBody>
          <a:bodyPr wrap="square" lIns="0" tIns="0" rIns="0" bIns="0" rtlCol="0" anchor="t"/>
          <a:lstStyle/>
          <a:p>
            <a:pPr indent="0" marL="0">
              <a:buNone/>
            </a:pPr>
            <a:r>
              <a:rPr lang="en-US" sz="1400" dirty="0">
                <a:solidFill>
                  <a:srgbClr val="374151"/>
                </a:solidFill>
              </a:rPr>
              <a:t>acc.toString() walks up the chain until it finds the method. NestJS controllers and services are classes like these.</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Activity 2: Refactor, then review</a:t>
            </a:r>
            <a:endParaRPr lang="en-US" sz="3200" dirty="0"/>
          </a:p>
        </p:txBody>
      </p:sp>
      <p:sp>
        <p:nvSpPr>
          <p:cNvPr id="3" name="badge-163"/>
          <p:cNvSpPr txBox="1"/>
          <p:nvPr/>
        </p:nvSpPr>
        <p:spPr>
          <a:xfrm>
            <a:off x="548640" y="1261872"/>
            <a:ext cx="3840480" cy="384048"/>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300" b="1" spc="100" kern="0" dirty="0">
                <a:solidFill>
                  <a:srgbClr val="FFFFFF"/>
                </a:solidFill>
              </a:rPr>
              <a:t>ACTIVITY 2  ·  AI LEVEL: GUIDED</a:t>
            </a:r>
            <a:endParaRPr lang="en-US" sz="1300" dirty="0"/>
          </a:p>
        </p:txBody>
      </p:sp>
      <p:sp>
        <p:nvSpPr>
          <p:cNvPr id="4" name="code-panel-164"/>
          <p:cNvSpPr/>
          <p:nvPr/>
        </p:nvSpPr>
        <p:spPr>
          <a:xfrm>
            <a:off x="548640" y="1874520"/>
            <a:ext cx="6309360" cy="4297680"/>
          </a:xfrm>
          <a:prstGeom prst="roundRect">
            <a:avLst>
              <a:gd name="adj" fmla="val 1702"/>
            </a:avLst>
          </a:prstGeom>
          <a:solidFill>
            <a:schemeClr val="tx2"/>
          </a:solidFill>
          <a:ln w="12700">
            <a:solidFill>
              <a:schemeClr val="tx2"/>
            </a:solidFill>
            <a:prstDash val="solid"/>
          </a:ln>
        </p:spPr>
      </p:sp>
      <p:sp>
        <p:nvSpPr>
          <p:cNvPr id="5" name="code-label-165"/>
          <p:cNvSpPr txBox="1"/>
          <p:nvPr/>
        </p:nvSpPr>
        <p:spPr>
          <a:xfrm>
            <a:off x="777240" y="2002536"/>
            <a:ext cx="5852160"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legacy.js</a:t>
            </a:r>
            <a:endParaRPr lang="en-US" sz="1100" dirty="0"/>
          </a:p>
        </p:txBody>
      </p:sp>
      <p:sp>
        <p:nvSpPr>
          <p:cNvPr id="6" name="code-166"/>
          <p:cNvSpPr txBox="1"/>
          <p:nvPr/>
        </p:nvSpPr>
        <p:spPr>
          <a:xfrm>
            <a:off x="777240" y="2331720"/>
            <a:ext cx="5852160" cy="3730752"/>
          </a:xfrm>
          <a:prstGeom prst="rect">
            <a:avLst/>
          </a:prstGeom>
          <a:noFill/>
          <a:ln/>
        </p:spPr>
        <p:txBody>
          <a:bodyPr wrap="square" lIns="0" tIns="0" rIns="0" bIns="0" rtlCol="0" anchor="t"/>
          <a:lstStyle/>
          <a:p>
            <a:pPr indent="0" marL="0">
              <a:buNone/>
            </a:pPr>
            <a:r>
              <a:rPr lang="en-US" sz="1400" dirty="0">
                <a:solidFill>
                  <a:srgbClr val="C792EA"/>
                </a:solidFill>
                <a:latin typeface="Courier New" pitchFamily="34" charset="0"/>
                <a:ea typeface="Courier New" pitchFamily="34" charset="-122"/>
                <a:cs typeface="Courier New" pitchFamily="34" charset="-120"/>
              </a:rPr>
              <a:t>function </a:t>
            </a:r>
            <a:pPr indent="0" marL="0">
              <a:buNone/>
            </a:pPr>
            <a:r>
              <a:rPr lang="en-US" sz="1400" dirty="0">
                <a:solidFill>
                  <a:srgbClr val="E5E7EB"/>
                </a:solidFill>
                <a:latin typeface="Courier New" pitchFamily="34" charset="0"/>
                <a:ea typeface="Courier New" pitchFamily="34" charset="-122"/>
                <a:cs typeface="Courier New" pitchFamily="34" charset="-120"/>
              </a:rPr>
              <a:t>topStudents(students)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var </a:t>
            </a:r>
            <a:pPr indent="0" marL="0">
              <a:buNone/>
            </a:pPr>
            <a:r>
              <a:rPr lang="en-US" sz="1400" dirty="0">
                <a:solidFill>
                  <a:srgbClr val="E5E7EB"/>
                </a:solidFill>
                <a:latin typeface="Courier New" pitchFamily="34" charset="0"/>
                <a:ea typeface="Courier New" pitchFamily="34" charset="-122"/>
                <a:cs typeface="Courier New" pitchFamily="34" charset="-120"/>
              </a:rPr>
              <a:t>result =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for </a:t>
            </a:r>
            <a:pPr indent="0" marL="0">
              <a:buNone/>
            </a:pPr>
            <a:r>
              <a:rPr lang="en-US" sz="1400" dirty="0">
                <a:solidFill>
                  <a:srgbClr val="E5E7EB"/>
                </a:solidFill>
                <a:latin typeface="Courier New" pitchFamily="34" charset="0"/>
                <a:ea typeface="Courier New" pitchFamily="34" charset="-122"/>
                <a:cs typeface="Courier New" pitchFamily="34" charset="-120"/>
              </a:rPr>
              <a:t>(</a:t>
            </a:r>
            <a:pPr indent="0" marL="0">
              <a:buNone/>
            </a:pPr>
            <a:r>
              <a:rPr lang="en-US" sz="1400" dirty="0">
                <a:solidFill>
                  <a:srgbClr val="C792EA"/>
                </a:solidFill>
                <a:latin typeface="Courier New" pitchFamily="34" charset="0"/>
                <a:ea typeface="Courier New" pitchFamily="34" charset="-122"/>
                <a:cs typeface="Courier New" pitchFamily="34" charset="-120"/>
              </a:rPr>
              <a:t>var </a:t>
            </a:r>
            <a:pPr indent="0" marL="0">
              <a:buNone/>
            </a:pPr>
            <a:r>
              <a:rPr lang="en-US" sz="1400" dirty="0">
                <a:solidFill>
                  <a:srgbClr val="E5E7EB"/>
                </a:solidFill>
                <a:latin typeface="Courier New" pitchFamily="34" charset="0"/>
                <a:ea typeface="Courier New" pitchFamily="34" charset="-122"/>
                <a:cs typeface="Courier New" pitchFamily="34" charset="-120"/>
              </a:rPr>
              <a:t>i = </a:t>
            </a:r>
            <a:pPr indent="0" marL="0">
              <a:buNone/>
            </a:pPr>
            <a:r>
              <a:rPr lang="en-US" sz="1400" dirty="0">
                <a:solidFill>
                  <a:srgbClr val="F7B267"/>
                </a:solidFill>
                <a:latin typeface="Courier New" pitchFamily="34" charset="0"/>
                <a:ea typeface="Courier New" pitchFamily="34" charset="-122"/>
                <a:cs typeface="Courier New" pitchFamily="34" charset="-120"/>
              </a:rPr>
              <a:t>0</a:t>
            </a:r>
            <a:pPr indent="0" marL="0">
              <a:buNone/>
            </a:pPr>
            <a:r>
              <a:rPr lang="en-US" sz="1400" dirty="0">
                <a:solidFill>
                  <a:srgbClr val="E5E7EB"/>
                </a:solidFill>
                <a:latin typeface="Courier New" pitchFamily="34" charset="0"/>
                <a:ea typeface="Courier New" pitchFamily="34" charset="-122"/>
                <a:cs typeface="Courier New" pitchFamily="34" charset="-120"/>
              </a:rPr>
              <a:t>; i &lt; students.length; i++)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if </a:t>
            </a:r>
            <a:pPr indent="0" marL="0">
              <a:buNone/>
            </a:pPr>
            <a:r>
              <a:rPr lang="en-US" sz="1400" dirty="0">
                <a:solidFill>
                  <a:srgbClr val="E5E7EB"/>
                </a:solidFill>
                <a:latin typeface="Courier New" pitchFamily="34" charset="0"/>
                <a:ea typeface="Courier New" pitchFamily="34" charset="-122"/>
                <a:cs typeface="Courier New" pitchFamily="34" charset="-120"/>
              </a:rPr>
              <a:t>(students[i].score &gt;= </a:t>
            </a:r>
            <a:pPr indent="0" marL="0">
              <a:buNone/>
            </a:pPr>
            <a:r>
              <a:rPr lang="en-US" sz="1400" dirty="0">
                <a:solidFill>
                  <a:srgbClr val="F7B267"/>
                </a:solidFill>
                <a:latin typeface="Courier New" pitchFamily="34" charset="0"/>
                <a:ea typeface="Courier New" pitchFamily="34" charset="-122"/>
                <a:cs typeface="Courier New" pitchFamily="34" charset="-120"/>
              </a:rPr>
              <a:t>80</a:t>
            </a:r>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result.push(students[i].name.toUpperCase());</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result.sort();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return </a:t>
            </a:r>
            <a:pPr indent="0" marL="0">
              <a:buNone/>
            </a:pPr>
            <a:r>
              <a:rPr lang="en-US" sz="1400" dirty="0">
                <a:solidFill>
                  <a:srgbClr val="E5E7EB"/>
                </a:solidFill>
                <a:latin typeface="Courier New" pitchFamily="34" charset="0"/>
                <a:ea typeface="Courier New" pitchFamily="34" charset="-122"/>
                <a:cs typeface="Courier New" pitchFamily="34" charset="-120"/>
              </a:rPr>
              <a:t>result;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p:txBody>
      </p:sp>
      <p:sp>
        <p:nvSpPr>
          <p:cNvPr id="7" name="dot-167"/>
          <p:cNvSpPr txBox="1"/>
          <p:nvPr/>
        </p:nvSpPr>
        <p:spPr>
          <a:xfrm>
            <a:off x="7132320" y="1892808"/>
            <a:ext cx="457200" cy="4572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8" name="act2-step-168"/>
          <p:cNvSpPr txBox="1"/>
          <p:nvPr/>
        </p:nvSpPr>
        <p:spPr>
          <a:xfrm>
            <a:off x="7726680" y="1874520"/>
            <a:ext cx="3913632"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Rewrite it yourself</a:t>
            </a:r>
            <a:endParaRPr lang="en-US" sz="1700" dirty="0"/>
          </a:p>
          <a:p>
            <a:pPr indent="0" marL="0">
              <a:spcAft>
                <a:spcPts val="400"/>
              </a:spcAft>
              <a:buNone/>
            </a:pPr>
            <a:r>
              <a:rPr lang="en-US" sz="1500" dirty="0">
                <a:solidFill>
                  <a:srgbClr val="374151"/>
                </a:solidFill>
              </a:rPr>
              <a:t>Use filter, map and a sort that does not mutate the input. No AI for this step (8 min).</a:t>
            </a:r>
            <a:endParaRPr lang="en-US" sz="1700" dirty="0"/>
          </a:p>
        </p:txBody>
      </p:sp>
      <p:sp>
        <p:nvSpPr>
          <p:cNvPr id="9" name="dot-169"/>
          <p:cNvSpPr txBox="1"/>
          <p:nvPr/>
        </p:nvSpPr>
        <p:spPr>
          <a:xfrm>
            <a:off x="7132320" y="3355848"/>
            <a:ext cx="457200" cy="4572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act2-step-170"/>
          <p:cNvSpPr txBox="1"/>
          <p:nvPr/>
        </p:nvSpPr>
        <p:spPr>
          <a:xfrm>
            <a:off x="7726680" y="3337560"/>
            <a:ext cx="3913632"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Ask an AI for its version</a:t>
            </a:r>
            <a:endParaRPr lang="en-US" sz="1700" dirty="0"/>
          </a:p>
          <a:p>
            <a:pPr indent="0" marL="0">
              <a:spcAft>
                <a:spcPts val="400"/>
              </a:spcAft>
              <a:buNone/>
            </a:pPr>
            <a:r>
              <a:rPr lang="en-US" sz="1500" dirty="0">
                <a:solidFill>
                  <a:srgbClr val="374151"/>
                </a:solidFill>
              </a:rPr>
              <a:t>Same prompt for everyone: “Refactor this to modern JavaScript.”</a:t>
            </a:r>
            <a:endParaRPr lang="en-US" sz="1700" dirty="0"/>
          </a:p>
        </p:txBody>
      </p:sp>
      <p:sp>
        <p:nvSpPr>
          <p:cNvPr id="11" name="dot-171"/>
          <p:cNvSpPr txBox="1"/>
          <p:nvPr/>
        </p:nvSpPr>
        <p:spPr>
          <a:xfrm>
            <a:off x="7132320" y="4818888"/>
            <a:ext cx="457200" cy="4572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act2-step-172"/>
          <p:cNvSpPr txBox="1"/>
          <p:nvPr/>
        </p:nvSpPr>
        <p:spPr>
          <a:xfrm>
            <a:off x="7726680" y="4800600"/>
            <a:ext cx="3913632"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Review both like a code reviewer</a:t>
            </a:r>
            <a:endParaRPr lang="en-US" sz="1700" dirty="0"/>
          </a:p>
          <a:p>
            <a:pPr indent="0" marL="0">
              <a:spcAft>
                <a:spcPts val="400"/>
              </a:spcAft>
              <a:buNone/>
            </a:pPr>
            <a:r>
              <a:rPr lang="en-US" sz="1500" dirty="0">
                <a:solidFill>
                  <a:srgbClr val="374151"/>
                </a:solidFill>
              </a:rPr>
              <a:t>Same output for every input? Readable? Does either mutate students? Which would you merge, and why?</a:t>
            </a:r>
            <a:endParaRPr lang="en-US" sz="17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731520" y="1920240"/>
            <a:ext cx="7132320" cy="457200"/>
          </a:xfrm>
          <a:prstGeom prst="rect">
            <a:avLst/>
          </a:prstGeom>
          <a:noFill/>
          <a:ln/>
        </p:spPr>
        <p:txBody>
          <a:bodyPr wrap="square" lIns="0" tIns="0" rIns="0" bIns="0" rtlCol="0"/>
          <a:lstStyle/>
          <a:p>
            <a:pPr indent="0" marL="0">
              <a:buNone/>
            </a:pPr>
            <a:r>
              <a:rPr lang="en-US" sz="1800" b="1" spc="300" kern="0" dirty="0">
                <a:solidFill>
                  <a:schemeClr val="accent1"/>
                </a:solidFill>
              </a:rPr>
              <a:t>PART 3</a:t>
            </a:r>
            <a:endParaRPr lang="en-US" sz="1800" dirty="0"/>
          </a:p>
        </p:txBody>
      </p:sp>
      <p:sp>
        <p:nvSpPr>
          <p:cNvPr id="3" name="Text 0"/>
          <p:cNvSpPr/>
          <p:nvPr>
            <p:ph idx="101" type="title" hasCustomPrompt="1"/>
          </p:nvPr>
        </p:nvSpPr>
        <p:spPr>
          <a:xfrm>
            <a:off x="731520" y="2468880"/>
            <a:ext cx="7132320" cy="1280160"/>
          </a:xfrm>
          <a:prstGeom prst="rect">
            <a:avLst/>
          </a:prstGeom>
          <a:noFill/>
          <a:ln/>
        </p:spPr>
        <p:txBody>
          <a:bodyPr wrap="square" lIns="0" tIns="0" rIns="0" bIns="0" rtlCol="0" anchor="t"/>
          <a:lstStyle/>
          <a:p>
            <a:pPr algn="l" indent="0" marL="0">
              <a:buNone/>
            </a:pPr>
            <a:r>
              <a:rPr lang="en-US" sz="4400" b="1" dirty="0">
                <a:solidFill>
                  <a:schemeClr val="bg1"/>
                </a:solidFill>
              </a:rPr>
              <a:t>Async &amp; modules</a:t>
            </a:r>
            <a:endParaRPr lang="en-US" sz="4400" dirty="0"/>
          </a:p>
        </p:txBody>
      </p:sp>
      <p:sp>
        <p:nvSpPr>
          <p:cNvPr id="4" name="Text 0"/>
          <p:cNvSpPr/>
          <p:nvPr>
            <p:ph idx="102" type="body" hasCustomPrompt="1"/>
          </p:nvPr>
        </p:nvSpPr>
        <p:spPr>
          <a:xfrm>
            <a:off x="731520" y="3840480"/>
            <a:ext cx="7132320" cy="1097280"/>
          </a:xfrm>
          <a:prstGeom prst="rect">
            <a:avLst/>
          </a:prstGeom>
          <a:noFill/>
          <a:ln/>
        </p:spPr>
        <p:txBody>
          <a:bodyPr wrap="square" lIns="0" tIns="0" rIns="0" bIns="0" rtlCol="0" anchor="t"/>
          <a:lstStyle/>
          <a:p>
            <a:pPr indent="0" marL="0">
              <a:buNone/>
            </a:pPr>
            <a:r>
              <a:rPr lang="en-US" sz="1800" dirty="0">
                <a:solidFill>
                  <a:srgbClr val="D1D5DB"/>
                </a:solidFill>
              </a:rPr>
              <a:t>The event loop, promises, async/await, fetch, modules and the DOM</a:t>
            </a:r>
            <a:endParaRPr lang="en-US" sz="1800" dirty="0"/>
          </a:p>
        </p:txBody>
      </p:sp>
      <p:sp>
        <p:nvSpPr>
          <p:cNvPr id="5" name="section-mark-173"/>
          <p:cNvSpPr txBox="1"/>
          <p:nvPr/>
        </p:nvSpPr>
        <p:spPr>
          <a:xfrm>
            <a:off x="8503920" y="1737360"/>
            <a:ext cx="3017520" cy="3017520"/>
          </a:xfrm>
          <a:prstGeom prst="roundRect">
            <a:avLst>
              <a:gd name="adj" fmla="val 4545"/>
            </a:avLst>
          </a:prstGeom>
          <a:solidFill>
            <a:schemeClr val="accent1"/>
          </a:solidFill>
          <a:ln>
            <a:solidFill>
              <a:schemeClr val="accent1"/>
            </a:solidFill>
          </a:ln>
        </p:spPr>
        <p:txBody>
          <a:bodyPr wrap="square" lIns="177800" tIns="177800" rIns="177800" bIns="177800" rtlCol="0" anchor="b"/>
          <a:lstStyle/>
          <a:p>
            <a:pPr algn="r" indent="0" marL="0">
              <a:buNone/>
            </a:pPr>
            <a:r>
              <a:rPr lang="en-US" sz="11000" b="1" dirty="0">
                <a:solidFill>
                  <a:srgbClr val="1B1B1F"/>
                </a:solidFill>
                <a:latin typeface="Arial" pitchFamily="34" charset="0"/>
                <a:ea typeface="Arial" pitchFamily="34" charset="-122"/>
                <a:cs typeface="Arial" pitchFamily="34" charset="-120"/>
              </a:rPr>
              <a:t>03</a:t>
            </a:r>
            <a:endParaRPr lang="en-US" sz="1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The event loop: one thread, many queues</a:t>
            </a:r>
            <a:endParaRPr lang="en-US" sz="3200" dirty="0"/>
          </a:p>
        </p:txBody>
      </p:sp>
      <p:sp>
        <p:nvSpPr>
          <p:cNvPr id="3" name="stack"/>
          <p:cNvSpPr/>
          <p:nvPr/>
        </p:nvSpPr>
        <p:spPr>
          <a:xfrm>
            <a:off x="548640" y="1371600"/>
            <a:ext cx="2743200" cy="3931920"/>
          </a:xfrm>
          <a:prstGeom prst="roundRect">
            <a:avLst>
              <a:gd name="adj" fmla="val 2667"/>
            </a:avLst>
          </a:prstGeom>
          <a:solidFill>
            <a:schemeClr val="tx2"/>
          </a:solidFill>
          <a:ln w="12700">
            <a:solidFill>
              <a:schemeClr val="tx2"/>
            </a:solidFill>
            <a:prstDash val="solid"/>
          </a:ln>
        </p:spPr>
      </p:sp>
      <p:sp>
        <p:nvSpPr>
          <p:cNvPr id="4" name="stack-label"/>
          <p:cNvSpPr txBox="1"/>
          <p:nvPr/>
        </p:nvSpPr>
        <p:spPr>
          <a:xfrm>
            <a:off x="777240" y="1508760"/>
            <a:ext cx="2286000" cy="365760"/>
          </a:xfrm>
          <a:prstGeom prst="rect">
            <a:avLst/>
          </a:prstGeom>
          <a:noFill/>
          <a:ln/>
        </p:spPr>
        <p:txBody>
          <a:bodyPr wrap="square" lIns="0" tIns="0" rIns="0" bIns="0" rtlCol="0" anchor="ctr"/>
          <a:lstStyle/>
          <a:p>
            <a:pPr indent="0" marL="0">
              <a:buNone/>
            </a:pPr>
            <a:r>
              <a:rPr lang="en-US" sz="1700" b="1" dirty="0">
                <a:solidFill>
                  <a:srgbClr val="FFFFFF"/>
                </a:solidFill>
              </a:rPr>
              <a:t>Call stack</a:t>
            </a:r>
            <a:endParaRPr lang="en-US" sz="1700" dirty="0"/>
          </a:p>
        </p:txBody>
      </p:sp>
      <p:sp>
        <p:nvSpPr>
          <p:cNvPr id="5" name="box-174"/>
          <p:cNvSpPr txBox="1"/>
          <p:nvPr/>
        </p:nvSpPr>
        <p:spPr>
          <a:xfrm>
            <a:off x="777240" y="2103120"/>
            <a:ext cx="2286000" cy="548640"/>
          </a:xfrm>
          <a:prstGeom prst="roundRect">
            <a:avLst>
              <a:gd name="adj" fmla="val 13333"/>
            </a:avLst>
          </a:prstGeom>
          <a:solidFill>
            <a:srgbClr val="3A3F4B"/>
          </a:solidFill>
          <a:ln w="12700">
            <a:solidFill>
              <a:srgbClr val="3A3F4B"/>
            </a:solidFill>
          </a:ln>
        </p:spPr>
        <p:txBody>
          <a:bodyPr wrap="square" lIns="50800" tIns="50800" rIns="50800" bIns="50800" rtlCol="0" anchor="ctr"/>
          <a:lstStyle/>
          <a:p>
            <a:pPr algn="ctr" indent="0" marL="0">
              <a:buNone/>
            </a:pPr>
            <a:r>
              <a:rPr lang="en-US" sz="1400" dirty="0">
                <a:solidFill>
                  <a:srgbClr val="FFFFFF"/>
                </a:solidFill>
                <a:latin typeface="Courier New" pitchFamily="34" charset="0"/>
                <a:ea typeface="Courier New" pitchFamily="34" charset="-122"/>
                <a:cs typeface="Courier New" pitchFamily="34" charset="-120"/>
              </a:rPr>
              <a:t>render()</a:t>
            </a:r>
            <a:endParaRPr lang="en-US" sz="1400" dirty="0"/>
          </a:p>
        </p:txBody>
      </p:sp>
      <p:sp>
        <p:nvSpPr>
          <p:cNvPr id="6" name="box-175"/>
          <p:cNvSpPr txBox="1"/>
          <p:nvPr/>
        </p:nvSpPr>
        <p:spPr>
          <a:xfrm>
            <a:off x="777240" y="2788920"/>
            <a:ext cx="2286000" cy="548640"/>
          </a:xfrm>
          <a:prstGeom prst="roundRect">
            <a:avLst>
              <a:gd name="adj" fmla="val 13333"/>
            </a:avLst>
          </a:prstGeom>
          <a:solidFill>
            <a:srgbClr val="3A3F4B"/>
          </a:solidFill>
          <a:ln w="12700">
            <a:solidFill>
              <a:srgbClr val="3A3F4B"/>
            </a:solidFill>
          </a:ln>
        </p:spPr>
        <p:txBody>
          <a:bodyPr wrap="square" lIns="50800" tIns="50800" rIns="50800" bIns="50800" rtlCol="0" anchor="ctr"/>
          <a:lstStyle/>
          <a:p>
            <a:pPr algn="ctr" indent="0" marL="0">
              <a:buNone/>
            </a:pPr>
            <a:r>
              <a:rPr lang="en-US" sz="1400" dirty="0">
                <a:solidFill>
                  <a:srgbClr val="FFFFFF"/>
                </a:solidFill>
                <a:latin typeface="Courier New" pitchFamily="34" charset="0"/>
                <a:ea typeface="Courier New" pitchFamily="34" charset="-122"/>
                <a:cs typeface="Courier New" pitchFamily="34" charset="-120"/>
              </a:rPr>
              <a:t>loadPage()</a:t>
            </a:r>
            <a:endParaRPr lang="en-US" sz="1400" dirty="0"/>
          </a:p>
        </p:txBody>
      </p:sp>
      <p:sp>
        <p:nvSpPr>
          <p:cNvPr id="7" name="box-176"/>
          <p:cNvSpPr txBox="1"/>
          <p:nvPr/>
        </p:nvSpPr>
        <p:spPr>
          <a:xfrm>
            <a:off x="777240" y="3474720"/>
            <a:ext cx="2286000" cy="548640"/>
          </a:xfrm>
          <a:prstGeom prst="roundRect">
            <a:avLst>
              <a:gd name="adj" fmla="val 13333"/>
            </a:avLst>
          </a:prstGeom>
          <a:solidFill>
            <a:srgbClr val="3A3F4B"/>
          </a:solidFill>
          <a:ln w="12700">
            <a:solidFill>
              <a:srgbClr val="3A3F4B"/>
            </a:solidFill>
          </a:ln>
        </p:spPr>
        <p:txBody>
          <a:bodyPr wrap="square" lIns="50800" tIns="50800" rIns="50800" bIns="50800" rtlCol="0" anchor="ctr"/>
          <a:lstStyle/>
          <a:p>
            <a:pPr algn="ctr" indent="0" marL="0">
              <a:buNone/>
            </a:pPr>
            <a:r>
              <a:rPr lang="en-US" sz="1400" dirty="0">
                <a:solidFill>
                  <a:srgbClr val="FFFFFF"/>
                </a:solidFill>
                <a:latin typeface="Courier New" pitchFamily="34" charset="0"/>
                <a:ea typeface="Courier New" pitchFamily="34" charset="-122"/>
                <a:cs typeface="Courier New" pitchFamily="34" charset="-120"/>
              </a:rPr>
              <a:t>main()</a:t>
            </a:r>
            <a:endParaRPr lang="en-US" sz="1400" dirty="0"/>
          </a:p>
        </p:txBody>
      </p:sp>
      <p:sp>
        <p:nvSpPr>
          <p:cNvPr id="8" name="stack-note"/>
          <p:cNvSpPr txBox="1"/>
          <p:nvPr/>
        </p:nvSpPr>
        <p:spPr>
          <a:xfrm>
            <a:off x="777240" y="4251960"/>
            <a:ext cx="2286000" cy="868680"/>
          </a:xfrm>
          <a:prstGeom prst="rect">
            <a:avLst/>
          </a:prstGeom>
          <a:noFill/>
          <a:ln/>
        </p:spPr>
        <p:txBody>
          <a:bodyPr wrap="square" lIns="0" tIns="0" rIns="0" bIns="0" rtlCol="0" anchor="ctr"/>
          <a:lstStyle/>
          <a:p>
            <a:pPr indent="0" marL="0">
              <a:buNone/>
            </a:pPr>
            <a:r>
              <a:rPr lang="en-US" sz="1300" dirty="0">
                <a:solidFill>
                  <a:srgbClr val="D1D5DB"/>
                </a:solidFill>
              </a:rPr>
              <a:t>runs one function at a time, to completion</a:t>
            </a:r>
            <a:endParaRPr lang="en-US" sz="1300" dirty="0"/>
          </a:p>
        </p:txBody>
      </p:sp>
      <p:sp>
        <p:nvSpPr>
          <p:cNvPr id="9" name="arrow-177"/>
          <p:cNvSpPr/>
          <p:nvPr/>
        </p:nvSpPr>
        <p:spPr>
          <a:xfrm>
            <a:off x="3337560" y="2148840"/>
            <a:ext cx="548640" cy="0"/>
          </a:xfrm>
          <a:prstGeom prst="line">
            <a:avLst/>
          </a:prstGeom>
          <a:noFill/>
          <a:ln w="25400">
            <a:solidFill>
              <a:srgbClr val="9CA3AF"/>
            </a:solidFill>
            <a:prstDash val="solid"/>
            <a:tailEnd type="triangle"/>
          </a:ln>
        </p:spPr>
      </p:sp>
      <p:sp>
        <p:nvSpPr>
          <p:cNvPr id="10" name="card-178"/>
          <p:cNvSpPr/>
          <p:nvPr/>
        </p:nvSpPr>
        <p:spPr>
          <a:xfrm>
            <a:off x="3931920" y="1371600"/>
            <a:ext cx="3383280" cy="1554480"/>
          </a:xfrm>
          <a:prstGeom prst="roundRect">
            <a:avLst>
              <a:gd name="adj" fmla="val 4706"/>
            </a:avLst>
          </a:prstGeom>
          <a:solidFill>
            <a:schemeClr val="bg2"/>
          </a:solidFill>
          <a:ln w="12700">
            <a:solidFill>
              <a:schemeClr val="bg2"/>
            </a:solidFill>
            <a:prstDash val="solid"/>
          </a:ln>
        </p:spPr>
      </p:sp>
      <p:sp>
        <p:nvSpPr>
          <p:cNvPr id="11" name="card-text-179"/>
          <p:cNvSpPr txBox="1"/>
          <p:nvPr/>
        </p:nvSpPr>
        <p:spPr>
          <a:xfrm>
            <a:off x="4133088" y="1517904"/>
            <a:ext cx="2980944" cy="1261872"/>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Host APIs</a:t>
            </a:r>
            <a:endParaRPr lang="en-US" sz="1700" dirty="0"/>
          </a:p>
          <a:p>
            <a:pPr indent="0" marL="0">
              <a:buNone/>
            </a:pPr>
            <a:r>
              <a:rPr lang="en-US" sz="1400" dirty="0">
                <a:solidFill>
                  <a:srgbClr val="374151"/>
                </a:solidFill>
              </a:rPr>
              <a:t>timers, network (fetch), file I/O, DOM events. Work happens here, off the stack.</a:t>
            </a:r>
            <a:endParaRPr lang="en-US" sz="1700" dirty="0"/>
          </a:p>
        </p:txBody>
      </p:sp>
      <p:sp>
        <p:nvSpPr>
          <p:cNvPr id="12" name="arrow-180"/>
          <p:cNvSpPr/>
          <p:nvPr/>
        </p:nvSpPr>
        <p:spPr>
          <a:xfrm>
            <a:off x="5623560" y="2971800"/>
            <a:ext cx="0" cy="320040"/>
          </a:xfrm>
          <a:prstGeom prst="line">
            <a:avLst/>
          </a:prstGeom>
          <a:noFill/>
          <a:ln w="25400">
            <a:solidFill>
              <a:srgbClr val="9CA3AF"/>
            </a:solidFill>
            <a:prstDash val="solid"/>
            <a:tailEnd type="triangle"/>
          </a:ln>
        </p:spPr>
      </p:sp>
      <p:sp>
        <p:nvSpPr>
          <p:cNvPr id="13" name="microq"/>
          <p:cNvSpPr/>
          <p:nvPr/>
        </p:nvSpPr>
        <p:spPr>
          <a:xfrm>
            <a:off x="3931920" y="3337560"/>
            <a:ext cx="3383280" cy="914400"/>
          </a:xfrm>
          <a:prstGeom prst="roundRect">
            <a:avLst>
              <a:gd name="adj" fmla="val 8000"/>
            </a:avLst>
          </a:prstGeom>
          <a:solidFill>
            <a:schemeClr val="accent1"/>
          </a:solidFill>
          <a:ln w="12700">
            <a:solidFill>
              <a:schemeClr val="accent1"/>
            </a:solidFill>
            <a:prstDash val="solid"/>
          </a:ln>
        </p:spPr>
      </p:sp>
      <p:sp>
        <p:nvSpPr>
          <p:cNvPr id="14" name="microq-text"/>
          <p:cNvSpPr txBox="1"/>
          <p:nvPr/>
        </p:nvSpPr>
        <p:spPr>
          <a:xfrm>
            <a:off x="4114800" y="3383280"/>
            <a:ext cx="3017520" cy="822960"/>
          </a:xfrm>
          <a:prstGeom prst="rect">
            <a:avLst/>
          </a:prstGeom>
          <a:noFill/>
          <a:ln/>
        </p:spPr>
        <p:txBody>
          <a:bodyPr wrap="square" lIns="0" tIns="0" rIns="0" bIns="0" rtlCol="0" anchor="ctr"/>
          <a:lstStyle/>
          <a:p>
            <a:pPr indent="0" marL="0">
              <a:buNone/>
            </a:pPr>
            <a:r>
              <a:rPr lang="en-US" sz="1500" b="1" dirty="0">
                <a:solidFill>
                  <a:srgbClr val="1B1B1F"/>
                </a:solidFill>
              </a:rPr>
              <a:t>Microtask queue</a:t>
            </a:r>
            <a:endParaRPr lang="en-US" sz="1500" dirty="0"/>
          </a:p>
          <a:p>
            <a:pPr indent="0" marL="0">
              <a:buNone/>
            </a:pPr>
            <a:r>
              <a:rPr lang="en-US" sz="1300" dirty="0">
                <a:solidFill>
                  <a:srgbClr val="1B1B1F"/>
                </a:solidFill>
              </a:rPr>
              <a:t>promise callbacks, code after await</a:t>
            </a:r>
            <a:endParaRPr lang="en-US" sz="1500" dirty="0"/>
          </a:p>
        </p:txBody>
      </p:sp>
      <p:sp>
        <p:nvSpPr>
          <p:cNvPr id="15" name="taskq"/>
          <p:cNvSpPr/>
          <p:nvPr/>
        </p:nvSpPr>
        <p:spPr>
          <a:xfrm>
            <a:off x="3931920" y="4389120"/>
            <a:ext cx="3383280" cy="914400"/>
          </a:xfrm>
          <a:prstGeom prst="roundRect">
            <a:avLst>
              <a:gd name="adj" fmla="val 8000"/>
            </a:avLst>
          </a:prstGeom>
          <a:solidFill>
            <a:schemeClr val="bg2"/>
          </a:solidFill>
          <a:ln w="12700">
            <a:solidFill>
              <a:schemeClr val="bg2"/>
            </a:solidFill>
            <a:prstDash val="solid"/>
          </a:ln>
        </p:spPr>
      </p:sp>
      <p:sp>
        <p:nvSpPr>
          <p:cNvPr id="16" name="taskq-text"/>
          <p:cNvSpPr txBox="1"/>
          <p:nvPr/>
        </p:nvSpPr>
        <p:spPr>
          <a:xfrm>
            <a:off x="4114800" y="4434840"/>
            <a:ext cx="3017520" cy="822960"/>
          </a:xfrm>
          <a:prstGeom prst="rect">
            <a:avLst/>
          </a:prstGeom>
          <a:noFill/>
          <a:ln/>
        </p:spPr>
        <p:txBody>
          <a:bodyPr wrap="square" lIns="0" tIns="0" rIns="0" bIns="0" rtlCol="0" anchor="ctr"/>
          <a:lstStyle/>
          <a:p>
            <a:pPr indent="0" marL="0">
              <a:buNone/>
            </a:pPr>
            <a:r>
              <a:rPr lang="en-US" sz="1500" b="1" dirty="0">
                <a:solidFill>
                  <a:schemeClr val="tx1"/>
                </a:solidFill>
              </a:rPr>
              <a:t>Task queue</a:t>
            </a:r>
            <a:endParaRPr lang="en-US" sz="1500" dirty="0"/>
          </a:p>
          <a:p>
            <a:pPr indent="0" marL="0">
              <a:buNone/>
            </a:pPr>
            <a:r>
              <a:rPr lang="en-US" sz="1300" dirty="0">
                <a:solidFill>
                  <a:schemeClr val="tx1"/>
                </a:solidFill>
              </a:rPr>
              <a:t>setTimeout, I/O done, click events</a:t>
            </a:r>
            <a:endParaRPr lang="en-US" sz="1500" dirty="0"/>
          </a:p>
        </p:txBody>
      </p:sp>
      <p:sp>
        <p:nvSpPr>
          <p:cNvPr id="17" name="loop-arrow"/>
          <p:cNvSpPr/>
          <p:nvPr/>
        </p:nvSpPr>
        <p:spPr>
          <a:xfrm flipH="1">
            <a:off x="3337560" y="4846320"/>
            <a:ext cx="548640" cy="0"/>
          </a:xfrm>
          <a:prstGeom prst="line">
            <a:avLst/>
          </a:prstGeom>
          <a:noFill/>
          <a:ln w="25400">
            <a:solidFill>
              <a:srgbClr val="6B7280"/>
            </a:solidFill>
            <a:prstDash val="solid"/>
            <a:tailEnd type="triangle"/>
          </a:ln>
        </p:spPr>
      </p:sp>
      <p:sp>
        <p:nvSpPr>
          <p:cNvPr id="18" name="loop-label"/>
          <p:cNvSpPr txBox="1"/>
          <p:nvPr/>
        </p:nvSpPr>
        <p:spPr>
          <a:xfrm>
            <a:off x="3310128" y="4919472"/>
            <a:ext cx="603504" cy="384048"/>
          </a:xfrm>
          <a:prstGeom prst="rect">
            <a:avLst/>
          </a:prstGeom>
          <a:noFill/>
          <a:ln/>
        </p:spPr>
        <p:txBody>
          <a:bodyPr wrap="square" lIns="0" tIns="0" rIns="0" bIns="0" rtlCol="0" anchor="ctr"/>
          <a:lstStyle/>
          <a:p>
            <a:pPr algn="ctr" indent="0" marL="0">
              <a:buNone/>
            </a:pPr>
            <a:r>
              <a:rPr lang="en-US" sz="1100" dirty="0">
                <a:solidFill>
                  <a:srgbClr val="6B7280"/>
                </a:solidFill>
              </a:rPr>
              <a:t>event loop</a:t>
            </a:r>
            <a:endParaRPr lang="en-US" sz="1100" dirty="0"/>
          </a:p>
        </p:txBody>
      </p:sp>
      <p:sp>
        <p:nvSpPr>
          <p:cNvPr id="19" name="card-181"/>
          <p:cNvSpPr/>
          <p:nvPr/>
        </p:nvSpPr>
        <p:spPr>
          <a:xfrm>
            <a:off x="7635240" y="1371600"/>
            <a:ext cx="4005072" cy="3931920"/>
          </a:xfrm>
          <a:prstGeom prst="roundRect">
            <a:avLst>
              <a:gd name="adj" fmla="val 1860"/>
            </a:avLst>
          </a:prstGeom>
          <a:solidFill>
            <a:schemeClr val="bg2"/>
          </a:solidFill>
          <a:ln w="12700">
            <a:solidFill>
              <a:schemeClr val="bg2"/>
            </a:solidFill>
            <a:prstDash val="solid"/>
          </a:ln>
        </p:spPr>
      </p:sp>
      <p:sp>
        <p:nvSpPr>
          <p:cNvPr id="20" name="card-text-182"/>
          <p:cNvSpPr txBox="1"/>
          <p:nvPr/>
        </p:nvSpPr>
        <p:spPr>
          <a:xfrm>
            <a:off x="7836408" y="1517904"/>
            <a:ext cx="3602736" cy="3639312"/>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The rules</a:t>
            </a:r>
            <a:endParaRPr lang="en-US" sz="1700" dirty="0"/>
          </a:p>
          <a:p>
            <a:pPr marL="177800" indent="-177800">
              <a:spcAft>
                <a:spcPts val="400"/>
              </a:spcAft>
              <a:buSzPct val="100000"/>
              <a:buChar char="•"/>
            </a:pPr>
            <a:r>
              <a:rPr lang="en-US" sz="1500" dirty="0">
                <a:solidFill>
                  <a:srgbClr val="374151"/>
                </a:solidFill>
              </a:rPr>
              <a:t>Synchronous code runs first, until the stack is empty.</a:t>
            </a:r>
            <a:endParaRPr lang="en-US" sz="1700" dirty="0"/>
          </a:p>
          <a:p>
            <a:pPr marL="177800" indent="-177800">
              <a:spcAft>
                <a:spcPts val="400"/>
              </a:spcAft>
              <a:buSzPct val="100000"/>
              <a:buChar char="•"/>
            </a:pPr>
            <a:r>
              <a:rPr lang="en-US" sz="1500" dirty="0">
                <a:solidFill>
                  <a:srgbClr val="374151"/>
                </a:solidFill>
              </a:rPr>
              <a:t>Then ALL microtasks run (promises, await).</a:t>
            </a:r>
            <a:endParaRPr lang="en-US" sz="1700" dirty="0"/>
          </a:p>
          <a:p>
            <a:pPr marL="177800" indent="-177800">
              <a:spcAft>
                <a:spcPts val="400"/>
              </a:spcAft>
              <a:buSzPct val="100000"/>
              <a:buChar char="•"/>
            </a:pPr>
            <a:r>
              <a:rPr lang="en-US" sz="1500" dirty="0">
                <a:solidFill>
                  <a:srgbClr val="374151"/>
                </a:solidFill>
              </a:rPr>
              <a:t>Then ONE task runs (e.g. a timer), and the cycle repeats.</a:t>
            </a:r>
            <a:endParaRPr lang="en-US" sz="1700" dirty="0"/>
          </a:p>
          <a:p>
            <a:pPr marL="177800" indent="-177800">
              <a:spcAft>
                <a:spcPts val="400"/>
              </a:spcAft>
              <a:buSzPct val="100000"/>
              <a:buChar char="•"/>
            </a:pPr>
            <a:r>
              <a:rPr lang="en-US" sz="1500" dirty="0">
                <a:solidFill>
                  <a:srgbClr val="374151"/>
                </a:solidFill>
              </a:rPr>
              <a:t>A long loop blocks everything: no clicks, no rendering, no requests served.</a:t>
            </a:r>
            <a:endParaRPr lang="en-US" sz="1700" dirty="0"/>
          </a:p>
        </p:txBody>
      </p:sp>
      <p:sp>
        <p:nvSpPr>
          <p:cNvPr id="21" name="loop-footer"/>
          <p:cNvSpPr txBox="1"/>
          <p:nvPr/>
        </p:nvSpPr>
        <p:spPr>
          <a:xfrm>
            <a:off x="548640" y="5486400"/>
            <a:ext cx="11091672" cy="594360"/>
          </a:xfrm>
          <a:prstGeom prst="rect">
            <a:avLst/>
          </a:prstGeom>
          <a:noFill/>
          <a:ln/>
        </p:spPr>
        <p:txBody>
          <a:bodyPr wrap="square" lIns="0" tIns="0" rIns="0" bIns="0" rtlCol="0" anchor="ctr"/>
          <a:lstStyle/>
          <a:p>
            <a:pPr indent="0" marL="0">
              <a:buNone/>
            </a:pPr>
            <a:r>
              <a:rPr lang="en-US" sz="1500" i="1" dirty="0">
                <a:solidFill>
                  <a:srgbClr val="6B7280"/>
                </a:solidFill>
              </a:rPr>
              <a:t>Node.js serves thousands of requests on one thread this way, as long as no handler blocks the stack.</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From callbacks to promises to async/await</a:t>
            </a:r>
            <a:endParaRPr lang="en-US" sz="3200" dirty="0"/>
          </a:p>
        </p:txBody>
      </p:sp>
      <p:sp>
        <p:nvSpPr>
          <p:cNvPr id="3" name="evo-head-183"/>
          <p:cNvSpPr txBox="1"/>
          <p:nvPr/>
        </p:nvSpPr>
        <p:spPr>
          <a:xfrm>
            <a:off x="548640" y="1325880"/>
            <a:ext cx="3566160" cy="411480"/>
          </a:xfrm>
          <a:prstGeom prst="rect">
            <a:avLst/>
          </a:prstGeom>
          <a:noFill/>
          <a:ln/>
        </p:spPr>
        <p:txBody>
          <a:bodyPr wrap="square" lIns="0" tIns="0" rIns="0" bIns="0" rtlCol="0" anchor="ctr"/>
          <a:lstStyle/>
          <a:p>
            <a:pPr indent="0" marL="0">
              <a:buNone/>
            </a:pPr>
            <a:r>
              <a:rPr lang="en-US" sz="1900" b="1" dirty="0">
                <a:solidFill>
                  <a:schemeClr val="tx1"/>
                </a:solidFill>
              </a:rPr>
              <a:t>Callbacks</a:t>
            </a:r>
            <a:endParaRPr lang="en-US" sz="1900" dirty="0"/>
          </a:p>
        </p:txBody>
      </p:sp>
      <p:sp>
        <p:nvSpPr>
          <p:cNvPr id="4" name="code-panel-184"/>
          <p:cNvSpPr/>
          <p:nvPr/>
        </p:nvSpPr>
        <p:spPr>
          <a:xfrm>
            <a:off x="548640" y="1783080"/>
            <a:ext cx="3566160" cy="3246120"/>
          </a:xfrm>
          <a:prstGeom prst="roundRect">
            <a:avLst>
              <a:gd name="adj" fmla="val 2254"/>
            </a:avLst>
          </a:prstGeom>
          <a:solidFill>
            <a:schemeClr val="tx2"/>
          </a:solidFill>
          <a:ln w="12700">
            <a:solidFill>
              <a:schemeClr val="tx2"/>
            </a:solidFill>
            <a:prstDash val="solid"/>
          </a:ln>
        </p:spPr>
      </p:sp>
      <p:sp>
        <p:nvSpPr>
          <p:cNvPr id="5" name="code-185"/>
          <p:cNvSpPr txBox="1"/>
          <p:nvPr/>
        </p:nvSpPr>
        <p:spPr>
          <a:xfrm>
            <a:off x="777240" y="1947672"/>
            <a:ext cx="3108960" cy="2971800"/>
          </a:xfrm>
          <a:prstGeom prst="rect">
            <a:avLst/>
          </a:prstGeom>
          <a:noFill/>
          <a:ln/>
        </p:spPr>
        <p:txBody>
          <a:bodyPr wrap="square" lIns="0" tIns="0" rIns="0" bIns="0" rtlCol="0" anchor="t"/>
          <a:lstStyle/>
          <a:p>
            <a:pPr indent="0" marL="0">
              <a:buNone/>
            </a:pPr>
            <a:r>
              <a:rPr lang="en-US" sz="1200" dirty="0">
                <a:solidFill>
                  <a:srgbClr val="E5E7EB"/>
                </a:solidFill>
                <a:latin typeface="Courier New" pitchFamily="34" charset="0"/>
                <a:ea typeface="Courier New" pitchFamily="34" charset="-122"/>
                <a:cs typeface="Courier New" pitchFamily="34" charset="-120"/>
              </a:rPr>
              <a:t>getUser(id, (err, u) =&gt; {</a:t>
            </a:r>
            <a:endParaRPr lang="en-US" sz="1200" dirty="0"/>
          </a:p>
          <a:p>
            <a:pPr indent="0" marL="0">
              <a:buNone/>
            </a:pPr>
            <a:r>
              <a:rPr lang="en-US" sz="1200" dirty="0">
                <a:solidFill>
                  <a:srgbClr val="E5E7EB"/>
                </a:solidFill>
                <a:latin typeface="Courier New" pitchFamily="34" charset="0"/>
                <a:ea typeface="Courier New" pitchFamily="34" charset="-122"/>
                <a:cs typeface="Courier New" pitchFamily="34" charset="-120"/>
              </a:rPr>
              <a:t>  </a:t>
            </a:r>
            <a:pPr indent="0" marL="0">
              <a:buNone/>
            </a:pPr>
            <a:r>
              <a:rPr lang="en-US" sz="1200" dirty="0">
                <a:solidFill>
                  <a:srgbClr val="C792EA"/>
                </a:solidFill>
                <a:latin typeface="Courier New" pitchFamily="34" charset="0"/>
                <a:ea typeface="Courier New" pitchFamily="34" charset="-122"/>
                <a:cs typeface="Courier New" pitchFamily="34" charset="-120"/>
              </a:rPr>
              <a:t>if </a:t>
            </a:r>
            <a:pPr indent="0" marL="0">
              <a:buNone/>
            </a:pPr>
            <a:r>
              <a:rPr lang="en-US" sz="1200" dirty="0">
                <a:solidFill>
                  <a:srgbClr val="E5E7EB"/>
                </a:solidFill>
                <a:latin typeface="Courier New" pitchFamily="34" charset="0"/>
                <a:ea typeface="Courier New" pitchFamily="34" charset="-122"/>
                <a:cs typeface="Courier New" pitchFamily="34" charset="-120"/>
              </a:rPr>
              <a:t>(err) </a:t>
            </a:r>
            <a:pPr indent="0" marL="0">
              <a:buNone/>
            </a:pPr>
            <a:r>
              <a:rPr lang="en-US" sz="1200" dirty="0">
                <a:solidFill>
                  <a:srgbClr val="C792EA"/>
                </a:solidFill>
                <a:latin typeface="Courier New" pitchFamily="34" charset="0"/>
                <a:ea typeface="Courier New" pitchFamily="34" charset="-122"/>
                <a:cs typeface="Courier New" pitchFamily="34" charset="-120"/>
              </a:rPr>
              <a:t>return </a:t>
            </a:r>
            <a:pPr indent="0" marL="0">
              <a:buNone/>
            </a:pPr>
            <a:r>
              <a:rPr lang="en-US" sz="1200" dirty="0">
                <a:solidFill>
                  <a:srgbClr val="E5E7EB"/>
                </a:solidFill>
                <a:latin typeface="Courier New" pitchFamily="34" charset="0"/>
                <a:ea typeface="Courier New" pitchFamily="34" charset="-122"/>
                <a:cs typeface="Courier New" pitchFamily="34" charset="-120"/>
              </a:rPr>
              <a:t>fail(err);</a:t>
            </a:r>
            <a:endParaRPr lang="en-US" sz="1200" dirty="0"/>
          </a:p>
          <a:p>
            <a:pPr indent="0" marL="0">
              <a:buNone/>
            </a:pPr>
            <a:r>
              <a:rPr lang="en-US" sz="1200" dirty="0">
                <a:solidFill>
                  <a:srgbClr val="E5E7EB"/>
                </a:solidFill>
                <a:latin typeface="Courier New" pitchFamily="34" charset="0"/>
                <a:ea typeface="Courier New" pitchFamily="34" charset="-122"/>
                <a:cs typeface="Courier New" pitchFamily="34" charset="-120"/>
              </a:rPr>
              <a:t>  getOrders(u, (err, os) =&gt; {</a:t>
            </a:r>
            <a:endParaRPr lang="en-US" sz="1200" dirty="0"/>
          </a:p>
          <a:p>
            <a:pPr indent="0" marL="0">
              <a:buNone/>
            </a:pPr>
            <a:r>
              <a:rPr lang="en-US" sz="1200" dirty="0">
                <a:solidFill>
                  <a:srgbClr val="E5E7EB"/>
                </a:solidFill>
                <a:latin typeface="Courier New" pitchFamily="34" charset="0"/>
                <a:ea typeface="Courier New" pitchFamily="34" charset="-122"/>
                <a:cs typeface="Courier New" pitchFamily="34" charset="-120"/>
              </a:rPr>
              <a:t>    </a:t>
            </a:r>
            <a:pPr indent="0" marL="0">
              <a:buNone/>
            </a:pPr>
            <a:r>
              <a:rPr lang="en-US" sz="1200" dirty="0">
                <a:solidFill>
                  <a:srgbClr val="C792EA"/>
                </a:solidFill>
                <a:latin typeface="Courier New" pitchFamily="34" charset="0"/>
                <a:ea typeface="Courier New" pitchFamily="34" charset="-122"/>
                <a:cs typeface="Courier New" pitchFamily="34" charset="-120"/>
              </a:rPr>
              <a:t>if </a:t>
            </a:r>
            <a:pPr indent="0" marL="0">
              <a:buNone/>
            </a:pPr>
            <a:r>
              <a:rPr lang="en-US" sz="1200" dirty="0">
                <a:solidFill>
                  <a:srgbClr val="E5E7EB"/>
                </a:solidFill>
                <a:latin typeface="Courier New" pitchFamily="34" charset="0"/>
                <a:ea typeface="Courier New" pitchFamily="34" charset="-122"/>
                <a:cs typeface="Courier New" pitchFamily="34" charset="-120"/>
              </a:rPr>
              <a:t>(err) </a:t>
            </a:r>
            <a:pPr indent="0" marL="0">
              <a:buNone/>
            </a:pPr>
            <a:r>
              <a:rPr lang="en-US" sz="1200" dirty="0">
                <a:solidFill>
                  <a:srgbClr val="C792EA"/>
                </a:solidFill>
                <a:latin typeface="Courier New" pitchFamily="34" charset="0"/>
                <a:ea typeface="Courier New" pitchFamily="34" charset="-122"/>
                <a:cs typeface="Courier New" pitchFamily="34" charset="-120"/>
              </a:rPr>
              <a:t>return </a:t>
            </a:r>
            <a:pPr indent="0" marL="0">
              <a:buNone/>
            </a:pPr>
            <a:r>
              <a:rPr lang="en-US" sz="1200" dirty="0">
                <a:solidFill>
                  <a:srgbClr val="E5E7EB"/>
                </a:solidFill>
                <a:latin typeface="Courier New" pitchFamily="34" charset="0"/>
                <a:ea typeface="Courier New" pitchFamily="34" charset="-122"/>
                <a:cs typeface="Courier New" pitchFamily="34" charset="-120"/>
              </a:rPr>
              <a:t>fail(err);</a:t>
            </a:r>
            <a:endParaRPr lang="en-US" sz="1200" dirty="0"/>
          </a:p>
          <a:p>
            <a:pPr indent="0" marL="0">
              <a:buNone/>
            </a:pPr>
            <a:r>
              <a:rPr lang="en-US" sz="1200" dirty="0">
                <a:solidFill>
                  <a:srgbClr val="E5E7EB"/>
                </a:solidFill>
                <a:latin typeface="Courier New" pitchFamily="34" charset="0"/>
                <a:ea typeface="Courier New" pitchFamily="34" charset="-122"/>
                <a:cs typeface="Courier New" pitchFamily="34" charset="-120"/>
              </a:rPr>
              <a:t>    show(os);</a:t>
            </a:r>
            <a:endParaRPr lang="en-US" sz="1200" dirty="0"/>
          </a:p>
          <a:p>
            <a:pPr indent="0" marL="0">
              <a:buNone/>
            </a:pPr>
            <a:r>
              <a:rPr lang="en-US" sz="1200" dirty="0">
                <a:solidFill>
                  <a:srgbClr val="E5E7EB"/>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5E7EB"/>
                </a:solidFill>
                <a:latin typeface="Courier New" pitchFamily="34" charset="0"/>
                <a:ea typeface="Courier New" pitchFamily="34" charset="-122"/>
                <a:cs typeface="Courier New" pitchFamily="34" charset="-120"/>
              </a:rPr>
              <a:t>});</a:t>
            </a:r>
            <a:endParaRPr lang="en-US" sz="1200" dirty="0"/>
          </a:p>
        </p:txBody>
      </p:sp>
      <p:sp>
        <p:nvSpPr>
          <p:cNvPr id="6" name="evo-note-186"/>
          <p:cNvSpPr txBox="1"/>
          <p:nvPr/>
        </p:nvSpPr>
        <p:spPr>
          <a:xfrm>
            <a:off x="548640" y="5166360"/>
            <a:ext cx="3566160" cy="960120"/>
          </a:xfrm>
          <a:prstGeom prst="rect">
            <a:avLst/>
          </a:prstGeom>
          <a:noFill/>
          <a:ln/>
        </p:spPr>
        <p:txBody>
          <a:bodyPr wrap="square" lIns="0" tIns="0" rIns="0" bIns="0" rtlCol="0" anchor="t"/>
          <a:lstStyle/>
          <a:p>
            <a:pPr indent="0" marL="0">
              <a:buNone/>
            </a:pPr>
            <a:r>
              <a:rPr lang="en-US" sz="1500" dirty="0">
                <a:solidFill>
                  <a:srgbClr val="374151"/>
                </a:solidFill>
              </a:rPr>
              <a:t>Nesting grows with each step; errors handled by hand at every level.</a:t>
            </a:r>
            <a:endParaRPr lang="en-US" sz="1500" dirty="0"/>
          </a:p>
        </p:txBody>
      </p:sp>
      <p:sp>
        <p:nvSpPr>
          <p:cNvPr id="7" name="evo-head-187"/>
          <p:cNvSpPr txBox="1"/>
          <p:nvPr/>
        </p:nvSpPr>
        <p:spPr>
          <a:xfrm>
            <a:off x="4311396" y="1325880"/>
            <a:ext cx="3566160" cy="411480"/>
          </a:xfrm>
          <a:prstGeom prst="rect">
            <a:avLst/>
          </a:prstGeom>
          <a:noFill/>
          <a:ln/>
        </p:spPr>
        <p:txBody>
          <a:bodyPr wrap="square" lIns="0" tIns="0" rIns="0" bIns="0" rtlCol="0" anchor="ctr"/>
          <a:lstStyle/>
          <a:p>
            <a:pPr indent="0" marL="0">
              <a:buNone/>
            </a:pPr>
            <a:r>
              <a:rPr lang="en-US" sz="1900" b="1" dirty="0">
                <a:solidFill>
                  <a:schemeClr val="tx1"/>
                </a:solidFill>
              </a:rPr>
              <a:t>Promises</a:t>
            </a:r>
            <a:endParaRPr lang="en-US" sz="1900" dirty="0"/>
          </a:p>
        </p:txBody>
      </p:sp>
      <p:sp>
        <p:nvSpPr>
          <p:cNvPr id="8" name="code-panel-188"/>
          <p:cNvSpPr/>
          <p:nvPr/>
        </p:nvSpPr>
        <p:spPr>
          <a:xfrm>
            <a:off x="4311396" y="1783080"/>
            <a:ext cx="3566160" cy="3246120"/>
          </a:xfrm>
          <a:prstGeom prst="roundRect">
            <a:avLst>
              <a:gd name="adj" fmla="val 2254"/>
            </a:avLst>
          </a:prstGeom>
          <a:solidFill>
            <a:schemeClr val="tx2"/>
          </a:solidFill>
          <a:ln w="12700">
            <a:solidFill>
              <a:schemeClr val="tx2"/>
            </a:solidFill>
            <a:prstDash val="solid"/>
          </a:ln>
        </p:spPr>
      </p:sp>
      <p:sp>
        <p:nvSpPr>
          <p:cNvPr id="9" name="code-189"/>
          <p:cNvSpPr txBox="1"/>
          <p:nvPr/>
        </p:nvSpPr>
        <p:spPr>
          <a:xfrm>
            <a:off x="4539996" y="1947672"/>
            <a:ext cx="3108960" cy="2971800"/>
          </a:xfrm>
          <a:prstGeom prst="rect">
            <a:avLst/>
          </a:prstGeom>
          <a:noFill/>
          <a:ln/>
        </p:spPr>
        <p:txBody>
          <a:bodyPr wrap="square" lIns="0" tIns="0" rIns="0" bIns="0" rtlCol="0" anchor="t"/>
          <a:lstStyle/>
          <a:p>
            <a:pPr indent="0" marL="0">
              <a:buNone/>
            </a:pPr>
            <a:r>
              <a:rPr lang="en-US" sz="1200" dirty="0">
                <a:solidFill>
                  <a:srgbClr val="E5E7EB"/>
                </a:solidFill>
                <a:latin typeface="Courier New" pitchFamily="34" charset="0"/>
                <a:ea typeface="Courier New" pitchFamily="34" charset="-122"/>
                <a:cs typeface="Courier New" pitchFamily="34" charset="-120"/>
              </a:rPr>
              <a:t>getUser(id)</a:t>
            </a:r>
            <a:endParaRPr lang="en-US" sz="1200" dirty="0"/>
          </a:p>
          <a:p>
            <a:pPr indent="0" marL="0">
              <a:buNone/>
            </a:pPr>
            <a:r>
              <a:rPr lang="en-US" sz="1200" dirty="0">
                <a:solidFill>
                  <a:srgbClr val="E5E7EB"/>
                </a:solidFill>
                <a:latin typeface="Courier New" pitchFamily="34" charset="0"/>
                <a:ea typeface="Courier New" pitchFamily="34" charset="-122"/>
                <a:cs typeface="Courier New" pitchFamily="34" charset="-120"/>
              </a:rPr>
              <a:t>  .then(u =&gt; getOrders(u))</a:t>
            </a:r>
            <a:endParaRPr lang="en-US" sz="1200" dirty="0"/>
          </a:p>
          <a:p>
            <a:pPr indent="0" marL="0">
              <a:buNone/>
            </a:pPr>
            <a:r>
              <a:rPr lang="en-US" sz="1200" dirty="0">
                <a:solidFill>
                  <a:srgbClr val="E5E7EB"/>
                </a:solidFill>
                <a:latin typeface="Courier New" pitchFamily="34" charset="0"/>
                <a:ea typeface="Courier New" pitchFamily="34" charset="-122"/>
                <a:cs typeface="Courier New" pitchFamily="34" charset="-120"/>
              </a:rPr>
              <a:t>  .then(os =&gt; show(os))</a:t>
            </a:r>
            <a:endParaRPr lang="en-US" sz="1200" dirty="0"/>
          </a:p>
          <a:p>
            <a:pPr indent="0" marL="0">
              <a:buNone/>
            </a:pPr>
            <a:r>
              <a:rPr lang="en-US" sz="1200" dirty="0">
                <a:solidFill>
                  <a:srgbClr val="E5E7EB"/>
                </a:solidFill>
                <a:latin typeface="Courier New" pitchFamily="34" charset="0"/>
                <a:ea typeface="Courier New" pitchFamily="34" charset="-122"/>
                <a:cs typeface="Courier New" pitchFamily="34" charset="-120"/>
              </a:rPr>
              <a:t>  .</a:t>
            </a:r>
            <a:pPr indent="0" marL="0">
              <a:buNone/>
            </a:pPr>
            <a:r>
              <a:rPr lang="en-US" sz="1200" dirty="0">
                <a:solidFill>
                  <a:srgbClr val="C792EA"/>
                </a:solidFill>
                <a:latin typeface="Courier New" pitchFamily="34" charset="0"/>
                <a:ea typeface="Courier New" pitchFamily="34" charset="-122"/>
                <a:cs typeface="Courier New" pitchFamily="34" charset="-120"/>
              </a:rPr>
              <a:t>catch</a:t>
            </a:r>
            <a:pPr indent="0" marL="0">
              <a:buNone/>
            </a:pPr>
            <a:r>
              <a:rPr lang="en-US" sz="1200" dirty="0">
                <a:solidFill>
                  <a:srgbClr val="E5E7EB"/>
                </a:solidFill>
                <a:latin typeface="Courier New" pitchFamily="34" charset="0"/>
                <a:ea typeface="Courier New" pitchFamily="34" charset="-122"/>
                <a:cs typeface="Courier New" pitchFamily="34" charset="-120"/>
              </a:rPr>
              <a:t>(fail);</a:t>
            </a:r>
            <a:endParaRPr lang="en-US" sz="1200" dirty="0"/>
          </a:p>
        </p:txBody>
      </p:sp>
      <p:sp>
        <p:nvSpPr>
          <p:cNvPr id="10" name="evo-note-190"/>
          <p:cNvSpPr txBox="1"/>
          <p:nvPr/>
        </p:nvSpPr>
        <p:spPr>
          <a:xfrm>
            <a:off x="4311396" y="5166360"/>
            <a:ext cx="3566160" cy="960120"/>
          </a:xfrm>
          <a:prstGeom prst="rect">
            <a:avLst/>
          </a:prstGeom>
          <a:noFill/>
          <a:ln/>
        </p:spPr>
        <p:txBody>
          <a:bodyPr wrap="square" lIns="0" tIns="0" rIns="0" bIns="0" rtlCol="0" anchor="t"/>
          <a:lstStyle/>
          <a:p>
            <a:pPr indent="0" marL="0">
              <a:buNone/>
            </a:pPr>
            <a:r>
              <a:rPr lang="en-US" sz="1500" dirty="0">
                <a:solidFill>
                  <a:srgbClr val="374151"/>
                </a:solidFill>
              </a:rPr>
              <a:t>Flat chain; one catch handles any failure in the chain.</a:t>
            </a:r>
            <a:endParaRPr lang="en-US" sz="1500" dirty="0"/>
          </a:p>
        </p:txBody>
      </p:sp>
      <p:sp>
        <p:nvSpPr>
          <p:cNvPr id="11" name="evo-head-191"/>
          <p:cNvSpPr txBox="1"/>
          <p:nvPr/>
        </p:nvSpPr>
        <p:spPr>
          <a:xfrm>
            <a:off x="8074152" y="1325880"/>
            <a:ext cx="3566160" cy="411480"/>
          </a:xfrm>
          <a:prstGeom prst="rect">
            <a:avLst/>
          </a:prstGeom>
          <a:noFill/>
          <a:ln/>
        </p:spPr>
        <p:txBody>
          <a:bodyPr wrap="square" lIns="0" tIns="0" rIns="0" bIns="0" rtlCol="0" anchor="ctr"/>
          <a:lstStyle/>
          <a:p>
            <a:pPr indent="0" marL="0">
              <a:buNone/>
            </a:pPr>
            <a:r>
              <a:rPr lang="en-US" sz="1900" b="1" dirty="0">
                <a:solidFill>
                  <a:schemeClr val="tx1"/>
                </a:solidFill>
              </a:rPr>
              <a:t>async / await</a:t>
            </a:r>
            <a:endParaRPr lang="en-US" sz="1900" dirty="0"/>
          </a:p>
        </p:txBody>
      </p:sp>
      <p:sp>
        <p:nvSpPr>
          <p:cNvPr id="12" name="code-panel-192"/>
          <p:cNvSpPr/>
          <p:nvPr/>
        </p:nvSpPr>
        <p:spPr>
          <a:xfrm>
            <a:off x="8074152" y="1783080"/>
            <a:ext cx="3566160" cy="3246120"/>
          </a:xfrm>
          <a:prstGeom prst="roundRect">
            <a:avLst>
              <a:gd name="adj" fmla="val 2254"/>
            </a:avLst>
          </a:prstGeom>
          <a:solidFill>
            <a:schemeClr val="tx2"/>
          </a:solidFill>
          <a:ln w="12700">
            <a:solidFill>
              <a:schemeClr val="tx2"/>
            </a:solidFill>
            <a:prstDash val="solid"/>
          </a:ln>
        </p:spPr>
      </p:sp>
      <p:sp>
        <p:nvSpPr>
          <p:cNvPr id="13" name="code-193"/>
          <p:cNvSpPr txBox="1"/>
          <p:nvPr/>
        </p:nvSpPr>
        <p:spPr>
          <a:xfrm>
            <a:off x="8302752" y="1947672"/>
            <a:ext cx="3108960" cy="2971800"/>
          </a:xfrm>
          <a:prstGeom prst="rect">
            <a:avLst/>
          </a:prstGeom>
          <a:noFill/>
          <a:ln/>
        </p:spPr>
        <p:txBody>
          <a:bodyPr wrap="square" lIns="0" tIns="0" rIns="0" bIns="0" rtlCol="0" anchor="t"/>
          <a:lstStyle/>
          <a:p>
            <a:pPr indent="0" marL="0">
              <a:buNone/>
            </a:pPr>
            <a:r>
              <a:rPr lang="en-US" sz="1200" dirty="0">
                <a:solidFill>
                  <a:srgbClr val="C792EA"/>
                </a:solidFill>
                <a:latin typeface="Courier New" pitchFamily="34" charset="0"/>
                <a:ea typeface="Courier New" pitchFamily="34" charset="-122"/>
                <a:cs typeface="Courier New" pitchFamily="34" charset="-120"/>
              </a:rPr>
              <a:t>async function </a:t>
            </a:r>
            <a:pPr indent="0" marL="0">
              <a:buNone/>
            </a:pPr>
            <a:r>
              <a:rPr lang="en-US" sz="1200" dirty="0">
                <a:solidFill>
                  <a:srgbClr val="E5E7EB"/>
                </a:solidFill>
                <a:latin typeface="Courier New" pitchFamily="34" charset="0"/>
                <a:ea typeface="Courier New" pitchFamily="34" charset="-122"/>
                <a:cs typeface="Courier New" pitchFamily="34" charset="-120"/>
              </a:rPr>
              <a:t>load(id) {</a:t>
            </a:r>
            <a:endParaRPr lang="en-US" sz="1200" dirty="0"/>
          </a:p>
          <a:p>
            <a:pPr indent="0" marL="0">
              <a:buNone/>
            </a:pPr>
            <a:r>
              <a:rPr lang="en-US" sz="1200" dirty="0">
                <a:solidFill>
                  <a:srgbClr val="E5E7EB"/>
                </a:solidFill>
                <a:latin typeface="Courier New" pitchFamily="34" charset="0"/>
                <a:ea typeface="Courier New" pitchFamily="34" charset="-122"/>
                <a:cs typeface="Courier New" pitchFamily="34" charset="-120"/>
              </a:rPr>
              <a:t>  </a:t>
            </a:r>
            <a:pPr indent="0" marL="0">
              <a:buNone/>
            </a:pPr>
            <a:r>
              <a:rPr lang="en-US" sz="1200" dirty="0">
                <a:solidFill>
                  <a:srgbClr val="C792EA"/>
                </a:solidFill>
                <a:latin typeface="Courier New" pitchFamily="34" charset="0"/>
                <a:ea typeface="Courier New" pitchFamily="34" charset="-122"/>
                <a:cs typeface="Courier New" pitchFamily="34" charset="-120"/>
              </a:rPr>
              <a:t>try </a:t>
            </a:r>
            <a:pPr indent="0" marL="0">
              <a:buNone/>
            </a:pPr>
            <a:r>
              <a:rPr lang="en-US" sz="1200" dirty="0">
                <a:solidFill>
                  <a:srgbClr val="E5E7EB"/>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5E7EB"/>
                </a:solidFill>
                <a:latin typeface="Courier New" pitchFamily="34" charset="0"/>
                <a:ea typeface="Courier New" pitchFamily="34" charset="-122"/>
                <a:cs typeface="Courier New" pitchFamily="34" charset="-120"/>
              </a:rPr>
              <a:t>    </a:t>
            </a:r>
            <a:pPr indent="0" marL="0">
              <a:buNone/>
            </a:pPr>
            <a:r>
              <a:rPr lang="en-US" sz="1200" dirty="0">
                <a:solidFill>
                  <a:srgbClr val="C792EA"/>
                </a:solidFill>
                <a:latin typeface="Courier New" pitchFamily="34" charset="0"/>
                <a:ea typeface="Courier New" pitchFamily="34" charset="-122"/>
                <a:cs typeface="Courier New" pitchFamily="34" charset="-120"/>
              </a:rPr>
              <a:t>const </a:t>
            </a:r>
            <a:pPr indent="0" marL="0">
              <a:buNone/>
            </a:pPr>
            <a:r>
              <a:rPr lang="en-US" sz="1200" dirty="0">
                <a:solidFill>
                  <a:srgbClr val="E5E7EB"/>
                </a:solidFill>
                <a:latin typeface="Courier New" pitchFamily="34" charset="0"/>
                <a:ea typeface="Courier New" pitchFamily="34" charset="-122"/>
                <a:cs typeface="Courier New" pitchFamily="34" charset="-120"/>
              </a:rPr>
              <a:t>u = </a:t>
            </a:r>
            <a:pPr indent="0" marL="0">
              <a:buNone/>
            </a:pPr>
            <a:r>
              <a:rPr lang="en-US" sz="1200" dirty="0">
                <a:solidFill>
                  <a:srgbClr val="C792EA"/>
                </a:solidFill>
                <a:latin typeface="Courier New" pitchFamily="34" charset="0"/>
                <a:ea typeface="Courier New" pitchFamily="34" charset="-122"/>
                <a:cs typeface="Courier New" pitchFamily="34" charset="-120"/>
              </a:rPr>
              <a:t>await </a:t>
            </a:r>
            <a:pPr indent="0" marL="0">
              <a:buNone/>
            </a:pPr>
            <a:r>
              <a:rPr lang="en-US" sz="1200" dirty="0">
                <a:solidFill>
                  <a:srgbClr val="E5E7EB"/>
                </a:solidFill>
                <a:latin typeface="Courier New" pitchFamily="34" charset="0"/>
                <a:ea typeface="Courier New" pitchFamily="34" charset="-122"/>
                <a:cs typeface="Courier New" pitchFamily="34" charset="-120"/>
              </a:rPr>
              <a:t>getUser(id);</a:t>
            </a:r>
            <a:endParaRPr lang="en-US" sz="1200" dirty="0"/>
          </a:p>
          <a:p>
            <a:pPr indent="0" marL="0">
              <a:buNone/>
            </a:pPr>
            <a:r>
              <a:rPr lang="en-US" sz="1200" dirty="0">
                <a:solidFill>
                  <a:srgbClr val="E5E7EB"/>
                </a:solidFill>
                <a:latin typeface="Courier New" pitchFamily="34" charset="0"/>
                <a:ea typeface="Courier New" pitchFamily="34" charset="-122"/>
                <a:cs typeface="Courier New" pitchFamily="34" charset="-120"/>
              </a:rPr>
              <a:t>    </a:t>
            </a:r>
            <a:pPr indent="0" marL="0">
              <a:buNone/>
            </a:pPr>
            <a:r>
              <a:rPr lang="en-US" sz="1200" dirty="0">
                <a:solidFill>
                  <a:srgbClr val="C792EA"/>
                </a:solidFill>
                <a:latin typeface="Courier New" pitchFamily="34" charset="0"/>
                <a:ea typeface="Courier New" pitchFamily="34" charset="-122"/>
                <a:cs typeface="Courier New" pitchFamily="34" charset="-120"/>
              </a:rPr>
              <a:t>const </a:t>
            </a:r>
            <a:pPr indent="0" marL="0">
              <a:buNone/>
            </a:pPr>
            <a:r>
              <a:rPr lang="en-US" sz="1200" dirty="0">
                <a:solidFill>
                  <a:srgbClr val="E5E7EB"/>
                </a:solidFill>
                <a:latin typeface="Courier New" pitchFamily="34" charset="0"/>
                <a:ea typeface="Courier New" pitchFamily="34" charset="-122"/>
                <a:cs typeface="Courier New" pitchFamily="34" charset="-120"/>
              </a:rPr>
              <a:t>os = </a:t>
            </a:r>
            <a:pPr indent="0" marL="0">
              <a:buNone/>
            </a:pPr>
            <a:r>
              <a:rPr lang="en-US" sz="1200" dirty="0">
                <a:solidFill>
                  <a:srgbClr val="C792EA"/>
                </a:solidFill>
                <a:latin typeface="Courier New" pitchFamily="34" charset="0"/>
                <a:ea typeface="Courier New" pitchFamily="34" charset="-122"/>
                <a:cs typeface="Courier New" pitchFamily="34" charset="-120"/>
              </a:rPr>
              <a:t>await </a:t>
            </a:r>
            <a:pPr indent="0" marL="0">
              <a:buNone/>
            </a:pPr>
            <a:r>
              <a:rPr lang="en-US" sz="1200" dirty="0">
                <a:solidFill>
                  <a:srgbClr val="E5E7EB"/>
                </a:solidFill>
                <a:latin typeface="Courier New" pitchFamily="34" charset="0"/>
                <a:ea typeface="Courier New" pitchFamily="34" charset="-122"/>
                <a:cs typeface="Courier New" pitchFamily="34" charset="-120"/>
              </a:rPr>
              <a:t>getOrders(u);</a:t>
            </a:r>
            <a:endParaRPr lang="en-US" sz="1200" dirty="0"/>
          </a:p>
          <a:p>
            <a:pPr indent="0" marL="0">
              <a:buNone/>
            </a:pPr>
            <a:r>
              <a:rPr lang="en-US" sz="1200" dirty="0">
                <a:solidFill>
                  <a:srgbClr val="E5E7EB"/>
                </a:solidFill>
                <a:latin typeface="Courier New" pitchFamily="34" charset="0"/>
                <a:ea typeface="Courier New" pitchFamily="34" charset="-122"/>
                <a:cs typeface="Courier New" pitchFamily="34" charset="-120"/>
              </a:rPr>
              <a:t>    show(os);</a:t>
            </a:r>
            <a:endParaRPr lang="en-US" sz="1200" dirty="0"/>
          </a:p>
          <a:p>
            <a:pPr indent="0" marL="0">
              <a:buNone/>
            </a:pPr>
            <a:r>
              <a:rPr lang="en-US" sz="1200" dirty="0">
                <a:solidFill>
                  <a:srgbClr val="E5E7EB"/>
                </a:solidFill>
                <a:latin typeface="Courier New" pitchFamily="34" charset="0"/>
                <a:ea typeface="Courier New" pitchFamily="34" charset="-122"/>
                <a:cs typeface="Courier New" pitchFamily="34" charset="-120"/>
              </a:rPr>
              <a:t>  } </a:t>
            </a:r>
            <a:pPr indent="0" marL="0">
              <a:buNone/>
            </a:pPr>
            <a:r>
              <a:rPr lang="en-US" sz="1200" dirty="0">
                <a:solidFill>
                  <a:srgbClr val="C792EA"/>
                </a:solidFill>
                <a:latin typeface="Courier New" pitchFamily="34" charset="0"/>
                <a:ea typeface="Courier New" pitchFamily="34" charset="-122"/>
                <a:cs typeface="Courier New" pitchFamily="34" charset="-120"/>
              </a:rPr>
              <a:t>catch </a:t>
            </a:r>
            <a:pPr indent="0" marL="0">
              <a:buNone/>
            </a:pPr>
            <a:r>
              <a:rPr lang="en-US" sz="1200" dirty="0">
                <a:solidFill>
                  <a:srgbClr val="E5E7EB"/>
                </a:solidFill>
                <a:latin typeface="Courier New" pitchFamily="34" charset="0"/>
                <a:ea typeface="Courier New" pitchFamily="34" charset="-122"/>
                <a:cs typeface="Courier New" pitchFamily="34" charset="-120"/>
              </a:rPr>
              <a:t>(err) {</a:t>
            </a:r>
            <a:endParaRPr lang="en-US" sz="1200" dirty="0"/>
          </a:p>
          <a:p>
            <a:pPr indent="0" marL="0">
              <a:buNone/>
            </a:pPr>
            <a:r>
              <a:rPr lang="en-US" sz="1200" dirty="0">
                <a:solidFill>
                  <a:srgbClr val="E5E7EB"/>
                </a:solidFill>
                <a:latin typeface="Courier New" pitchFamily="34" charset="0"/>
                <a:ea typeface="Courier New" pitchFamily="34" charset="-122"/>
                <a:cs typeface="Courier New" pitchFamily="34" charset="-120"/>
              </a:rPr>
              <a:t>    fail(err);</a:t>
            </a:r>
            <a:endParaRPr lang="en-US" sz="1200" dirty="0"/>
          </a:p>
          <a:p>
            <a:pPr indent="0" marL="0">
              <a:buNone/>
            </a:pPr>
            <a:r>
              <a:rPr lang="en-US" sz="1200" dirty="0">
                <a:solidFill>
                  <a:srgbClr val="E5E7EB"/>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5E7EB"/>
                </a:solidFill>
                <a:latin typeface="Courier New" pitchFamily="34" charset="0"/>
                <a:ea typeface="Courier New" pitchFamily="34" charset="-122"/>
                <a:cs typeface="Courier New" pitchFamily="34" charset="-120"/>
              </a:rPr>
              <a:t>}</a:t>
            </a:r>
            <a:endParaRPr lang="en-US" sz="1200" dirty="0"/>
          </a:p>
        </p:txBody>
      </p:sp>
      <p:sp>
        <p:nvSpPr>
          <p:cNvPr id="14" name="evo-note-194"/>
          <p:cNvSpPr txBox="1"/>
          <p:nvPr/>
        </p:nvSpPr>
        <p:spPr>
          <a:xfrm>
            <a:off x="8074152" y="5166360"/>
            <a:ext cx="3566160" cy="960120"/>
          </a:xfrm>
          <a:prstGeom prst="rect">
            <a:avLst/>
          </a:prstGeom>
          <a:noFill/>
          <a:ln/>
        </p:spPr>
        <p:txBody>
          <a:bodyPr wrap="square" lIns="0" tIns="0" rIns="0" bIns="0" rtlCol="0" anchor="t"/>
          <a:lstStyle/>
          <a:p>
            <a:pPr indent="0" marL="0">
              <a:buNone/>
            </a:pPr>
            <a:r>
              <a:rPr lang="en-US" sz="1500" dirty="0">
                <a:solidFill>
                  <a:srgbClr val="374151"/>
                </a:solidFill>
              </a:rPr>
              <a:t>Reads like synchronous code. Still promises underneath.</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await in sequence, or in parallel?</a:t>
            </a:r>
            <a:endParaRPr lang="en-US" sz="3200" dirty="0"/>
          </a:p>
        </p:txBody>
      </p:sp>
      <p:sp>
        <p:nvSpPr>
          <p:cNvPr id="3" name="code-panel-195"/>
          <p:cNvSpPr/>
          <p:nvPr/>
        </p:nvSpPr>
        <p:spPr>
          <a:xfrm>
            <a:off x="548640" y="1371600"/>
            <a:ext cx="6675120" cy="4800600"/>
          </a:xfrm>
          <a:prstGeom prst="roundRect">
            <a:avLst>
              <a:gd name="adj" fmla="val 1524"/>
            </a:avLst>
          </a:prstGeom>
          <a:solidFill>
            <a:schemeClr val="tx2"/>
          </a:solidFill>
          <a:ln w="12700">
            <a:solidFill>
              <a:schemeClr val="tx2"/>
            </a:solidFill>
            <a:prstDash val="solid"/>
          </a:ln>
        </p:spPr>
      </p:sp>
      <p:sp>
        <p:nvSpPr>
          <p:cNvPr id="4" name="code-label-196"/>
          <p:cNvSpPr txBox="1"/>
          <p:nvPr/>
        </p:nvSpPr>
        <p:spPr>
          <a:xfrm>
            <a:off x="777240" y="1499616"/>
            <a:ext cx="6217920"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parallel.js</a:t>
            </a:r>
            <a:endParaRPr lang="en-US" sz="1100" dirty="0"/>
          </a:p>
        </p:txBody>
      </p:sp>
      <p:sp>
        <p:nvSpPr>
          <p:cNvPr id="5" name="code-197"/>
          <p:cNvSpPr txBox="1"/>
          <p:nvPr/>
        </p:nvSpPr>
        <p:spPr>
          <a:xfrm>
            <a:off x="777240" y="1828800"/>
            <a:ext cx="6217920" cy="4233672"/>
          </a:xfrm>
          <a:prstGeom prst="rect">
            <a:avLst/>
          </a:prstGeom>
          <a:noFill/>
          <a:ln/>
        </p:spPr>
        <p:txBody>
          <a:bodyPr wrap="square" lIns="0" tIns="0" rIns="0" bIns="0" rtlCol="0" anchor="t"/>
          <a:lstStyle/>
          <a:p>
            <a:pPr indent="0" marL="0">
              <a:buNone/>
            </a:pPr>
            <a:r>
              <a:rPr lang="en-US" sz="1400" i="1" dirty="0">
                <a:solidFill>
                  <a:srgbClr val="8B949E"/>
                </a:solidFill>
                <a:latin typeface="Courier New" pitchFamily="34" charset="0"/>
                <a:ea typeface="Courier New" pitchFamily="34" charset="-122"/>
                <a:cs typeface="Courier New" pitchFamily="34" charset="-120"/>
              </a:rPr>
              <a:t>// sequential: about 2 s</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a = </a:t>
            </a:r>
            <a:pPr indent="0" marL="0">
              <a:buNone/>
            </a:pPr>
            <a:r>
              <a:rPr lang="en-US" sz="1400" dirty="0">
                <a:solidFill>
                  <a:srgbClr val="C792EA"/>
                </a:solidFill>
                <a:latin typeface="Courier New" pitchFamily="34" charset="0"/>
                <a:ea typeface="Courier New" pitchFamily="34" charset="-122"/>
                <a:cs typeface="Courier New" pitchFamily="34" charset="-120"/>
              </a:rPr>
              <a:t>await </a:t>
            </a:r>
            <a:pPr indent="0" marL="0">
              <a:buNone/>
            </a:pPr>
            <a:r>
              <a:rPr lang="en-US" sz="1400" dirty="0">
                <a:solidFill>
                  <a:srgbClr val="E5E7EB"/>
                </a:solidFill>
                <a:latin typeface="Courier New" pitchFamily="34" charset="0"/>
                <a:ea typeface="Courier New" pitchFamily="34" charset="-122"/>
                <a:cs typeface="Courier New" pitchFamily="34" charset="-120"/>
              </a:rPr>
              <a:t>getJson(</a:t>
            </a:r>
            <a:pPr indent="0" marL="0">
              <a:buNone/>
            </a:pPr>
            <a:r>
              <a:rPr lang="en-US" sz="1400" dirty="0">
                <a:solidFill>
                  <a:srgbClr val="A5D6A7"/>
                </a:solidFill>
                <a:latin typeface="Courier New" pitchFamily="34" charset="0"/>
                <a:ea typeface="Courier New" pitchFamily="34" charset="-122"/>
                <a:cs typeface="Courier New" pitchFamily="34" charset="-120"/>
              </a:rPr>
              <a:t>"/api/a"</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1 s</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b = </a:t>
            </a:r>
            <a:pPr indent="0" marL="0">
              <a:buNone/>
            </a:pPr>
            <a:r>
              <a:rPr lang="en-US" sz="1400" dirty="0">
                <a:solidFill>
                  <a:srgbClr val="C792EA"/>
                </a:solidFill>
                <a:latin typeface="Courier New" pitchFamily="34" charset="0"/>
                <a:ea typeface="Courier New" pitchFamily="34" charset="-122"/>
                <a:cs typeface="Courier New" pitchFamily="34" charset="-120"/>
              </a:rPr>
              <a:t>await </a:t>
            </a:r>
            <a:pPr indent="0" marL="0">
              <a:buNone/>
            </a:pPr>
            <a:r>
              <a:rPr lang="en-US" sz="1400" dirty="0">
                <a:solidFill>
                  <a:srgbClr val="E5E7EB"/>
                </a:solidFill>
                <a:latin typeface="Courier New" pitchFamily="34" charset="0"/>
                <a:ea typeface="Courier New" pitchFamily="34" charset="-122"/>
                <a:cs typeface="Courier New" pitchFamily="34" charset="-120"/>
              </a:rPr>
              <a:t>getJson(</a:t>
            </a:r>
            <a:pPr indent="0" marL="0">
              <a:buNone/>
            </a:pPr>
            <a:r>
              <a:rPr lang="en-US" sz="1400" dirty="0">
                <a:solidFill>
                  <a:srgbClr val="A5D6A7"/>
                </a:solidFill>
                <a:latin typeface="Courier New" pitchFamily="34" charset="0"/>
                <a:ea typeface="Courier New" pitchFamily="34" charset="-122"/>
                <a:cs typeface="Courier New" pitchFamily="34" charset="-120"/>
              </a:rPr>
              <a:t>"/api/b"</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1 s</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i="1" dirty="0">
                <a:solidFill>
                  <a:srgbClr val="8B949E"/>
                </a:solidFill>
                <a:latin typeface="Courier New" pitchFamily="34" charset="0"/>
                <a:ea typeface="Courier New" pitchFamily="34" charset="-122"/>
                <a:cs typeface="Courier New" pitchFamily="34" charset="-120"/>
              </a:rPr>
              <a:t>// parallel: about 1 s</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[c, d] = </a:t>
            </a:r>
            <a:pPr indent="0" marL="0">
              <a:buNone/>
            </a:pPr>
            <a:r>
              <a:rPr lang="en-US" sz="1400" dirty="0">
                <a:solidFill>
                  <a:srgbClr val="C792EA"/>
                </a:solidFill>
                <a:latin typeface="Courier New" pitchFamily="34" charset="0"/>
                <a:ea typeface="Courier New" pitchFamily="34" charset="-122"/>
                <a:cs typeface="Courier New" pitchFamily="34" charset="-120"/>
              </a:rPr>
              <a:t>await </a:t>
            </a:r>
            <a:pPr indent="0" marL="0">
              <a:buNone/>
            </a:pPr>
            <a:r>
              <a:rPr lang="en-US" sz="1400" dirty="0">
                <a:solidFill>
                  <a:srgbClr val="79B8FF"/>
                </a:solidFill>
                <a:latin typeface="Courier New" pitchFamily="34" charset="0"/>
                <a:ea typeface="Courier New" pitchFamily="34" charset="-122"/>
                <a:cs typeface="Courier New" pitchFamily="34" charset="-120"/>
              </a:rPr>
              <a:t>Promise</a:t>
            </a:r>
            <a:pPr indent="0" marL="0">
              <a:buNone/>
            </a:pPr>
            <a:r>
              <a:rPr lang="en-US" sz="1400" dirty="0">
                <a:solidFill>
                  <a:srgbClr val="E5E7EB"/>
                </a:solidFill>
                <a:latin typeface="Courier New" pitchFamily="34" charset="0"/>
                <a:ea typeface="Courier New" pitchFamily="34" charset="-122"/>
                <a:cs typeface="Courier New" pitchFamily="34" charset="-120"/>
              </a:rPr>
              <a:t>.all([</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getJson(</a:t>
            </a:r>
            <a:pPr indent="0" marL="0">
              <a:buNone/>
            </a:pPr>
            <a:r>
              <a:rPr lang="en-US" sz="1400" dirty="0">
                <a:solidFill>
                  <a:srgbClr val="A5D6A7"/>
                </a:solidFill>
                <a:latin typeface="Courier New" pitchFamily="34" charset="0"/>
                <a:ea typeface="Courier New" pitchFamily="34" charset="-122"/>
                <a:cs typeface="Courier New" pitchFamily="34" charset="-120"/>
              </a:rPr>
              <a:t>"/api/c"</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getJson(</a:t>
            </a:r>
            <a:pPr indent="0" marL="0">
              <a:buNone/>
            </a:pPr>
            <a:r>
              <a:rPr lang="en-US" sz="1400" dirty="0">
                <a:solidFill>
                  <a:srgbClr val="A5D6A7"/>
                </a:solidFill>
                <a:latin typeface="Courier New" pitchFamily="34" charset="0"/>
                <a:ea typeface="Courier New" pitchFamily="34" charset="-122"/>
                <a:cs typeface="Courier New" pitchFamily="34" charset="-120"/>
              </a:rPr>
              <a:t>"/api/d"</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i="1" dirty="0">
                <a:solidFill>
                  <a:srgbClr val="8B949E"/>
                </a:solidFill>
                <a:latin typeface="Courier New" pitchFamily="34" charset="0"/>
                <a:ea typeface="Courier New" pitchFamily="34" charset="-122"/>
                <a:cs typeface="Courier New" pitchFamily="34" charset="-120"/>
              </a:rPr>
              <a:t>// keep going when some requests fail</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results = </a:t>
            </a:r>
            <a:pPr indent="0" marL="0">
              <a:buNone/>
            </a:pPr>
            <a:r>
              <a:rPr lang="en-US" sz="1400" dirty="0">
                <a:solidFill>
                  <a:srgbClr val="C792EA"/>
                </a:solidFill>
                <a:latin typeface="Courier New" pitchFamily="34" charset="0"/>
                <a:ea typeface="Courier New" pitchFamily="34" charset="-122"/>
                <a:cs typeface="Courier New" pitchFamily="34" charset="-120"/>
              </a:rPr>
              <a:t>await </a:t>
            </a:r>
            <a:pPr indent="0" marL="0">
              <a:buNone/>
            </a:pPr>
            <a:r>
              <a:rPr lang="en-US" sz="1400" dirty="0">
                <a:solidFill>
                  <a:srgbClr val="79B8FF"/>
                </a:solidFill>
                <a:latin typeface="Courier New" pitchFamily="34" charset="0"/>
                <a:ea typeface="Courier New" pitchFamily="34" charset="-122"/>
                <a:cs typeface="Courier New" pitchFamily="34" charset="-120"/>
              </a:rPr>
              <a:t>Promise</a:t>
            </a:r>
            <a:pPr indent="0" marL="0">
              <a:buNone/>
            </a:pPr>
            <a:r>
              <a:rPr lang="en-US" sz="1400" dirty="0">
                <a:solidFill>
                  <a:srgbClr val="E5E7EB"/>
                </a:solidFill>
                <a:latin typeface="Courier New" pitchFamily="34" charset="0"/>
                <a:ea typeface="Courier New" pitchFamily="34" charset="-122"/>
                <a:cs typeface="Courier New" pitchFamily="34" charset="-120"/>
              </a:rPr>
              <a:t>.allSettled(</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urls.map(getJson)</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i="1" dirty="0">
                <a:solidFill>
                  <a:srgbClr val="8B949E"/>
                </a:solidFill>
                <a:latin typeface="Courier New" pitchFamily="34" charset="0"/>
                <a:ea typeface="Courier New" pitchFamily="34" charset="-122"/>
                <a:cs typeface="Courier New" pitchFamily="34" charset="-120"/>
              </a:rPr>
              <a:t>// [{ status: "fulfilled", value }, ...]</a:t>
            </a:r>
            <a:endParaRPr lang="en-US" sz="1400" dirty="0"/>
          </a:p>
        </p:txBody>
      </p:sp>
      <p:sp>
        <p:nvSpPr>
          <p:cNvPr id="6" name="prom-card-198"/>
          <p:cNvSpPr/>
          <p:nvPr/>
        </p:nvSpPr>
        <p:spPr>
          <a:xfrm>
            <a:off x="7498080" y="1371600"/>
            <a:ext cx="4142232" cy="960120"/>
          </a:xfrm>
          <a:prstGeom prst="roundRect">
            <a:avLst>
              <a:gd name="adj" fmla="val 7619"/>
            </a:avLst>
          </a:prstGeom>
          <a:solidFill>
            <a:schemeClr val="bg2"/>
          </a:solidFill>
          <a:ln w="12700">
            <a:solidFill>
              <a:schemeClr val="bg2"/>
            </a:solidFill>
            <a:prstDash val="solid"/>
          </a:ln>
        </p:spPr>
      </p:sp>
      <p:sp>
        <p:nvSpPr>
          <p:cNvPr id="7" name="prom-text-199"/>
          <p:cNvSpPr txBox="1"/>
          <p:nvPr/>
        </p:nvSpPr>
        <p:spPr>
          <a:xfrm>
            <a:off x="7680960" y="1444752"/>
            <a:ext cx="3794760" cy="8229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Promise.all</a:t>
            </a:r>
            <a:endParaRPr lang="en-US" sz="1500" dirty="0"/>
          </a:p>
          <a:p>
            <a:pPr indent="0" marL="0">
              <a:buNone/>
            </a:pPr>
            <a:r>
              <a:rPr lang="en-US" sz="1400" dirty="0">
                <a:solidFill>
                  <a:srgbClr val="374151"/>
                </a:solidFill>
              </a:rPr>
              <a:t>Waits for all. Rejects as soon as one rejects.</a:t>
            </a:r>
            <a:endParaRPr lang="en-US" sz="1500" dirty="0"/>
          </a:p>
        </p:txBody>
      </p:sp>
      <p:sp>
        <p:nvSpPr>
          <p:cNvPr id="8" name="prom-card-200"/>
          <p:cNvSpPr/>
          <p:nvPr/>
        </p:nvSpPr>
        <p:spPr>
          <a:xfrm>
            <a:off x="7498080" y="2487168"/>
            <a:ext cx="4142232" cy="960120"/>
          </a:xfrm>
          <a:prstGeom prst="roundRect">
            <a:avLst>
              <a:gd name="adj" fmla="val 7619"/>
            </a:avLst>
          </a:prstGeom>
          <a:solidFill>
            <a:schemeClr val="bg2"/>
          </a:solidFill>
          <a:ln w="12700">
            <a:solidFill>
              <a:schemeClr val="bg2"/>
            </a:solidFill>
            <a:prstDash val="solid"/>
          </a:ln>
        </p:spPr>
      </p:sp>
      <p:sp>
        <p:nvSpPr>
          <p:cNvPr id="9" name="prom-text-201"/>
          <p:cNvSpPr txBox="1"/>
          <p:nvPr/>
        </p:nvSpPr>
        <p:spPr>
          <a:xfrm>
            <a:off x="7680960" y="2560320"/>
            <a:ext cx="3794760" cy="8229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Promise.allSettled</a:t>
            </a:r>
            <a:endParaRPr lang="en-US" sz="1500" dirty="0"/>
          </a:p>
          <a:p>
            <a:pPr indent="0" marL="0">
              <a:buNone/>
            </a:pPr>
            <a:r>
              <a:rPr lang="en-US" sz="1400" dirty="0">
                <a:solidFill>
                  <a:srgbClr val="374151"/>
                </a:solidFill>
              </a:rPr>
              <a:t>Waits for all, returns every success and failure.</a:t>
            </a:r>
            <a:endParaRPr lang="en-US" sz="1500" dirty="0"/>
          </a:p>
        </p:txBody>
      </p:sp>
      <p:sp>
        <p:nvSpPr>
          <p:cNvPr id="10" name="prom-card-202"/>
          <p:cNvSpPr/>
          <p:nvPr/>
        </p:nvSpPr>
        <p:spPr>
          <a:xfrm>
            <a:off x="7498080" y="3602736"/>
            <a:ext cx="4142232" cy="960120"/>
          </a:xfrm>
          <a:prstGeom prst="roundRect">
            <a:avLst>
              <a:gd name="adj" fmla="val 7619"/>
            </a:avLst>
          </a:prstGeom>
          <a:solidFill>
            <a:schemeClr val="bg2"/>
          </a:solidFill>
          <a:ln w="12700">
            <a:solidFill>
              <a:schemeClr val="bg2"/>
            </a:solidFill>
            <a:prstDash val="solid"/>
          </a:ln>
        </p:spPr>
      </p:sp>
      <p:sp>
        <p:nvSpPr>
          <p:cNvPr id="11" name="prom-text-203"/>
          <p:cNvSpPr txBox="1"/>
          <p:nvPr/>
        </p:nvSpPr>
        <p:spPr>
          <a:xfrm>
            <a:off x="7680960" y="3675888"/>
            <a:ext cx="3794760" cy="8229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Promise.race / any</a:t>
            </a:r>
            <a:endParaRPr lang="en-US" sz="1500" dirty="0"/>
          </a:p>
          <a:p>
            <a:pPr indent="0" marL="0">
              <a:buNone/>
            </a:pPr>
            <a:r>
              <a:rPr lang="en-US" sz="1400" dirty="0">
                <a:solidFill>
                  <a:srgbClr val="374151"/>
                </a:solidFill>
              </a:rPr>
              <a:t>First to settle / first to succeed (timeouts, fallbacks).</a:t>
            </a:r>
            <a:endParaRPr lang="en-US" sz="1500" dirty="0"/>
          </a:p>
        </p:txBody>
      </p:sp>
      <p:sp>
        <p:nvSpPr>
          <p:cNvPr id="12" name="await-warn"/>
          <p:cNvSpPr/>
          <p:nvPr/>
        </p:nvSpPr>
        <p:spPr>
          <a:xfrm>
            <a:off x="7498080" y="4754880"/>
            <a:ext cx="4142232" cy="1417320"/>
          </a:xfrm>
          <a:prstGeom prst="roundRect">
            <a:avLst>
              <a:gd name="adj" fmla="val 5161"/>
            </a:avLst>
          </a:prstGeom>
          <a:solidFill>
            <a:schemeClr val="accent3"/>
          </a:solidFill>
          <a:ln w="12700">
            <a:solidFill>
              <a:schemeClr val="accent3"/>
            </a:solidFill>
            <a:prstDash val="solid"/>
          </a:ln>
        </p:spPr>
      </p:sp>
      <p:sp>
        <p:nvSpPr>
          <p:cNvPr id="13" name="await-warn-text"/>
          <p:cNvSpPr txBox="1"/>
          <p:nvPr/>
        </p:nvSpPr>
        <p:spPr>
          <a:xfrm>
            <a:off x="7680960" y="4846320"/>
            <a:ext cx="3794760" cy="1234440"/>
          </a:xfrm>
          <a:prstGeom prst="rect">
            <a:avLst/>
          </a:prstGeom>
          <a:noFill/>
          <a:ln/>
        </p:spPr>
        <p:txBody>
          <a:bodyPr wrap="square" lIns="0" tIns="0" rIns="0" bIns="0" rtlCol="0" anchor="ctr"/>
          <a:lstStyle/>
          <a:p>
            <a:pPr indent="0" marL="0">
              <a:buNone/>
            </a:pPr>
            <a:r>
              <a:rPr lang="en-US" sz="1600" b="1" dirty="0">
                <a:solidFill>
                  <a:srgbClr val="FFFFFF"/>
                </a:solidFill>
              </a:rPr>
              <a:t>Classic bug: a missing await</a:t>
            </a:r>
            <a:endParaRPr lang="en-US" sz="1600" dirty="0"/>
          </a:p>
          <a:p>
            <a:pPr indent="0" marL="0">
              <a:buNone/>
            </a:pPr>
            <a:r>
              <a:rPr lang="en-US" sz="1400" dirty="0">
                <a:solidFill>
                  <a:srgbClr val="FFFFFF"/>
                </a:solidFill>
              </a:rPr>
              <a:t>The code keeps going with a Promise instead of the value, and errors become unhandled rejections.</a:t>
            </a:r>
            <a:endParaRPr lang="en-US" sz="16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Talking to an API with fetch</a:t>
            </a:r>
            <a:endParaRPr lang="en-US" sz="3200" dirty="0"/>
          </a:p>
        </p:txBody>
      </p:sp>
      <p:sp>
        <p:nvSpPr>
          <p:cNvPr id="3" name="code-panel-204"/>
          <p:cNvSpPr/>
          <p:nvPr/>
        </p:nvSpPr>
        <p:spPr>
          <a:xfrm>
            <a:off x="548640" y="1371600"/>
            <a:ext cx="6675120" cy="4800600"/>
          </a:xfrm>
          <a:prstGeom prst="roundRect">
            <a:avLst>
              <a:gd name="adj" fmla="val 1524"/>
            </a:avLst>
          </a:prstGeom>
          <a:solidFill>
            <a:schemeClr val="tx2"/>
          </a:solidFill>
          <a:ln w="12700">
            <a:solidFill>
              <a:schemeClr val="tx2"/>
            </a:solidFill>
            <a:prstDash val="solid"/>
          </a:ln>
        </p:spPr>
      </p:sp>
      <p:sp>
        <p:nvSpPr>
          <p:cNvPr id="4" name="code-label-205"/>
          <p:cNvSpPr txBox="1"/>
          <p:nvPr/>
        </p:nvSpPr>
        <p:spPr>
          <a:xfrm>
            <a:off x="777240" y="1499616"/>
            <a:ext cx="6217920"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api.js</a:t>
            </a:r>
            <a:endParaRPr lang="en-US" sz="1100" dirty="0"/>
          </a:p>
        </p:txBody>
      </p:sp>
      <p:sp>
        <p:nvSpPr>
          <p:cNvPr id="5" name="code-206"/>
          <p:cNvSpPr txBox="1"/>
          <p:nvPr/>
        </p:nvSpPr>
        <p:spPr>
          <a:xfrm>
            <a:off x="777240" y="1828800"/>
            <a:ext cx="6217920" cy="4233672"/>
          </a:xfrm>
          <a:prstGeom prst="rect">
            <a:avLst/>
          </a:prstGeom>
          <a:noFill/>
          <a:ln/>
        </p:spPr>
        <p:txBody>
          <a:bodyPr wrap="square" lIns="0" tIns="0" rIns="0" bIns="0" rtlCol="0" anchor="t"/>
          <a:lstStyle/>
          <a:p>
            <a:pPr indent="0" marL="0">
              <a:buNone/>
            </a:pPr>
            <a:r>
              <a:rPr lang="en-US" sz="1400" dirty="0">
                <a:solidFill>
                  <a:srgbClr val="C792EA"/>
                </a:solidFill>
                <a:latin typeface="Courier New" pitchFamily="34" charset="0"/>
                <a:ea typeface="Courier New" pitchFamily="34" charset="-122"/>
                <a:cs typeface="Courier New" pitchFamily="34" charset="-120"/>
              </a:rPr>
              <a:t>async function </a:t>
            </a:r>
            <a:pPr indent="0" marL="0">
              <a:buNone/>
            </a:pPr>
            <a:r>
              <a:rPr lang="en-US" sz="1400" dirty="0">
                <a:solidFill>
                  <a:srgbClr val="E5E7EB"/>
                </a:solidFill>
                <a:latin typeface="Courier New" pitchFamily="34" charset="0"/>
                <a:ea typeface="Courier New" pitchFamily="34" charset="-122"/>
                <a:cs typeface="Courier New" pitchFamily="34" charset="-120"/>
              </a:rPr>
              <a:t>getJson(url)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res = </a:t>
            </a:r>
            <a:pPr indent="0" marL="0">
              <a:buNone/>
            </a:pPr>
            <a:r>
              <a:rPr lang="en-US" sz="1400" dirty="0">
                <a:solidFill>
                  <a:srgbClr val="C792EA"/>
                </a:solidFill>
                <a:latin typeface="Courier New" pitchFamily="34" charset="0"/>
                <a:ea typeface="Courier New" pitchFamily="34" charset="-122"/>
                <a:cs typeface="Courier New" pitchFamily="34" charset="-120"/>
              </a:rPr>
              <a:t>await </a:t>
            </a:r>
            <a:pPr indent="0" marL="0">
              <a:buNone/>
            </a:pPr>
            <a:r>
              <a:rPr lang="en-US" sz="1400" dirty="0">
                <a:solidFill>
                  <a:srgbClr val="79B8FF"/>
                </a:solidFill>
                <a:latin typeface="Courier New" pitchFamily="34" charset="0"/>
                <a:ea typeface="Courier New" pitchFamily="34" charset="-122"/>
                <a:cs typeface="Courier New" pitchFamily="34" charset="-120"/>
              </a:rPr>
              <a:t>fetch</a:t>
            </a:r>
            <a:pPr indent="0" marL="0">
              <a:buNone/>
            </a:pPr>
            <a:r>
              <a:rPr lang="en-US" sz="1400" dirty="0">
                <a:solidFill>
                  <a:srgbClr val="E5E7EB"/>
                </a:solidFill>
                <a:latin typeface="Courier New" pitchFamily="34" charset="0"/>
                <a:ea typeface="Courier New" pitchFamily="34" charset="-122"/>
                <a:cs typeface="Courier New" pitchFamily="34" charset="-120"/>
              </a:rPr>
              <a:t>(url,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headers: { Accept: </a:t>
            </a:r>
            <a:pPr indent="0" marL="0">
              <a:buNone/>
            </a:pPr>
            <a:r>
              <a:rPr lang="en-US" sz="1400" dirty="0">
                <a:solidFill>
                  <a:srgbClr val="A5D6A7"/>
                </a:solidFill>
                <a:latin typeface="Courier New" pitchFamily="34" charset="0"/>
                <a:ea typeface="Courier New" pitchFamily="34" charset="-122"/>
                <a:cs typeface="Courier New" pitchFamily="34" charset="-120"/>
              </a:rPr>
              <a:t>"application/json" </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fetch does NOT throw on 404 or 500</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if </a:t>
            </a:r>
            <a:pPr indent="0" marL="0">
              <a:buNone/>
            </a:pPr>
            <a:r>
              <a:rPr lang="en-US" sz="1400" dirty="0">
                <a:solidFill>
                  <a:srgbClr val="E5E7EB"/>
                </a:solidFill>
                <a:latin typeface="Courier New" pitchFamily="34" charset="0"/>
                <a:ea typeface="Courier New" pitchFamily="34" charset="-122"/>
                <a:cs typeface="Courier New" pitchFamily="34" charset="-120"/>
              </a:rPr>
              <a:t>(!res.ok)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throw new </a:t>
            </a:r>
            <a:pPr indent="0" marL="0">
              <a:buNone/>
            </a:pPr>
            <a:r>
              <a:rPr lang="en-US" sz="1400" dirty="0">
                <a:solidFill>
                  <a:srgbClr val="79B8FF"/>
                </a:solidFill>
                <a:latin typeface="Courier New" pitchFamily="34" charset="0"/>
                <a:ea typeface="Courier New" pitchFamily="34" charset="-122"/>
                <a:cs typeface="Courier New" pitchFamily="34" charset="-120"/>
              </a:rPr>
              <a:t>Error</a:t>
            </a:r>
            <a:pPr indent="0" marL="0">
              <a:buNone/>
            </a:pPr>
            <a:r>
              <a:rPr lang="en-US" sz="1400" dirty="0">
                <a:solidFill>
                  <a:srgbClr val="E5E7EB"/>
                </a:solidFill>
                <a:latin typeface="Courier New" pitchFamily="34" charset="0"/>
                <a:ea typeface="Courier New" pitchFamily="34" charset="-122"/>
                <a:cs typeface="Courier New" pitchFamily="34" charset="-120"/>
              </a:rPr>
              <a:t>(</a:t>
            </a:r>
            <a:pPr indent="0" marL="0">
              <a:buNone/>
            </a:pPr>
            <a:r>
              <a:rPr lang="en-US" sz="1400" dirty="0">
                <a:solidFill>
                  <a:srgbClr val="A5D6A7"/>
                </a:solidFill>
                <a:latin typeface="Courier New" pitchFamily="34" charset="0"/>
                <a:ea typeface="Courier New" pitchFamily="34" charset="-122"/>
                <a:cs typeface="Courier New" pitchFamily="34" charset="-120"/>
              </a:rPr>
              <a:t>`HTTP ${res.status}: ${url}`</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return </a:t>
            </a:r>
            <a:pPr indent="0" marL="0">
              <a:buNone/>
            </a:pPr>
            <a:r>
              <a:rPr lang="en-US" sz="1400" dirty="0">
                <a:solidFill>
                  <a:srgbClr val="E5E7EB"/>
                </a:solidFill>
                <a:latin typeface="Courier New" pitchFamily="34" charset="0"/>
                <a:ea typeface="Courier New" pitchFamily="34" charset="-122"/>
                <a:cs typeface="Courier New" pitchFamily="34" charset="-120"/>
              </a:rPr>
              <a:t>res.json();   </a:t>
            </a:r>
            <a:pPr indent="0" marL="0">
              <a:buNone/>
            </a:pPr>
            <a:r>
              <a:rPr lang="en-US" sz="1400" i="1" dirty="0">
                <a:solidFill>
                  <a:srgbClr val="8B949E"/>
                </a:solidFill>
                <a:latin typeface="Courier New" pitchFamily="34" charset="0"/>
                <a:ea typeface="Courier New" pitchFamily="34" charset="-122"/>
                <a:cs typeface="Courier New" pitchFamily="34" charset="-120"/>
              </a:rPr>
              <a:t>// also a promise</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posts = </a:t>
            </a:r>
            <a:pPr indent="0" marL="0">
              <a:buNone/>
            </a:pPr>
            <a:r>
              <a:rPr lang="en-US" sz="1400" dirty="0">
                <a:solidFill>
                  <a:srgbClr val="C792EA"/>
                </a:solidFill>
                <a:latin typeface="Courier New" pitchFamily="34" charset="0"/>
                <a:ea typeface="Courier New" pitchFamily="34" charset="-122"/>
                <a:cs typeface="Courier New" pitchFamily="34" charset="-120"/>
              </a:rPr>
              <a:t>await </a:t>
            </a:r>
            <a:pPr indent="0" marL="0">
              <a:buNone/>
            </a:pPr>
            <a:r>
              <a:rPr lang="en-US" sz="1400" dirty="0">
                <a:solidFill>
                  <a:srgbClr val="E5E7EB"/>
                </a:solidFill>
                <a:latin typeface="Courier New" pitchFamily="34" charset="0"/>
                <a:ea typeface="Courier New" pitchFamily="34" charset="-122"/>
                <a:cs typeface="Courier New" pitchFamily="34" charset="-120"/>
              </a:rPr>
              <a:t>getJson(</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A5D6A7"/>
                </a:solidFill>
                <a:latin typeface="Courier New" pitchFamily="34" charset="0"/>
                <a:ea typeface="Courier New" pitchFamily="34" charset="-122"/>
                <a:cs typeface="Courier New" pitchFamily="34" charset="-120"/>
              </a:rPr>
              <a:t>"https://jsonplaceholder.typicode.com/posts?_limit=3"</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79B8FF"/>
                </a:solidFill>
                <a:latin typeface="Courier New" pitchFamily="34" charset="0"/>
                <a:ea typeface="Courier New" pitchFamily="34" charset="-122"/>
                <a:cs typeface="Courier New" pitchFamily="34" charset="-120"/>
              </a:rPr>
              <a:t>console</a:t>
            </a:r>
            <a:pPr indent="0" marL="0">
              <a:buNone/>
            </a:pPr>
            <a:r>
              <a:rPr lang="en-US" sz="1400" dirty="0">
                <a:solidFill>
                  <a:srgbClr val="E5E7EB"/>
                </a:solidFill>
                <a:latin typeface="Courier New" pitchFamily="34" charset="0"/>
                <a:ea typeface="Courier New" pitchFamily="34" charset="-122"/>
                <a:cs typeface="Courier New" pitchFamily="34" charset="-120"/>
              </a:rPr>
              <a:t>.table(posts);</a:t>
            </a:r>
            <a:endParaRPr lang="en-US" sz="1400" dirty="0"/>
          </a:p>
        </p:txBody>
      </p:sp>
      <p:sp>
        <p:nvSpPr>
          <p:cNvPr id="6" name="box-207"/>
          <p:cNvSpPr txBox="1"/>
          <p:nvPr/>
        </p:nvSpPr>
        <p:spPr>
          <a:xfrm>
            <a:off x="7498080" y="1371600"/>
            <a:ext cx="4142232" cy="749808"/>
          </a:xfrm>
          <a:prstGeom prst="roundRect">
            <a:avLst>
              <a:gd name="adj" fmla="val 9756"/>
            </a:avLst>
          </a:prstGeom>
          <a:solidFill>
            <a:schemeClr val="bg2"/>
          </a:solidFill>
          <a:ln w="12700">
            <a:solidFill>
              <a:schemeClr val="bg2"/>
            </a:solidFill>
          </a:ln>
        </p:spPr>
        <p:txBody>
          <a:bodyPr wrap="square" lIns="127000" tIns="127000" rIns="127000" bIns="127000" rtlCol="0" anchor="ctr"/>
          <a:lstStyle/>
          <a:p>
            <a:pPr algn="l" indent="0" marL="0">
              <a:buNone/>
            </a:pPr>
            <a:r>
              <a:rPr lang="en-US" sz="1500" b="1" dirty="0">
                <a:solidFill>
                  <a:schemeClr val="tx1"/>
                </a:solidFill>
              </a:rPr>
              <a:t>fetch(url)</a:t>
            </a:r>
            <a:endParaRPr lang="en-US" sz="1500" dirty="0"/>
          </a:p>
          <a:p>
            <a:pPr algn="l" indent="0" marL="0">
              <a:buNone/>
            </a:pPr>
            <a:r>
              <a:rPr lang="en-US" sz="1300" dirty="0">
                <a:solidFill>
                  <a:schemeClr val="tx1"/>
                </a:solidFill>
              </a:rPr>
              <a:t>returns a Promise right away</a:t>
            </a:r>
            <a:endParaRPr lang="en-US" sz="1500" dirty="0"/>
          </a:p>
        </p:txBody>
      </p:sp>
      <p:sp>
        <p:nvSpPr>
          <p:cNvPr id="7" name="arrow-208"/>
          <p:cNvSpPr/>
          <p:nvPr/>
        </p:nvSpPr>
        <p:spPr>
          <a:xfrm>
            <a:off x="9564624" y="2139696"/>
            <a:ext cx="0" cy="201168"/>
          </a:xfrm>
          <a:prstGeom prst="line">
            <a:avLst/>
          </a:prstGeom>
          <a:noFill/>
          <a:ln w="25400">
            <a:solidFill>
              <a:srgbClr val="6B7280"/>
            </a:solidFill>
            <a:prstDash val="solid"/>
            <a:tailEnd type="triangle"/>
          </a:ln>
        </p:spPr>
      </p:sp>
      <p:sp>
        <p:nvSpPr>
          <p:cNvPr id="8" name="box-209"/>
          <p:cNvSpPr txBox="1"/>
          <p:nvPr/>
        </p:nvSpPr>
        <p:spPr>
          <a:xfrm>
            <a:off x="7498080" y="2359152"/>
            <a:ext cx="4142232" cy="749808"/>
          </a:xfrm>
          <a:prstGeom prst="roundRect">
            <a:avLst>
              <a:gd name="adj" fmla="val 9756"/>
            </a:avLst>
          </a:prstGeom>
          <a:solidFill>
            <a:schemeClr val="bg2"/>
          </a:solidFill>
          <a:ln w="12700">
            <a:solidFill>
              <a:schemeClr val="bg2"/>
            </a:solidFill>
          </a:ln>
        </p:spPr>
        <p:txBody>
          <a:bodyPr wrap="square" lIns="127000" tIns="127000" rIns="127000" bIns="127000" rtlCol="0" anchor="ctr"/>
          <a:lstStyle/>
          <a:p>
            <a:pPr algn="l" indent="0" marL="0">
              <a:buNone/>
            </a:pPr>
            <a:r>
              <a:rPr lang="en-US" sz="1500" b="1" dirty="0">
                <a:solidFill>
                  <a:schemeClr val="tx1"/>
                </a:solidFill>
              </a:rPr>
              <a:t>DNS · TCP · TLS · HTTP request</a:t>
            </a:r>
            <a:endParaRPr lang="en-US" sz="1500" dirty="0"/>
          </a:p>
          <a:p>
            <a:pPr algn="l" indent="0" marL="0">
              <a:buNone/>
            </a:pPr>
            <a:r>
              <a:rPr lang="en-US" sz="1300" dirty="0">
                <a:solidFill>
                  <a:schemeClr val="tx1"/>
                </a:solidFill>
              </a:rPr>
              <a:t>done by the host, off the main thread</a:t>
            </a:r>
            <a:endParaRPr lang="en-US" sz="1500" dirty="0"/>
          </a:p>
        </p:txBody>
      </p:sp>
      <p:sp>
        <p:nvSpPr>
          <p:cNvPr id="9" name="arrow-210"/>
          <p:cNvSpPr/>
          <p:nvPr/>
        </p:nvSpPr>
        <p:spPr>
          <a:xfrm>
            <a:off x="9564624" y="3127248"/>
            <a:ext cx="0" cy="201168"/>
          </a:xfrm>
          <a:prstGeom prst="line">
            <a:avLst/>
          </a:prstGeom>
          <a:noFill/>
          <a:ln w="25400">
            <a:solidFill>
              <a:srgbClr val="6B7280"/>
            </a:solidFill>
            <a:prstDash val="solid"/>
            <a:tailEnd type="triangle"/>
          </a:ln>
        </p:spPr>
      </p:sp>
      <p:sp>
        <p:nvSpPr>
          <p:cNvPr id="10" name="box-211"/>
          <p:cNvSpPr txBox="1"/>
          <p:nvPr/>
        </p:nvSpPr>
        <p:spPr>
          <a:xfrm>
            <a:off x="7498080" y="3346704"/>
            <a:ext cx="4142232" cy="749808"/>
          </a:xfrm>
          <a:prstGeom prst="roundRect">
            <a:avLst>
              <a:gd name="adj" fmla="val 9756"/>
            </a:avLst>
          </a:prstGeom>
          <a:solidFill>
            <a:schemeClr val="bg2"/>
          </a:solidFill>
          <a:ln w="12700">
            <a:solidFill>
              <a:schemeClr val="bg2"/>
            </a:solidFill>
          </a:ln>
        </p:spPr>
        <p:txBody>
          <a:bodyPr wrap="square" lIns="127000" tIns="127000" rIns="127000" bIns="127000" rtlCol="0" anchor="ctr"/>
          <a:lstStyle/>
          <a:p>
            <a:pPr algn="l" indent="0" marL="0">
              <a:buNone/>
            </a:pPr>
            <a:r>
              <a:rPr lang="en-US" sz="1500" b="1" dirty="0">
                <a:solidFill>
                  <a:schemeClr val="tx1"/>
                </a:solidFill>
              </a:rPr>
              <a:t>Response</a:t>
            </a:r>
            <a:endParaRPr lang="en-US" sz="1500" dirty="0"/>
          </a:p>
          <a:p>
            <a:pPr algn="l" indent="0" marL="0">
              <a:buNone/>
            </a:pPr>
            <a:r>
              <a:rPr lang="en-US" sz="1300" dirty="0">
                <a:solidFill>
                  <a:schemeClr val="tx1"/>
                </a:solidFill>
              </a:rPr>
              <a:t>status, headers, body as a stream</a:t>
            </a:r>
            <a:endParaRPr lang="en-US" sz="1500" dirty="0"/>
          </a:p>
        </p:txBody>
      </p:sp>
      <p:sp>
        <p:nvSpPr>
          <p:cNvPr id="11" name="arrow-212"/>
          <p:cNvSpPr/>
          <p:nvPr/>
        </p:nvSpPr>
        <p:spPr>
          <a:xfrm>
            <a:off x="9564624" y="4114800"/>
            <a:ext cx="0" cy="201168"/>
          </a:xfrm>
          <a:prstGeom prst="line">
            <a:avLst/>
          </a:prstGeom>
          <a:noFill/>
          <a:ln w="25400">
            <a:solidFill>
              <a:srgbClr val="6B7280"/>
            </a:solidFill>
            <a:prstDash val="solid"/>
            <a:tailEnd type="triangle"/>
          </a:ln>
        </p:spPr>
      </p:sp>
      <p:sp>
        <p:nvSpPr>
          <p:cNvPr id="12" name="box-213"/>
          <p:cNvSpPr txBox="1"/>
          <p:nvPr/>
        </p:nvSpPr>
        <p:spPr>
          <a:xfrm>
            <a:off x="7498080" y="4334256"/>
            <a:ext cx="4142232" cy="749808"/>
          </a:xfrm>
          <a:prstGeom prst="roundRect">
            <a:avLst>
              <a:gd name="adj" fmla="val 9756"/>
            </a:avLst>
          </a:prstGeom>
          <a:solidFill>
            <a:schemeClr val="accent1"/>
          </a:solidFill>
          <a:ln w="12700">
            <a:solidFill>
              <a:schemeClr val="accent1"/>
            </a:solidFill>
          </a:ln>
        </p:spPr>
        <p:txBody>
          <a:bodyPr wrap="square" lIns="127000" tIns="127000" rIns="127000" bIns="127000" rtlCol="0" anchor="ctr"/>
          <a:lstStyle/>
          <a:p>
            <a:pPr algn="l" indent="0" marL="0">
              <a:buNone/>
            </a:pPr>
            <a:r>
              <a:rPr lang="en-US" sz="1500" b="1" dirty="0">
                <a:solidFill>
                  <a:srgbClr val="1B1B1F"/>
                </a:solidFill>
              </a:rPr>
              <a:t>res.json()</a:t>
            </a:r>
            <a:endParaRPr lang="en-US" sz="1500" dirty="0"/>
          </a:p>
          <a:p>
            <a:pPr algn="l" indent="0" marL="0">
              <a:buNone/>
            </a:pPr>
            <a:r>
              <a:rPr lang="en-US" sz="1300" dirty="0">
                <a:solidFill>
                  <a:srgbClr val="1B1B1F"/>
                </a:solidFill>
              </a:rPr>
              <a:t>reads and parses the body</a:t>
            </a:r>
            <a:endParaRPr lang="en-US" sz="1500" dirty="0"/>
          </a:p>
        </p:txBody>
      </p:sp>
      <p:sp>
        <p:nvSpPr>
          <p:cNvPr id="13" name="fetch-tip"/>
          <p:cNvSpPr txBox="1"/>
          <p:nvPr/>
        </p:nvSpPr>
        <p:spPr>
          <a:xfrm>
            <a:off x="7498080" y="5349240"/>
            <a:ext cx="4142232" cy="822960"/>
          </a:xfrm>
          <a:prstGeom prst="rect">
            <a:avLst/>
          </a:prstGeom>
          <a:noFill/>
          <a:ln/>
        </p:spPr>
        <p:txBody>
          <a:bodyPr wrap="square" lIns="0" tIns="0" rIns="0" bIns="0" rtlCol="0" anchor="t"/>
          <a:lstStyle/>
          <a:p>
            <a:pPr indent="0" marL="0">
              <a:buNone/>
            </a:pPr>
            <a:r>
              <a:rPr lang="en-US" sz="1400" i="1" dirty="0">
                <a:solidFill>
                  <a:srgbClr val="6B7280"/>
                </a:solidFill>
              </a:rPr>
              <a:t>Open DevTools › Network while this runs and match each step to what you see.</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Activity 3: What order is printed?</a:t>
            </a:r>
            <a:endParaRPr lang="en-US" sz="3200" dirty="0"/>
          </a:p>
        </p:txBody>
      </p:sp>
      <p:sp>
        <p:nvSpPr>
          <p:cNvPr id="3" name="badge-214"/>
          <p:cNvSpPr txBox="1"/>
          <p:nvPr/>
        </p:nvSpPr>
        <p:spPr>
          <a:xfrm>
            <a:off x="548640" y="1261872"/>
            <a:ext cx="3840480" cy="384048"/>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300" b="1" spc="100" kern="0" dirty="0">
                <a:solidFill>
                  <a:srgbClr val="FFFFFF"/>
                </a:solidFill>
              </a:rPr>
              <a:t>ACTIVITY 3  ·  AI LEVEL: CLOSED</a:t>
            </a:r>
            <a:endParaRPr lang="en-US" sz="1300" dirty="0"/>
          </a:p>
        </p:txBody>
      </p:sp>
      <p:sp>
        <p:nvSpPr>
          <p:cNvPr id="4" name="code-panel-215"/>
          <p:cNvSpPr/>
          <p:nvPr/>
        </p:nvSpPr>
        <p:spPr>
          <a:xfrm>
            <a:off x="548640" y="1874520"/>
            <a:ext cx="6309360" cy="4297680"/>
          </a:xfrm>
          <a:prstGeom prst="roundRect">
            <a:avLst>
              <a:gd name="adj" fmla="val 1702"/>
            </a:avLst>
          </a:prstGeom>
          <a:solidFill>
            <a:schemeClr val="tx2"/>
          </a:solidFill>
          <a:ln w="12700">
            <a:solidFill>
              <a:schemeClr val="tx2"/>
            </a:solidFill>
            <a:prstDash val="solid"/>
          </a:ln>
        </p:spPr>
      </p:sp>
      <p:sp>
        <p:nvSpPr>
          <p:cNvPr id="5" name="code-label-216"/>
          <p:cNvSpPr txBox="1"/>
          <p:nvPr/>
        </p:nvSpPr>
        <p:spPr>
          <a:xfrm>
            <a:off x="777240" y="2002536"/>
            <a:ext cx="5852160"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order.js</a:t>
            </a:r>
            <a:endParaRPr lang="en-US" sz="1100" dirty="0"/>
          </a:p>
        </p:txBody>
      </p:sp>
      <p:sp>
        <p:nvSpPr>
          <p:cNvPr id="6" name="code-217"/>
          <p:cNvSpPr txBox="1"/>
          <p:nvPr/>
        </p:nvSpPr>
        <p:spPr>
          <a:xfrm>
            <a:off x="777240" y="2331720"/>
            <a:ext cx="5852160" cy="3730752"/>
          </a:xfrm>
          <a:prstGeom prst="rect">
            <a:avLst/>
          </a:prstGeom>
          <a:noFill/>
          <a:ln/>
        </p:spPr>
        <p:txBody>
          <a:bodyPr wrap="square" lIns="0" tIns="0" rIns="0" bIns="0" rtlCol="0" anchor="t"/>
          <a:lstStyle/>
          <a:p>
            <a:pPr indent="0" marL="0">
              <a:buNone/>
            </a:pPr>
            <a:r>
              <a:rPr lang="en-US" sz="1400" dirty="0">
                <a:solidFill>
                  <a:srgbClr val="79B8FF"/>
                </a:solidFill>
                <a:latin typeface="Courier New" pitchFamily="34" charset="0"/>
                <a:ea typeface="Courier New" pitchFamily="34" charset="-122"/>
                <a:cs typeface="Courier New" pitchFamily="34" charset="-120"/>
              </a:rPr>
              <a:t>console</a:t>
            </a:r>
            <a:pPr indent="0" marL="0">
              <a:buNone/>
            </a:pPr>
            <a:r>
              <a:rPr lang="en-US" sz="1400" dirty="0">
                <a:solidFill>
                  <a:srgbClr val="E5E7EB"/>
                </a:solidFill>
                <a:latin typeface="Courier New" pitchFamily="34" charset="0"/>
                <a:ea typeface="Courier New" pitchFamily="34" charset="-122"/>
                <a:cs typeface="Courier New" pitchFamily="34" charset="-120"/>
              </a:rPr>
              <a:t>.log(</a:t>
            </a:r>
            <a:pPr indent="0" marL="0">
              <a:buNone/>
            </a:pPr>
            <a:r>
              <a:rPr lang="en-US" sz="1400" dirty="0">
                <a:solidFill>
                  <a:srgbClr val="A5D6A7"/>
                </a:solidFill>
                <a:latin typeface="Courier New" pitchFamily="34" charset="0"/>
                <a:ea typeface="Courier New" pitchFamily="34" charset="-122"/>
                <a:cs typeface="Courier New" pitchFamily="34" charset="-120"/>
              </a:rPr>
              <a:t>"A"</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79B8FF"/>
                </a:solidFill>
                <a:latin typeface="Courier New" pitchFamily="34" charset="0"/>
                <a:ea typeface="Courier New" pitchFamily="34" charset="-122"/>
                <a:cs typeface="Courier New" pitchFamily="34" charset="-120"/>
              </a:rPr>
              <a:t>setTimeout</a:t>
            </a:r>
            <a:pPr indent="0" marL="0">
              <a:buNone/>
            </a:pPr>
            <a:r>
              <a:rPr lang="en-US" sz="1400" dirty="0">
                <a:solidFill>
                  <a:srgbClr val="E5E7EB"/>
                </a:solidFill>
                <a:latin typeface="Courier New" pitchFamily="34" charset="0"/>
                <a:ea typeface="Courier New" pitchFamily="34" charset="-122"/>
                <a:cs typeface="Courier New" pitchFamily="34" charset="-120"/>
              </a:rPr>
              <a:t>(() =&gt; </a:t>
            </a:r>
            <a:pPr indent="0" marL="0">
              <a:buNone/>
            </a:pPr>
            <a:r>
              <a:rPr lang="en-US" sz="1400" dirty="0">
                <a:solidFill>
                  <a:srgbClr val="79B8FF"/>
                </a:solidFill>
                <a:latin typeface="Courier New" pitchFamily="34" charset="0"/>
                <a:ea typeface="Courier New" pitchFamily="34" charset="-122"/>
                <a:cs typeface="Courier New" pitchFamily="34" charset="-120"/>
              </a:rPr>
              <a:t>console</a:t>
            </a:r>
            <a:pPr indent="0" marL="0">
              <a:buNone/>
            </a:pPr>
            <a:r>
              <a:rPr lang="en-US" sz="1400" dirty="0">
                <a:solidFill>
                  <a:srgbClr val="E5E7EB"/>
                </a:solidFill>
                <a:latin typeface="Courier New" pitchFamily="34" charset="0"/>
                <a:ea typeface="Courier New" pitchFamily="34" charset="-122"/>
                <a:cs typeface="Courier New" pitchFamily="34" charset="-120"/>
              </a:rPr>
              <a:t>.log(</a:t>
            </a:r>
            <a:pPr indent="0" marL="0">
              <a:buNone/>
            </a:pPr>
            <a:r>
              <a:rPr lang="en-US" sz="1400" dirty="0">
                <a:solidFill>
                  <a:srgbClr val="A5D6A7"/>
                </a:solidFill>
                <a:latin typeface="Courier New" pitchFamily="34" charset="0"/>
                <a:ea typeface="Courier New" pitchFamily="34" charset="-122"/>
                <a:cs typeface="Courier New" pitchFamily="34" charset="-120"/>
              </a:rPr>
              <a:t>"B"</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F7B267"/>
                </a:solidFill>
                <a:latin typeface="Courier New" pitchFamily="34" charset="0"/>
                <a:ea typeface="Courier New" pitchFamily="34" charset="-122"/>
                <a:cs typeface="Courier New" pitchFamily="34" charset="-120"/>
              </a:rPr>
              <a:t>0</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79B8FF"/>
                </a:solidFill>
                <a:latin typeface="Courier New" pitchFamily="34" charset="0"/>
                <a:ea typeface="Courier New" pitchFamily="34" charset="-122"/>
                <a:cs typeface="Courier New" pitchFamily="34" charset="-120"/>
              </a:rPr>
              <a:t>Promise</a:t>
            </a:r>
            <a:pPr indent="0" marL="0">
              <a:buNone/>
            </a:pPr>
            <a:r>
              <a:rPr lang="en-US" sz="1400" dirty="0">
                <a:solidFill>
                  <a:srgbClr val="E5E7EB"/>
                </a:solidFill>
                <a:latin typeface="Courier New" pitchFamily="34" charset="0"/>
                <a:ea typeface="Courier New" pitchFamily="34" charset="-122"/>
                <a:cs typeface="Courier New" pitchFamily="34" charset="-120"/>
              </a:rPr>
              <a:t>.resolve().then(() =&gt; </a:t>
            </a:r>
            <a:pPr indent="0" marL="0">
              <a:buNone/>
            </a:pPr>
            <a:r>
              <a:rPr lang="en-US" sz="1400" dirty="0">
                <a:solidFill>
                  <a:srgbClr val="79B8FF"/>
                </a:solidFill>
                <a:latin typeface="Courier New" pitchFamily="34" charset="0"/>
                <a:ea typeface="Courier New" pitchFamily="34" charset="-122"/>
                <a:cs typeface="Courier New" pitchFamily="34" charset="-120"/>
              </a:rPr>
              <a:t>console</a:t>
            </a:r>
            <a:pPr indent="0" marL="0">
              <a:buNone/>
            </a:pPr>
            <a:r>
              <a:rPr lang="en-US" sz="1400" dirty="0">
                <a:solidFill>
                  <a:srgbClr val="E5E7EB"/>
                </a:solidFill>
                <a:latin typeface="Courier New" pitchFamily="34" charset="0"/>
                <a:ea typeface="Courier New" pitchFamily="34" charset="-122"/>
                <a:cs typeface="Courier New" pitchFamily="34" charset="-120"/>
              </a:rPr>
              <a:t>.log(</a:t>
            </a:r>
            <a:pPr indent="0" marL="0">
              <a:buNone/>
            </a:pPr>
            <a:r>
              <a:rPr lang="en-US" sz="1400" dirty="0">
                <a:solidFill>
                  <a:srgbClr val="A5D6A7"/>
                </a:solidFill>
                <a:latin typeface="Courier New" pitchFamily="34" charset="0"/>
                <a:ea typeface="Courier New" pitchFamily="34" charset="-122"/>
                <a:cs typeface="Courier New" pitchFamily="34" charset="-120"/>
              </a:rPr>
              <a:t>"C"</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pPr indent="0" marL="0">
              <a:buNone/>
            </a:pPr>
            <a:r>
              <a:rPr lang="en-US" sz="1400" dirty="0">
                <a:solidFill>
                  <a:srgbClr val="C792EA"/>
                </a:solidFill>
                <a:latin typeface="Courier New" pitchFamily="34" charset="0"/>
                <a:ea typeface="Courier New" pitchFamily="34" charset="-122"/>
                <a:cs typeface="Courier New" pitchFamily="34" charset="-120"/>
              </a:rPr>
              <a:t>async </a:t>
            </a:r>
            <a:pPr indent="0" marL="0">
              <a:buNone/>
            </a:pPr>
            <a:r>
              <a:rPr lang="en-US" sz="1400" dirty="0">
                <a:solidFill>
                  <a:srgbClr val="E5E7EB"/>
                </a:solidFill>
                <a:latin typeface="Courier New" pitchFamily="34" charset="0"/>
                <a:ea typeface="Courier New" pitchFamily="34" charset="-122"/>
                <a:cs typeface="Courier New" pitchFamily="34" charset="-120"/>
              </a:rPr>
              <a:t>() =&gt;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79B8FF"/>
                </a:solidFill>
                <a:latin typeface="Courier New" pitchFamily="34" charset="0"/>
                <a:ea typeface="Courier New" pitchFamily="34" charset="-122"/>
                <a:cs typeface="Courier New" pitchFamily="34" charset="-120"/>
              </a:rPr>
              <a:t>console</a:t>
            </a:r>
            <a:pPr indent="0" marL="0">
              <a:buNone/>
            </a:pPr>
            <a:r>
              <a:rPr lang="en-US" sz="1400" dirty="0">
                <a:solidFill>
                  <a:srgbClr val="E5E7EB"/>
                </a:solidFill>
                <a:latin typeface="Courier New" pitchFamily="34" charset="0"/>
                <a:ea typeface="Courier New" pitchFamily="34" charset="-122"/>
                <a:cs typeface="Courier New" pitchFamily="34" charset="-120"/>
              </a:rPr>
              <a:t>.log(</a:t>
            </a:r>
            <a:pPr indent="0" marL="0">
              <a:buNone/>
            </a:pPr>
            <a:r>
              <a:rPr lang="en-US" sz="1400" dirty="0">
                <a:solidFill>
                  <a:srgbClr val="A5D6A7"/>
                </a:solidFill>
                <a:latin typeface="Courier New" pitchFamily="34" charset="0"/>
                <a:ea typeface="Courier New" pitchFamily="34" charset="-122"/>
                <a:cs typeface="Courier New" pitchFamily="34" charset="-120"/>
              </a:rPr>
              <a:t>"D"</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await </a:t>
            </a:r>
            <a:pPr indent="0" marL="0">
              <a:buNone/>
            </a:pPr>
            <a:r>
              <a:rPr lang="en-US" sz="1400" dirty="0">
                <a:solidFill>
                  <a:srgbClr val="F7B267"/>
                </a:solidFill>
                <a:latin typeface="Courier New" pitchFamily="34" charset="0"/>
                <a:ea typeface="Courier New" pitchFamily="34" charset="-122"/>
                <a:cs typeface="Courier New" pitchFamily="34" charset="-120"/>
              </a:rPr>
              <a:t>null</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79B8FF"/>
                </a:solidFill>
                <a:latin typeface="Courier New" pitchFamily="34" charset="0"/>
                <a:ea typeface="Courier New" pitchFamily="34" charset="-122"/>
                <a:cs typeface="Courier New" pitchFamily="34" charset="-120"/>
              </a:rPr>
              <a:t>console</a:t>
            </a:r>
            <a:pPr indent="0" marL="0">
              <a:buNone/>
            </a:pPr>
            <a:r>
              <a:rPr lang="en-US" sz="1400" dirty="0">
                <a:solidFill>
                  <a:srgbClr val="E5E7EB"/>
                </a:solidFill>
                <a:latin typeface="Courier New" pitchFamily="34" charset="0"/>
                <a:ea typeface="Courier New" pitchFamily="34" charset="-122"/>
                <a:cs typeface="Courier New" pitchFamily="34" charset="-120"/>
              </a:rPr>
              <a:t>.log(</a:t>
            </a:r>
            <a:pPr indent="0" marL="0">
              <a:buNone/>
            </a:pPr>
            <a:r>
              <a:rPr lang="en-US" sz="1400" dirty="0">
                <a:solidFill>
                  <a:srgbClr val="A5D6A7"/>
                </a:solidFill>
                <a:latin typeface="Courier New" pitchFamily="34" charset="0"/>
                <a:ea typeface="Courier New" pitchFamily="34" charset="-122"/>
                <a:cs typeface="Courier New" pitchFamily="34" charset="-120"/>
              </a:rPr>
              <a:t>"E"</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79B8FF"/>
                </a:solidFill>
                <a:latin typeface="Courier New" pitchFamily="34" charset="0"/>
                <a:ea typeface="Courier New" pitchFamily="34" charset="-122"/>
                <a:cs typeface="Courier New" pitchFamily="34" charset="-120"/>
              </a:rPr>
              <a:t>console</a:t>
            </a:r>
            <a:pPr indent="0" marL="0">
              <a:buNone/>
            </a:pPr>
            <a:r>
              <a:rPr lang="en-US" sz="1400" dirty="0">
                <a:solidFill>
                  <a:srgbClr val="E5E7EB"/>
                </a:solidFill>
                <a:latin typeface="Courier New" pitchFamily="34" charset="0"/>
                <a:ea typeface="Courier New" pitchFamily="34" charset="-122"/>
                <a:cs typeface="Courier New" pitchFamily="34" charset="-120"/>
              </a:rPr>
              <a:t>.log(</a:t>
            </a:r>
            <a:pPr indent="0" marL="0">
              <a:buNone/>
            </a:pPr>
            <a:r>
              <a:rPr lang="en-US" sz="1400" dirty="0">
                <a:solidFill>
                  <a:srgbClr val="A5D6A7"/>
                </a:solidFill>
                <a:latin typeface="Courier New" pitchFamily="34" charset="0"/>
                <a:ea typeface="Courier New" pitchFamily="34" charset="-122"/>
                <a:cs typeface="Courier New" pitchFamily="34" charset="-120"/>
              </a:rPr>
              <a:t>"F"</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p:txBody>
      </p:sp>
      <p:sp>
        <p:nvSpPr>
          <p:cNvPr id="7" name="dot-218"/>
          <p:cNvSpPr txBox="1"/>
          <p:nvPr/>
        </p:nvSpPr>
        <p:spPr>
          <a:xfrm>
            <a:off x="7132320" y="1892808"/>
            <a:ext cx="457200" cy="45720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8" name="act3-step-219"/>
          <p:cNvSpPr txBox="1"/>
          <p:nvPr/>
        </p:nvSpPr>
        <p:spPr>
          <a:xfrm>
            <a:off x="7726680" y="1874520"/>
            <a:ext cx="3913632"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Predict alone (3 min)</a:t>
            </a:r>
            <a:endParaRPr lang="en-US" sz="1700" dirty="0"/>
          </a:p>
          <a:p>
            <a:pPr indent="0" marL="0">
              <a:spcAft>
                <a:spcPts val="400"/>
              </a:spcAft>
              <a:buNone/>
            </a:pPr>
            <a:r>
              <a:rPr lang="en-US" sz="1500" dirty="0">
                <a:solidFill>
                  <a:srgbClr val="374151"/>
                </a:solidFill>
              </a:rPr>
              <a:t>Write the six letters in order, and one sentence of reasoning for each.</a:t>
            </a:r>
            <a:endParaRPr lang="en-US" sz="1700" dirty="0"/>
          </a:p>
        </p:txBody>
      </p:sp>
      <p:sp>
        <p:nvSpPr>
          <p:cNvPr id="9" name="dot-220"/>
          <p:cNvSpPr txBox="1"/>
          <p:nvPr/>
        </p:nvSpPr>
        <p:spPr>
          <a:xfrm>
            <a:off x="7132320" y="3355848"/>
            <a:ext cx="457200" cy="45720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act3-step-221"/>
          <p:cNvSpPr txBox="1"/>
          <p:nvPr/>
        </p:nvSpPr>
        <p:spPr>
          <a:xfrm>
            <a:off x="7726680" y="3337560"/>
            <a:ext cx="3913632"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Check in pairs</a:t>
            </a:r>
            <a:endParaRPr lang="en-US" sz="1700" dirty="0"/>
          </a:p>
          <a:p>
            <a:pPr indent="0" marL="0">
              <a:spcAft>
                <a:spcPts val="400"/>
              </a:spcAft>
              <a:buNone/>
            </a:pPr>
            <a:r>
              <a:rPr lang="en-US" sz="1500" dirty="0">
                <a:solidFill>
                  <a:srgbClr val="374151"/>
                </a:solidFill>
              </a:rPr>
              <a:t>Run it with node order.js or in the browser console.</a:t>
            </a:r>
            <a:endParaRPr lang="en-US" sz="1700" dirty="0"/>
          </a:p>
        </p:txBody>
      </p:sp>
      <p:sp>
        <p:nvSpPr>
          <p:cNvPr id="11" name="dot-222"/>
          <p:cNvSpPr txBox="1"/>
          <p:nvPr/>
        </p:nvSpPr>
        <p:spPr>
          <a:xfrm>
            <a:off x="7132320" y="4818888"/>
            <a:ext cx="457200" cy="45720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act3-step-223"/>
          <p:cNvSpPr txBox="1"/>
          <p:nvPr/>
        </p:nvSpPr>
        <p:spPr>
          <a:xfrm>
            <a:off x="7726680" y="4800600"/>
            <a:ext cx="3913632"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Then ask an AI to explain it</a:t>
            </a:r>
            <a:endParaRPr lang="en-US" sz="1700" dirty="0"/>
          </a:p>
          <a:p>
            <a:pPr indent="0" marL="0">
              <a:spcAft>
                <a:spcPts val="400"/>
              </a:spcAft>
              <a:buNone/>
            </a:pPr>
            <a:r>
              <a:rPr lang="en-US" sz="1500" dirty="0">
                <a:solidFill>
                  <a:srgbClr val="374151"/>
                </a:solidFill>
              </a:rPr>
              <a:t>Is its order right? Is its reason right? A correct answer with a wrong reason still fails a review.</a:t>
            </a:r>
            <a:endParaRPr lang="en-US" sz="17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Modules and npm packages</a:t>
            </a:r>
            <a:endParaRPr lang="en-US" sz="3200" dirty="0"/>
          </a:p>
        </p:txBody>
      </p:sp>
      <p:sp>
        <p:nvSpPr>
          <p:cNvPr id="3" name="code-panel-224"/>
          <p:cNvSpPr/>
          <p:nvPr/>
        </p:nvSpPr>
        <p:spPr>
          <a:xfrm>
            <a:off x="548640" y="1371600"/>
            <a:ext cx="6675120" cy="3108960"/>
          </a:xfrm>
          <a:prstGeom prst="roundRect">
            <a:avLst>
              <a:gd name="adj" fmla="val 2353"/>
            </a:avLst>
          </a:prstGeom>
          <a:solidFill>
            <a:schemeClr val="tx2"/>
          </a:solidFill>
          <a:ln w="12700">
            <a:solidFill>
              <a:schemeClr val="tx2"/>
            </a:solidFill>
            <a:prstDash val="solid"/>
          </a:ln>
        </p:spPr>
      </p:sp>
      <p:sp>
        <p:nvSpPr>
          <p:cNvPr id="4" name="code-label-225"/>
          <p:cNvSpPr txBox="1"/>
          <p:nvPr/>
        </p:nvSpPr>
        <p:spPr>
          <a:xfrm>
            <a:off x="777240" y="1499616"/>
            <a:ext cx="6217920"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ES modules</a:t>
            </a:r>
            <a:endParaRPr lang="en-US" sz="1100" dirty="0"/>
          </a:p>
        </p:txBody>
      </p:sp>
      <p:sp>
        <p:nvSpPr>
          <p:cNvPr id="5" name="code-226"/>
          <p:cNvSpPr txBox="1"/>
          <p:nvPr/>
        </p:nvSpPr>
        <p:spPr>
          <a:xfrm>
            <a:off x="777240" y="1828800"/>
            <a:ext cx="6217920" cy="2542032"/>
          </a:xfrm>
          <a:prstGeom prst="rect">
            <a:avLst/>
          </a:prstGeom>
          <a:noFill/>
          <a:ln/>
        </p:spPr>
        <p:txBody>
          <a:bodyPr wrap="square" lIns="0" tIns="0" rIns="0" bIns="0" rtlCol="0" anchor="t"/>
          <a:lstStyle/>
          <a:p>
            <a:pPr indent="0" marL="0">
              <a:buNone/>
            </a:pPr>
            <a:r>
              <a:rPr lang="en-US" sz="1400" i="1" dirty="0">
                <a:solidFill>
                  <a:srgbClr val="8B949E"/>
                </a:solidFill>
                <a:latin typeface="Courier New" pitchFamily="34" charset="0"/>
                <a:ea typeface="Courier New" pitchFamily="34" charset="-122"/>
                <a:cs typeface="Courier New" pitchFamily="34" charset="-120"/>
              </a:rPr>
              <a:t>// math.js</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export const </a:t>
            </a:r>
            <a:pPr indent="0" marL="0">
              <a:buNone/>
            </a:pPr>
            <a:r>
              <a:rPr lang="en-US" sz="1400" dirty="0">
                <a:solidFill>
                  <a:srgbClr val="E5E7EB"/>
                </a:solidFill>
                <a:latin typeface="Courier New" pitchFamily="34" charset="0"/>
                <a:ea typeface="Courier New" pitchFamily="34" charset="-122"/>
                <a:cs typeface="Courier New" pitchFamily="34" charset="-120"/>
              </a:rPr>
              <a:t>PI = </a:t>
            </a:r>
            <a:pPr indent="0" marL="0">
              <a:buNone/>
            </a:pPr>
            <a:r>
              <a:rPr lang="en-US" sz="1400" dirty="0">
                <a:solidFill>
                  <a:srgbClr val="F7B267"/>
                </a:solidFill>
                <a:latin typeface="Courier New" pitchFamily="34" charset="0"/>
                <a:ea typeface="Courier New" pitchFamily="34" charset="-122"/>
                <a:cs typeface="Courier New" pitchFamily="34" charset="-120"/>
              </a:rPr>
              <a:t>3.14159</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export function </a:t>
            </a:r>
            <a:pPr indent="0" marL="0">
              <a:buNone/>
            </a:pPr>
            <a:r>
              <a:rPr lang="en-US" sz="1400" dirty="0">
                <a:solidFill>
                  <a:srgbClr val="E5E7EB"/>
                </a:solidFill>
                <a:latin typeface="Courier New" pitchFamily="34" charset="0"/>
                <a:ea typeface="Courier New" pitchFamily="34" charset="-122"/>
                <a:cs typeface="Courier New" pitchFamily="34" charset="-120"/>
              </a:rPr>
              <a:t>area(r) { </a:t>
            </a:r>
            <a:pPr indent="0" marL="0">
              <a:buNone/>
            </a:pPr>
            <a:r>
              <a:rPr lang="en-US" sz="1400" dirty="0">
                <a:solidFill>
                  <a:srgbClr val="C792EA"/>
                </a:solidFill>
                <a:latin typeface="Courier New" pitchFamily="34" charset="0"/>
                <a:ea typeface="Courier New" pitchFamily="34" charset="-122"/>
                <a:cs typeface="Courier New" pitchFamily="34" charset="-120"/>
              </a:rPr>
              <a:t>return </a:t>
            </a:r>
            <a:pPr indent="0" marL="0">
              <a:buNone/>
            </a:pPr>
            <a:r>
              <a:rPr lang="en-US" sz="1400" dirty="0">
                <a:solidFill>
                  <a:srgbClr val="E5E7EB"/>
                </a:solidFill>
                <a:latin typeface="Courier New" pitchFamily="34" charset="0"/>
                <a:ea typeface="Courier New" pitchFamily="34" charset="-122"/>
                <a:cs typeface="Courier New" pitchFamily="34" charset="-120"/>
              </a:rPr>
              <a:t>PI * r * r; }</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export default class </a:t>
            </a:r>
            <a:pPr indent="0" marL="0">
              <a:buNone/>
            </a:pPr>
            <a:r>
              <a:rPr lang="en-US" sz="1400" dirty="0">
                <a:solidFill>
                  <a:srgbClr val="E5E7EB"/>
                </a:solidFill>
                <a:latin typeface="Courier New" pitchFamily="34" charset="0"/>
                <a:ea typeface="Courier New" pitchFamily="34" charset="-122"/>
                <a:cs typeface="Courier New" pitchFamily="34" charset="-120"/>
              </a:rPr>
              <a:t>Circle { </a:t>
            </a:r>
            <a:pPr indent="0" marL="0">
              <a:buNone/>
            </a:pPr>
            <a:r>
              <a:rPr lang="en-US" sz="1400" i="1" dirty="0">
                <a:solidFill>
                  <a:srgbClr val="8B949E"/>
                </a:solidFill>
                <a:latin typeface="Courier New" pitchFamily="34" charset="0"/>
                <a:ea typeface="Courier New" pitchFamily="34" charset="-122"/>
                <a:cs typeface="Courier New" pitchFamily="34" charset="-120"/>
              </a:rPr>
              <a:t>/* ... */ </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i="1" dirty="0">
                <a:solidFill>
                  <a:srgbClr val="8B949E"/>
                </a:solidFill>
                <a:latin typeface="Courier New" pitchFamily="34" charset="0"/>
                <a:ea typeface="Courier New" pitchFamily="34" charset="-122"/>
                <a:cs typeface="Courier New" pitchFamily="34" charset="-120"/>
              </a:rPr>
              <a:t>// app.js</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import </a:t>
            </a:r>
            <a:pPr indent="0" marL="0">
              <a:buNone/>
            </a:pPr>
            <a:r>
              <a:rPr lang="en-US" sz="1400" dirty="0">
                <a:solidFill>
                  <a:srgbClr val="E5E7EB"/>
                </a:solidFill>
                <a:latin typeface="Courier New" pitchFamily="34" charset="0"/>
                <a:ea typeface="Courier New" pitchFamily="34" charset="-122"/>
                <a:cs typeface="Courier New" pitchFamily="34" charset="-120"/>
              </a:rPr>
              <a:t>Circle, { area } </a:t>
            </a:r>
            <a:pPr indent="0" marL="0">
              <a:buNone/>
            </a:pPr>
            <a:r>
              <a:rPr lang="en-US" sz="1400" dirty="0">
                <a:solidFill>
                  <a:srgbClr val="C792EA"/>
                </a:solidFill>
                <a:latin typeface="Courier New" pitchFamily="34" charset="0"/>
                <a:ea typeface="Courier New" pitchFamily="34" charset="-122"/>
                <a:cs typeface="Courier New" pitchFamily="34" charset="-120"/>
              </a:rPr>
              <a:t>from </a:t>
            </a:r>
            <a:pPr indent="0" marL="0">
              <a:buNone/>
            </a:pPr>
            <a:r>
              <a:rPr lang="en-US" sz="1400" dirty="0">
                <a:solidFill>
                  <a:srgbClr val="A5D6A7"/>
                </a:solidFill>
                <a:latin typeface="Courier New" pitchFamily="34" charset="0"/>
                <a:ea typeface="Courier New" pitchFamily="34" charset="-122"/>
                <a:cs typeface="Courier New" pitchFamily="34" charset="-120"/>
              </a:rPr>
              <a:t>"./math.js"</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import </a:t>
            </a:r>
            <a:pPr indent="0" marL="0">
              <a:buNone/>
            </a:pPr>
            <a:r>
              <a:rPr lang="en-US" sz="1400" dirty="0">
                <a:solidFill>
                  <a:srgbClr val="E5E7EB"/>
                </a:solidFill>
                <a:latin typeface="Courier New" pitchFamily="34" charset="0"/>
                <a:ea typeface="Courier New" pitchFamily="34" charset="-122"/>
                <a:cs typeface="Courier New" pitchFamily="34" charset="-120"/>
              </a:rPr>
              <a:t>{ format } </a:t>
            </a:r>
            <a:pPr indent="0" marL="0">
              <a:buNone/>
            </a:pPr>
            <a:r>
              <a:rPr lang="en-US" sz="1400" dirty="0">
                <a:solidFill>
                  <a:srgbClr val="C792EA"/>
                </a:solidFill>
                <a:latin typeface="Courier New" pitchFamily="34" charset="0"/>
                <a:ea typeface="Courier New" pitchFamily="34" charset="-122"/>
                <a:cs typeface="Courier New" pitchFamily="34" charset="-120"/>
              </a:rPr>
              <a:t>from </a:t>
            </a:r>
            <a:pPr indent="0" marL="0">
              <a:buNone/>
            </a:pPr>
            <a:r>
              <a:rPr lang="en-US" sz="1400" dirty="0">
                <a:solidFill>
                  <a:srgbClr val="A5D6A7"/>
                </a:solidFill>
                <a:latin typeface="Courier New" pitchFamily="34" charset="0"/>
                <a:ea typeface="Courier New" pitchFamily="34" charset="-122"/>
                <a:cs typeface="Courier New" pitchFamily="34" charset="-120"/>
              </a:rPr>
              <a:t>"date-fns"</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from npm</a:t>
            </a:r>
            <a:endParaRPr lang="en-US" sz="1400" dirty="0"/>
          </a:p>
        </p:txBody>
      </p:sp>
      <p:sp>
        <p:nvSpPr>
          <p:cNvPr id="6" name="code-panel-227"/>
          <p:cNvSpPr/>
          <p:nvPr/>
        </p:nvSpPr>
        <p:spPr>
          <a:xfrm>
            <a:off x="548640" y="4663440"/>
            <a:ext cx="6675120" cy="1508760"/>
          </a:xfrm>
          <a:prstGeom prst="roundRect">
            <a:avLst>
              <a:gd name="adj" fmla="val 4848"/>
            </a:avLst>
          </a:prstGeom>
          <a:solidFill>
            <a:schemeClr val="tx2"/>
          </a:solidFill>
          <a:ln w="12700">
            <a:solidFill>
              <a:schemeClr val="tx2"/>
            </a:solidFill>
            <a:prstDash val="solid"/>
          </a:ln>
        </p:spPr>
      </p:sp>
      <p:sp>
        <p:nvSpPr>
          <p:cNvPr id="7" name="code-label-228"/>
          <p:cNvSpPr txBox="1"/>
          <p:nvPr/>
        </p:nvSpPr>
        <p:spPr>
          <a:xfrm>
            <a:off x="777240" y="4791456"/>
            <a:ext cx="6217920"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you will still see this</a:t>
            </a:r>
            <a:endParaRPr lang="en-US" sz="1100" dirty="0"/>
          </a:p>
        </p:txBody>
      </p:sp>
      <p:sp>
        <p:nvSpPr>
          <p:cNvPr id="8" name="code-229"/>
          <p:cNvSpPr txBox="1"/>
          <p:nvPr/>
        </p:nvSpPr>
        <p:spPr>
          <a:xfrm>
            <a:off x="777240" y="5120640"/>
            <a:ext cx="6217920" cy="941832"/>
          </a:xfrm>
          <a:prstGeom prst="rect">
            <a:avLst/>
          </a:prstGeom>
          <a:noFill/>
          <a:ln/>
        </p:spPr>
        <p:txBody>
          <a:bodyPr wrap="square" lIns="0" tIns="0" rIns="0" bIns="0" rtlCol="0" anchor="t"/>
          <a:lstStyle/>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fs = require(</a:t>
            </a:r>
            <a:pPr indent="0" marL="0">
              <a:buNone/>
            </a:pPr>
            <a:r>
              <a:rPr lang="en-US" sz="1400" dirty="0">
                <a:solidFill>
                  <a:srgbClr val="A5D6A7"/>
                </a:solidFill>
                <a:latin typeface="Courier New" pitchFamily="34" charset="0"/>
                <a:ea typeface="Courier New" pitchFamily="34" charset="-122"/>
                <a:cs typeface="Courier New" pitchFamily="34" charset="-120"/>
              </a:rPr>
              <a:t>"fs"</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CommonJS: older Node</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module.exports = { area };</a:t>
            </a:r>
            <a:endParaRPr lang="en-US" sz="1400" dirty="0"/>
          </a:p>
        </p:txBody>
      </p:sp>
      <p:sp>
        <p:nvSpPr>
          <p:cNvPr id="9" name="code-panel-230"/>
          <p:cNvSpPr/>
          <p:nvPr/>
        </p:nvSpPr>
        <p:spPr>
          <a:xfrm>
            <a:off x="7498080" y="1371600"/>
            <a:ext cx="4142232" cy="3108960"/>
          </a:xfrm>
          <a:prstGeom prst="roundRect">
            <a:avLst>
              <a:gd name="adj" fmla="val 2353"/>
            </a:avLst>
          </a:prstGeom>
          <a:solidFill>
            <a:schemeClr val="tx2"/>
          </a:solidFill>
          <a:ln w="12700">
            <a:solidFill>
              <a:schemeClr val="tx2"/>
            </a:solidFill>
            <a:prstDash val="solid"/>
          </a:ln>
        </p:spPr>
      </p:sp>
      <p:sp>
        <p:nvSpPr>
          <p:cNvPr id="10" name="code-label-231"/>
          <p:cNvSpPr txBox="1"/>
          <p:nvPr/>
        </p:nvSpPr>
        <p:spPr>
          <a:xfrm>
            <a:off x="7726680" y="1499616"/>
            <a:ext cx="3685032"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package.json</a:t>
            </a:r>
            <a:endParaRPr lang="en-US" sz="1100" dirty="0"/>
          </a:p>
        </p:txBody>
      </p:sp>
      <p:sp>
        <p:nvSpPr>
          <p:cNvPr id="11" name="code-232"/>
          <p:cNvSpPr txBox="1"/>
          <p:nvPr/>
        </p:nvSpPr>
        <p:spPr>
          <a:xfrm>
            <a:off x="7726680" y="1828800"/>
            <a:ext cx="3685032" cy="2542032"/>
          </a:xfrm>
          <a:prstGeom prst="rect">
            <a:avLst/>
          </a:prstGeom>
          <a:noFill/>
          <a:ln/>
        </p:spPr>
        <p:txBody>
          <a:bodyPr wrap="square" lIns="0" tIns="0" rIns="0" bIns="0" rtlCol="0" anchor="t"/>
          <a:lstStyle/>
          <a:p>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A5D6A7"/>
                </a:solidFill>
                <a:latin typeface="Courier New" pitchFamily="34" charset="0"/>
                <a:ea typeface="Courier New" pitchFamily="34" charset="-122"/>
                <a:cs typeface="Courier New" pitchFamily="34" charset="-120"/>
              </a:rPr>
              <a:t>"name"</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A5D6A7"/>
                </a:solidFill>
                <a:latin typeface="Courier New" pitchFamily="34" charset="0"/>
                <a:ea typeface="Courier New" pitchFamily="34" charset="-122"/>
                <a:cs typeface="Courier New" pitchFamily="34" charset="-120"/>
              </a:rPr>
              <a:t>"lesson1"</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A5D6A7"/>
                </a:solidFill>
                <a:latin typeface="Courier New" pitchFamily="34" charset="0"/>
                <a:ea typeface="Courier New" pitchFamily="34" charset="-122"/>
                <a:cs typeface="Courier New" pitchFamily="34" charset="-120"/>
              </a:rPr>
              <a:t>"type"</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A5D6A7"/>
                </a:solidFill>
                <a:latin typeface="Courier New" pitchFamily="34" charset="0"/>
                <a:ea typeface="Courier New" pitchFamily="34" charset="-122"/>
                <a:cs typeface="Courier New" pitchFamily="34" charset="-120"/>
              </a:rPr>
              <a:t>"module"</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A5D6A7"/>
                </a:solidFill>
                <a:latin typeface="Courier New" pitchFamily="34" charset="0"/>
                <a:ea typeface="Courier New" pitchFamily="34" charset="-122"/>
                <a:cs typeface="Courier New" pitchFamily="34" charset="-120"/>
              </a:rPr>
              <a:t>"scripts"</a:t>
            </a:r>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A5D6A7"/>
                </a:solidFill>
                <a:latin typeface="Courier New" pitchFamily="34" charset="0"/>
                <a:ea typeface="Courier New" pitchFamily="34" charset="-122"/>
                <a:cs typeface="Courier New" pitchFamily="34" charset="-120"/>
              </a:rPr>
              <a:t>"start"</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A5D6A7"/>
                </a:solidFill>
                <a:latin typeface="Courier New" pitchFamily="34" charset="0"/>
                <a:ea typeface="Courier New" pitchFamily="34" charset="-122"/>
                <a:cs typeface="Courier New" pitchFamily="34" charset="-120"/>
              </a:rPr>
              <a:t>"node app.js"</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A5D6A7"/>
                </a:solidFill>
                <a:latin typeface="Courier New" pitchFamily="34" charset="0"/>
                <a:ea typeface="Courier New" pitchFamily="34" charset="-122"/>
                <a:cs typeface="Courier New" pitchFamily="34" charset="-120"/>
              </a:rPr>
              <a:t>"dependencies"</a:t>
            </a:r>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A5D6A7"/>
                </a:solidFill>
                <a:latin typeface="Courier New" pitchFamily="34" charset="0"/>
                <a:ea typeface="Courier New" pitchFamily="34" charset="-122"/>
                <a:cs typeface="Courier New" pitchFamily="34" charset="-120"/>
              </a:rPr>
              <a:t>"date-fns"</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A5D6A7"/>
                </a:solidFill>
                <a:latin typeface="Courier New" pitchFamily="34" charset="0"/>
                <a:ea typeface="Courier New" pitchFamily="34" charset="-122"/>
                <a:cs typeface="Courier New" pitchFamily="34" charset="-120"/>
              </a:rPr>
              <a:t>"^4.1.0"</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p:txBody>
      </p:sp>
      <p:sp>
        <p:nvSpPr>
          <p:cNvPr id="12" name="card-233"/>
          <p:cNvSpPr/>
          <p:nvPr/>
        </p:nvSpPr>
        <p:spPr>
          <a:xfrm>
            <a:off x="7498080" y="4663440"/>
            <a:ext cx="4142232" cy="1508760"/>
          </a:xfrm>
          <a:prstGeom prst="roundRect">
            <a:avLst>
              <a:gd name="adj" fmla="val 4848"/>
            </a:avLst>
          </a:prstGeom>
          <a:solidFill>
            <a:schemeClr val="bg2"/>
          </a:solidFill>
          <a:ln w="12700">
            <a:solidFill>
              <a:schemeClr val="bg2"/>
            </a:solidFill>
            <a:prstDash val="solid"/>
          </a:ln>
        </p:spPr>
      </p:sp>
      <p:sp>
        <p:nvSpPr>
          <p:cNvPr id="13" name="card-text-234"/>
          <p:cNvSpPr txBox="1"/>
          <p:nvPr/>
        </p:nvSpPr>
        <p:spPr>
          <a:xfrm>
            <a:off x="7699248" y="4809744"/>
            <a:ext cx="3739896" cy="1216152"/>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Every package is code you did not write</a:t>
            </a:r>
            <a:endParaRPr lang="en-US" sz="1500" dirty="0"/>
          </a:p>
          <a:p>
            <a:pPr indent="0" marL="0">
              <a:buNone/>
            </a:pPr>
            <a:r>
              <a:rPr lang="en-US" sz="1400" dirty="0">
                <a:solidFill>
                  <a:srgbClr val="374151"/>
                </a:solidFill>
              </a:rPr>
              <a:t>Check who maintains it and whether you need it. Supply-chain risk comes back in the security weeks.</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JavaScript in the browser: the DOM</a:t>
            </a:r>
            <a:endParaRPr lang="en-US" sz="3200" dirty="0"/>
          </a:p>
        </p:txBody>
      </p:sp>
      <p:sp>
        <p:nvSpPr>
          <p:cNvPr id="3" name="code-panel-235"/>
          <p:cNvSpPr/>
          <p:nvPr/>
        </p:nvSpPr>
        <p:spPr>
          <a:xfrm>
            <a:off x="548640" y="1371600"/>
            <a:ext cx="6675120" cy="4800600"/>
          </a:xfrm>
          <a:prstGeom prst="roundRect">
            <a:avLst>
              <a:gd name="adj" fmla="val 1524"/>
            </a:avLst>
          </a:prstGeom>
          <a:solidFill>
            <a:schemeClr val="tx2"/>
          </a:solidFill>
          <a:ln w="12700">
            <a:solidFill>
              <a:schemeClr val="tx2"/>
            </a:solidFill>
            <a:prstDash val="solid"/>
          </a:ln>
        </p:spPr>
      </p:sp>
      <p:sp>
        <p:nvSpPr>
          <p:cNvPr id="4" name="code-label-236"/>
          <p:cNvSpPr txBox="1"/>
          <p:nvPr/>
        </p:nvSpPr>
        <p:spPr>
          <a:xfrm>
            <a:off x="777240" y="1499616"/>
            <a:ext cx="6217920"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dom.js</a:t>
            </a:r>
            <a:endParaRPr lang="en-US" sz="1100" dirty="0"/>
          </a:p>
        </p:txBody>
      </p:sp>
      <p:sp>
        <p:nvSpPr>
          <p:cNvPr id="5" name="code-237"/>
          <p:cNvSpPr txBox="1"/>
          <p:nvPr/>
        </p:nvSpPr>
        <p:spPr>
          <a:xfrm>
            <a:off x="777240" y="1828800"/>
            <a:ext cx="6217920" cy="4233672"/>
          </a:xfrm>
          <a:prstGeom prst="rect">
            <a:avLst/>
          </a:prstGeom>
          <a:noFill/>
          <a:ln/>
        </p:spPr>
        <p:txBody>
          <a:bodyPr wrap="square" lIns="0" tIns="0" rIns="0" bIns="0" rtlCol="0" anchor="t"/>
          <a:lstStyle/>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btn = </a:t>
            </a:r>
            <a:pPr indent="0" marL="0">
              <a:buNone/>
            </a:pPr>
            <a:r>
              <a:rPr lang="en-US" sz="1400" dirty="0">
                <a:solidFill>
                  <a:srgbClr val="79B8FF"/>
                </a:solidFill>
                <a:latin typeface="Courier New" pitchFamily="34" charset="0"/>
                <a:ea typeface="Courier New" pitchFamily="34" charset="-122"/>
                <a:cs typeface="Courier New" pitchFamily="34" charset="-120"/>
              </a:rPr>
              <a:t>document</a:t>
            </a:r>
            <a:pPr indent="0" marL="0">
              <a:buNone/>
            </a:pPr>
            <a:r>
              <a:rPr lang="en-US" sz="1400" dirty="0">
                <a:solidFill>
                  <a:srgbClr val="E5E7EB"/>
                </a:solidFill>
                <a:latin typeface="Courier New" pitchFamily="34" charset="0"/>
                <a:ea typeface="Courier New" pitchFamily="34" charset="-122"/>
                <a:cs typeface="Courier New" pitchFamily="34" charset="-120"/>
              </a:rPr>
              <a:t>.querySelector(</a:t>
            </a:r>
            <a:pPr indent="0" marL="0">
              <a:buNone/>
            </a:pPr>
            <a:r>
              <a:rPr lang="en-US" sz="1400" dirty="0">
                <a:solidFill>
                  <a:srgbClr val="A5D6A7"/>
                </a:solidFill>
                <a:latin typeface="Courier New" pitchFamily="34" charset="0"/>
                <a:ea typeface="Courier New" pitchFamily="34" charset="-122"/>
                <a:cs typeface="Courier New" pitchFamily="34" charset="-120"/>
              </a:rPr>
              <a:t>"#like"</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let </a:t>
            </a:r>
            <a:pPr indent="0" marL="0">
              <a:buNone/>
            </a:pPr>
            <a:r>
              <a:rPr lang="en-US" sz="1400" dirty="0">
                <a:solidFill>
                  <a:srgbClr val="E5E7EB"/>
                </a:solidFill>
                <a:latin typeface="Courier New" pitchFamily="34" charset="0"/>
                <a:ea typeface="Courier New" pitchFamily="34" charset="-122"/>
                <a:cs typeface="Courier New" pitchFamily="34" charset="-120"/>
              </a:rPr>
              <a:t>likes = </a:t>
            </a:r>
            <a:pPr indent="0" marL="0">
              <a:buNone/>
            </a:pPr>
            <a:r>
              <a:rPr lang="en-US" sz="1400" dirty="0">
                <a:solidFill>
                  <a:srgbClr val="F7B267"/>
                </a:solidFill>
                <a:latin typeface="Courier New" pitchFamily="34" charset="0"/>
                <a:ea typeface="Courier New" pitchFamily="34" charset="-122"/>
                <a:cs typeface="Courier New" pitchFamily="34" charset="-120"/>
              </a:rPr>
              <a:t>0</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btn.addEventListener(</a:t>
            </a:r>
            <a:pPr indent="0" marL="0">
              <a:buNone/>
            </a:pPr>
            <a:r>
              <a:rPr lang="en-US" sz="1400" dirty="0">
                <a:solidFill>
                  <a:srgbClr val="A5D6A7"/>
                </a:solidFill>
                <a:latin typeface="Courier New" pitchFamily="34" charset="0"/>
                <a:ea typeface="Courier New" pitchFamily="34" charset="-122"/>
                <a:cs typeface="Courier New" pitchFamily="34" charset="-120"/>
              </a:rPr>
              <a:t>"click"</a:t>
            </a:r>
            <a:pPr indent="0" marL="0">
              <a:buNone/>
            </a:pPr>
            <a:r>
              <a:rPr lang="en-US" sz="1400" dirty="0">
                <a:solidFill>
                  <a:srgbClr val="E5E7EB"/>
                </a:solidFill>
                <a:latin typeface="Courier New" pitchFamily="34" charset="0"/>
                <a:ea typeface="Courier New" pitchFamily="34" charset="-122"/>
                <a:cs typeface="Courier New" pitchFamily="34" charset="-120"/>
              </a:rPr>
              <a:t>, () =&gt;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likes++;</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btn.textContent = </a:t>
            </a:r>
            <a:pPr indent="0" marL="0">
              <a:buNone/>
            </a:pPr>
            <a:r>
              <a:rPr lang="en-US" sz="1400" dirty="0">
                <a:solidFill>
                  <a:srgbClr val="A5D6A7"/>
                </a:solidFill>
                <a:latin typeface="Courier New" pitchFamily="34" charset="0"/>
                <a:ea typeface="Courier New" pitchFamily="34" charset="-122"/>
                <a:cs typeface="Courier New" pitchFamily="34" charset="-120"/>
              </a:rPr>
              <a:t>`Like (${likes})`</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list = </a:t>
            </a:r>
            <a:pPr indent="0" marL="0">
              <a:buNone/>
            </a:pPr>
            <a:r>
              <a:rPr lang="en-US" sz="1400" dirty="0">
                <a:solidFill>
                  <a:srgbClr val="79B8FF"/>
                </a:solidFill>
                <a:latin typeface="Courier New" pitchFamily="34" charset="0"/>
                <a:ea typeface="Courier New" pitchFamily="34" charset="-122"/>
                <a:cs typeface="Courier New" pitchFamily="34" charset="-120"/>
              </a:rPr>
              <a:t>document</a:t>
            </a:r>
            <a:pPr indent="0" marL="0">
              <a:buNone/>
            </a:pPr>
            <a:r>
              <a:rPr lang="en-US" sz="1400" dirty="0">
                <a:solidFill>
                  <a:srgbClr val="E5E7EB"/>
                </a:solidFill>
                <a:latin typeface="Courier New" pitchFamily="34" charset="0"/>
                <a:ea typeface="Courier New" pitchFamily="34" charset="-122"/>
                <a:cs typeface="Courier New" pitchFamily="34" charset="-120"/>
              </a:rPr>
              <a:t>.querySelector(</a:t>
            </a:r>
            <a:pPr indent="0" marL="0">
              <a:buNone/>
            </a:pPr>
            <a:r>
              <a:rPr lang="en-US" sz="1400" dirty="0">
                <a:solidFill>
                  <a:srgbClr val="A5D6A7"/>
                </a:solidFill>
                <a:latin typeface="Courier New" pitchFamily="34" charset="0"/>
                <a:ea typeface="Courier New" pitchFamily="34" charset="-122"/>
                <a:cs typeface="Courier New" pitchFamily="34" charset="-120"/>
              </a:rPr>
              <a:t>"#list"</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for </a:t>
            </a:r>
            <a:pPr indent="0" marL="0">
              <a:buNone/>
            </a:pPr>
            <a:r>
              <a:rPr lang="en-US" sz="1400" dirty="0">
                <a:solidFill>
                  <a:srgbClr val="E5E7EB"/>
                </a:solidFill>
                <a:latin typeface="Courier New" pitchFamily="34" charset="0"/>
                <a:ea typeface="Courier New" pitchFamily="34" charset="-122"/>
                <a:cs typeface="Courier New" pitchFamily="34" charset="-120"/>
              </a:rPr>
              <a:t>(</a:t>
            </a:r>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p </a:t>
            </a:r>
            <a:pPr indent="0" marL="0">
              <a:buNone/>
            </a:pPr>
            <a:r>
              <a:rPr lang="en-US" sz="1400" dirty="0">
                <a:solidFill>
                  <a:srgbClr val="C792EA"/>
                </a:solidFill>
                <a:latin typeface="Courier New" pitchFamily="34" charset="0"/>
                <a:ea typeface="Courier New" pitchFamily="34" charset="-122"/>
                <a:cs typeface="Courier New" pitchFamily="34" charset="-120"/>
              </a:rPr>
              <a:t>of </a:t>
            </a:r>
            <a:pPr indent="0" marL="0">
              <a:buNone/>
            </a:pPr>
            <a:r>
              <a:rPr lang="en-US" sz="1400" dirty="0">
                <a:solidFill>
                  <a:srgbClr val="E5E7EB"/>
                </a:solidFill>
                <a:latin typeface="Courier New" pitchFamily="34" charset="0"/>
                <a:ea typeface="Courier New" pitchFamily="34" charset="-122"/>
                <a:cs typeface="Courier New" pitchFamily="34" charset="-120"/>
              </a:rPr>
              <a:t>posts)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li = </a:t>
            </a:r>
            <a:pPr indent="0" marL="0">
              <a:buNone/>
            </a:pPr>
            <a:r>
              <a:rPr lang="en-US" sz="1400" dirty="0">
                <a:solidFill>
                  <a:srgbClr val="79B8FF"/>
                </a:solidFill>
                <a:latin typeface="Courier New" pitchFamily="34" charset="0"/>
                <a:ea typeface="Courier New" pitchFamily="34" charset="-122"/>
                <a:cs typeface="Courier New" pitchFamily="34" charset="-120"/>
              </a:rPr>
              <a:t>document</a:t>
            </a:r>
            <a:pPr indent="0" marL="0">
              <a:buNone/>
            </a:pPr>
            <a:r>
              <a:rPr lang="en-US" sz="1400" dirty="0">
                <a:solidFill>
                  <a:srgbClr val="E5E7EB"/>
                </a:solidFill>
                <a:latin typeface="Courier New" pitchFamily="34" charset="0"/>
                <a:ea typeface="Courier New" pitchFamily="34" charset="-122"/>
                <a:cs typeface="Courier New" pitchFamily="34" charset="-120"/>
              </a:rPr>
              <a:t>.createElement(</a:t>
            </a:r>
            <a:pPr indent="0" marL="0">
              <a:buNone/>
            </a:pPr>
            <a:r>
              <a:rPr lang="en-US" sz="1400" dirty="0">
                <a:solidFill>
                  <a:srgbClr val="A5D6A7"/>
                </a:solidFill>
                <a:latin typeface="Courier New" pitchFamily="34" charset="0"/>
                <a:ea typeface="Courier New" pitchFamily="34" charset="-122"/>
                <a:cs typeface="Courier New" pitchFamily="34" charset="-120"/>
              </a:rPr>
              <a:t>"li"</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li.textContent = p.title;   </a:t>
            </a:r>
            <a:pPr indent="0" marL="0">
              <a:buNone/>
            </a:pPr>
            <a:r>
              <a:rPr lang="en-US" sz="1400" i="1" dirty="0">
                <a:solidFill>
                  <a:srgbClr val="8B949E"/>
                </a:solidFill>
                <a:latin typeface="Courier New" pitchFamily="34" charset="0"/>
                <a:ea typeface="Courier New" pitchFamily="34" charset="-122"/>
                <a:cs typeface="Courier New" pitchFamily="34" charset="-120"/>
              </a:rPr>
              <a:t>// safe</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list.append(li);</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i="1" dirty="0">
                <a:solidFill>
                  <a:srgbClr val="8B949E"/>
                </a:solidFill>
                <a:latin typeface="Courier New" pitchFamily="34" charset="0"/>
                <a:ea typeface="Courier New" pitchFamily="34" charset="-122"/>
                <a:cs typeface="Courier New" pitchFamily="34" charset="-120"/>
              </a:rPr>
              <a:t>// li.innerHTML = p.title;     // XSS risk!</a:t>
            </a:r>
            <a:endParaRPr lang="en-US" sz="1400" dirty="0"/>
          </a:p>
        </p:txBody>
      </p:sp>
      <p:sp>
        <p:nvSpPr>
          <p:cNvPr id="6" name="code-panel-238"/>
          <p:cNvSpPr/>
          <p:nvPr/>
        </p:nvSpPr>
        <p:spPr>
          <a:xfrm>
            <a:off x="7498080" y="1371600"/>
            <a:ext cx="4142232" cy="1417320"/>
          </a:xfrm>
          <a:prstGeom prst="roundRect">
            <a:avLst>
              <a:gd name="adj" fmla="val 5161"/>
            </a:avLst>
          </a:prstGeom>
          <a:solidFill>
            <a:schemeClr val="tx2"/>
          </a:solidFill>
          <a:ln w="12700">
            <a:solidFill>
              <a:schemeClr val="tx2"/>
            </a:solidFill>
            <a:prstDash val="solid"/>
          </a:ln>
        </p:spPr>
      </p:sp>
      <p:sp>
        <p:nvSpPr>
          <p:cNvPr id="7" name="code-label-239"/>
          <p:cNvSpPr txBox="1"/>
          <p:nvPr/>
        </p:nvSpPr>
        <p:spPr>
          <a:xfrm>
            <a:off x="7726680" y="1499616"/>
            <a:ext cx="3685032"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index.html</a:t>
            </a:r>
            <a:endParaRPr lang="en-US" sz="1100" dirty="0"/>
          </a:p>
        </p:txBody>
      </p:sp>
      <p:sp>
        <p:nvSpPr>
          <p:cNvPr id="8" name="code-240"/>
          <p:cNvSpPr txBox="1"/>
          <p:nvPr/>
        </p:nvSpPr>
        <p:spPr>
          <a:xfrm>
            <a:off x="7726680" y="1828800"/>
            <a:ext cx="3685032" cy="850392"/>
          </a:xfrm>
          <a:prstGeom prst="rect">
            <a:avLst/>
          </a:prstGeom>
          <a:noFill/>
          <a:ln/>
        </p:spPr>
        <p:txBody>
          <a:bodyPr wrap="square" lIns="0" tIns="0" rIns="0" bIns="0" rtlCol="0" anchor="t"/>
          <a:lstStyle/>
          <a:p>
            <a:pPr indent="0" marL="0">
              <a:buNone/>
            </a:pPr>
            <a:r>
              <a:rPr lang="en-US" sz="1300" dirty="0">
                <a:solidFill>
                  <a:srgbClr val="E5E7EB"/>
                </a:solidFill>
                <a:latin typeface="Courier New" pitchFamily="34" charset="0"/>
                <a:ea typeface="Courier New" pitchFamily="34" charset="-122"/>
                <a:cs typeface="Courier New" pitchFamily="34" charset="-120"/>
              </a:rPr>
              <a:t>&lt;button id=</a:t>
            </a:r>
            <a:pPr indent="0" marL="0">
              <a:buNone/>
            </a:pPr>
            <a:r>
              <a:rPr lang="en-US" sz="1300" dirty="0">
                <a:solidFill>
                  <a:srgbClr val="A5D6A7"/>
                </a:solidFill>
                <a:latin typeface="Courier New" pitchFamily="34" charset="0"/>
                <a:ea typeface="Courier New" pitchFamily="34" charset="-122"/>
                <a:cs typeface="Courier New" pitchFamily="34" charset="-120"/>
              </a:rPr>
              <a:t>"like"</a:t>
            </a:r>
            <a:pPr indent="0" marL="0">
              <a:buNone/>
            </a:pPr>
            <a:r>
              <a:rPr lang="en-US" sz="1300" dirty="0">
                <a:solidFill>
                  <a:srgbClr val="E5E7EB"/>
                </a:solidFill>
                <a:latin typeface="Courier New" pitchFamily="34" charset="0"/>
                <a:ea typeface="Courier New" pitchFamily="34" charset="-122"/>
                <a:cs typeface="Courier New" pitchFamily="34" charset="-120"/>
              </a:rPr>
              <a:t>&gt;Like (</a:t>
            </a:r>
            <a:pPr indent="0" marL="0">
              <a:buNone/>
            </a:pPr>
            <a:r>
              <a:rPr lang="en-US" sz="1300" dirty="0">
                <a:solidFill>
                  <a:srgbClr val="F7B267"/>
                </a:solidFill>
                <a:latin typeface="Courier New" pitchFamily="34" charset="0"/>
                <a:ea typeface="Courier New" pitchFamily="34" charset="-122"/>
                <a:cs typeface="Courier New" pitchFamily="34" charset="-120"/>
              </a:rPr>
              <a:t>0</a:t>
            </a:r>
            <a:pPr indent="0" marL="0">
              <a:buNone/>
            </a:pPr>
            <a:r>
              <a:rPr lang="en-US" sz="1300" dirty="0">
                <a:solidFill>
                  <a:srgbClr val="E5E7EB"/>
                </a:solidFill>
                <a:latin typeface="Courier New" pitchFamily="34" charset="0"/>
                <a:ea typeface="Courier New" pitchFamily="34" charset="-122"/>
                <a:cs typeface="Courier New" pitchFamily="34" charset="-120"/>
              </a:rPr>
              <a:t>)&lt;/button&gt;</a:t>
            </a:r>
            <a:endParaRPr lang="en-US" sz="1300" dirty="0"/>
          </a:p>
          <a:p>
            <a:pPr indent="0" marL="0">
              <a:buNone/>
            </a:pPr>
            <a:r>
              <a:rPr lang="en-US" sz="1300" dirty="0">
                <a:solidFill>
                  <a:srgbClr val="E5E7EB"/>
                </a:solidFill>
                <a:latin typeface="Courier New" pitchFamily="34" charset="0"/>
                <a:ea typeface="Courier New" pitchFamily="34" charset="-122"/>
                <a:cs typeface="Courier New" pitchFamily="34" charset="-120"/>
              </a:rPr>
              <a:t>&lt;ul id=</a:t>
            </a:r>
            <a:pPr indent="0" marL="0">
              <a:buNone/>
            </a:pPr>
            <a:r>
              <a:rPr lang="en-US" sz="1300" dirty="0">
                <a:solidFill>
                  <a:srgbClr val="A5D6A7"/>
                </a:solidFill>
                <a:latin typeface="Courier New" pitchFamily="34" charset="0"/>
                <a:ea typeface="Courier New" pitchFamily="34" charset="-122"/>
                <a:cs typeface="Courier New" pitchFamily="34" charset="-120"/>
              </a:rPr>
              <a:t>"list"</a:t>
            </a:r>
            <a:pPr indent="0" marL="0">
              <a:buNone/>
            </a:pPr>
            <a:r>
              <a:rPr lang="en-US" sz="1300" dirty="0">
                <a:solidFill>
                  <a:srgbClr val="E5E7EB"/>
                </a:solidFill>
                <a:latin typeface="Courier New" pitchFamily="34" charset="0"/>
                <a:ea typeface="Courier New" pitchFamily="34" charset="-122"/>
                <a:cs typeface="Courier New" pitchFamily="34" charset="-120"/>
              </a:rPr>
              <a:t>&gt;&lt;/ul&gt;</a:t>
            </a:r>
            <a:endParaRPr lang="en-US" sz="1300" dirty="0"/>
          </a:p>
        </p:txBody>
      </p:sp>
      <p:sp>
        <p:nvSpPr>
          <p:cNvPr id="9" name="card-241"/>
          <p:cNvSpPr/>
          <p:nvPr/>
        </p:nvSpPr>
        <p:spPr>
          <a:xfrm>
            <a:off x="7498080" y="2971800"/>
            <a:ext cx="4142232" cy="1463040"/>
          </a:xfrm>
          <a:prstGeom prst="roundRect">
            <a:avLst>
              <a:gd name="adj" fmla="val 5000"/>
            </a:avLst>
          </a:prstGeom>
          <a:solidFill>
            <a:schemeClr val="bg2"/>
          </a:solidFill>
          <a:ln w="12700">
            <a:solidFill>
              <a:schemeClr val="bg2"/>
            </a:solidFill>
            <a:prstDash val="solid"/>
          </a:ln>
        </p:spPr>
      </p:sp>
      <p:sp>
        <p:nvSpPr>
          <p:cNvPr id="10" name="card-text-242"/>
          <p:cNvSpPr txBox="1"/>
          <p:nvPr/>
        </p:nvSpPr>
        <p:spPr>
          <a:xfrm>
            <a:off x="7699248" y="3118104"/>
            <a:ext cx="3739896" cy="1170432"/>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textContent vs innerHTML</a:t>
            </a:r>
            <a:endParaRPr lang="en-US" sz="1700" dirty="0"/>
          </a:p>
          <a:p>
            <a:pPr indent="0" marL="0">
              <a:buNone/>
            </a:pPr>
            <a:r>
              <a:rPr lang="en-US" sz="1500" dirty="0">
                <a:solidFill>
                  <a:srgbClr val="374151"/>
                </a:solidFill>
              </a:rPr>
              <a:t>innerHTML parses its input as HTML, so user data can inject scripts (XSS).</a:t>
            </a:r>
            <a:endParaRPr lang="en-US" sz="1700" dirty="0"/>
          </a:p>
        </p:txBody>
      </p:sp>
      <p:sp>
        <p:nvSpPr>
          <p:cNvPr id="11" name="card-243"/>
          <p:cNvSpPr/>
          <p:nvPr/>
        </p:nvSpPr>
        <p:spPr>
          <a:xfrm>
            <a:off x="7498080" y="4617720"/>
            <a:ext cx="4142232" cy="1554480"/>
          </a:xfrm>
          <a:prstGeom prst="roundRect">
            <a:avLst>
              <a:gd name="adj" fmla="val 4706"/>
            </a:avLst>
          </a:prstGeom>
          <a:solidFill>
            <a:schemeClr val="accent1"/>
          </a:solidFill>
          <a:ln w="12700">
            <a:solidFill>
              <a:schemeClr val="accent1"/>
            </a:solidFill>
            <a:prstDash val="solid"/>
          </a:ln>
        </p:spPr>
      </p:sp>
      <p:sp>
        <p:nvSpPr>
          <p:cNvPr id="12" name="card-text-244"/>
          <p:cNvSpPr txBox="1"/>
          <p:nvPr/>
        </p:nvSpPr>
        <p:spPr>
          <a:xfrm>
            <a:off x="7699248" y="4764024"/>
            <a:ext cx="3739896" cy="1261872"/>
          </a:xfrm>
          <a:prstGeom prst="rect">
            <a:avLst/>
          </a:prstGeom>
          <a:noFill/>
          <a:ln/>
        </p:spPr>
        <p:txBody>
          <a:bodyPr wrap="square" lIns="0" tIns="0" rIns="0" bIns="0" rtlCol="0" anchor="t"/>
          <a:lstStyle/>
          <a:p>
            <a:pPr indent="0" marL="0">
              <a:spcAft>
                <a:spcPts val="400"/>
              </a:spcAft>
              <a:buNone/>
            </a:pPr>
            <a:r>
              <a:rPr lang="en-US" sz="1700" b="1" dirty="0">
                <a:solidFill>
                  <a:srgbClr val="1B1B1F"/>
                </a:solidFill>
              </a:rPr>
              <a:t>Why frameworks exist</a:t>
            </a:r>
            <a:endParaRPr lang="en-US" sz="1700" dirty="0"/>
          </a:p>
          <a:p>
            <a:pPr indent="0" marL="0">
              <a:buNone/>
            </a:pPr>
            <a:r>
              <a:rPr lang="en-US" sz="1500" dirty="0">
                <a:solidFill>
                  <a:srgbClr val="1B1B1F"/>
                </a:solidFill>
              </a:rPr>
              <a:t>Keeping the DOM in sync with state by hand gets hard fast. React and Vue do it for you: state → UI.</a:t>
            </a:r>
            <a:endParaRPr lang="en-US" sz="17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731520" y="1920240"/>
            <a:ext cx="7132320" cy="457200"/>
          </a:xfrm>
          <a:prstGeom prst="rect">
            <a:avLst/>
          </a:prstGeom>
          <a:noFill/>
          <a:ln/>
        </p:spPr>
        <p:txBody>
          <a:bodyPr wrap="square" lIns="0" tIns="0" rIns="0" bIns="0" rtlCol="0"/>
          <a:lstStyle/>
          <a:p>
            <a:pPr indent="0" marL="0">
              <a:buNone/>
            </a:pPr>
            <a:r>
              <a:rPr lang="en-US" sz="1800" b="1" spc="300" kern="0" dirty="0">
                <a:solidFill>
                  <a:schemeClr val="accent1"/>
                </a:solidFill>
              </a:rPr>
              <a:t>PART 4</a:t>
            </a:r>
            <a:endParaRPr lang="en-US" sz="1800" dirty="0"/>
          </a:p>
        </p:txBody>
      </p:sp>
      <p:sp>
        <p:nvSpPr>
          <p:cNvPr id="3" name="Text 0"/>
          <p:cNvSpPr/>
          <p:nvPr>
            <p:ph idx="101" type="title" hasCustomPrompt="1"/>
          </p:nvPr>
        </p:nvSpPr>
        <p:spPr>
          <a:xfrm>
            <a:off x="731520" y="2468880"/>
            <a:ext cx="7132320" cy="1280160"/>
          </a:xfrm>
          <a:prstGeom prst="rect">
            <a:avLst/>
          </a:prstGeom>
          <a:noFill/>
          <a:ln/>
        </p:spPr>
        <p:txBody>
          <a:bodyPr wrap="square" lIns="0" tIns="0" rIns="0" bIns="0" rtlCol="0" anchor="t"/>
          <a:lstStyle/>
          <a:p>
            <a:pPr algn="l" indent="0" marL="0">
              <a:buNone/>
            </a:pPr>
            <a:r>
              <a:rPr lang="en-US" sz="4400" b="1" dirty="0">
                <a:solidFill>
                  <a:schemeClr val="bg1"/>
                </a:solidFill>
              </a:rPr>
              <a:t>Reading JavaScript like a reviewer</a:t>
            </a:r>
            <a:endParaRPr lang="en-US" sz="4400" dirty="0"/>
          </a:p>
        </p:txBody>
      </p:sp>
      <p:sp>
        <p:nvSpPr>
          <p:cNvPr id="4" name="Text 0"/>
          <p:cNvSpPr/>
          <p:nvPr>
            <p:ph idx="102" type="body" hasCustomPrompt="1"/>
          </p:nvPr>
        </p:nvSpPr>
        <p:spPr>
          <a:xfrm>
            <a:off x="731520" y="3840480"/>
            <a:ext cx="7132320" cy="1097280"/>
          </a:xfrm>
          <a:prstGeom prst="rect">
            <a:avLst/>
          </a:prstGeom>
          <a:noFill/>
          <a:ln/>
        </p:spPr>
        <p:txBody>
          <a:bodyPr wrap="square" lIns="0" tIns="0" rIns="0" bIns="0" rtlCol="0" anchor="t"/>
          <a:lstStyle/>
          <a:p>
            <a:pPr indent="0" marL="0">
              <a:buNone/>
            </a:pPr>
            <a:r>
              <a:rPr lang="en-US" sz="1800" dirty="0">
                <a:solidFill>
                  <a:srgbClr val="D1D5DB"/>
                </a:solidFill>
              </a:rPr>
              <a:t>Bugs that AI tools (and people) write often, and how to catch them</a:t>
            </a:r>
            <a:endParaRPr lang="en-US" sz="1800" dirty="0"/>
          </a:p>
        </p:txBody>
      </p:sp>
      <p:sp>
        <p:nvSpPr>
          <p:cNvPr id="5" name="section-mark-245"/>
          <p:cNvSpPr txBox="1"/>
          <p:nvPr/>
        </p:nvSpPr>
        <p:spPr>
          <a:xfrm>
            <a:off x="8503920" y="1737360"/>
            <a:ext cx="3017520" cy="3017520"/>
          </a:xfrm>
          <a:prstGeom prst="roundRect">
            <a:avLst>
              <a:gd name="adj" fmla="val 4545"/>
            </a:avLst>
          </a:prstGeom>
          <a:solidFill>
            <a:schemeClr val="accent1"/>
          </a:solidFill>
          <a:ln>
            <a:solidFill>
              <a:schemeClr val="accent1"/>
            </a:solidFill>
          </a:ln>
        </p:spPr>
        <p:txBody>
          <a:bodyPr wrap="square" lIns="177800" tIns="177800" rIns="177800" bIns="177800" rtlCol="0" anchor="b"/>
          <a:lstStyle/>
          <a:p>
            <a:pPr algn="r" indent="0" marL="0">
              <a:buNone/>
            </a:pPr>
            <a:r>
              <a:rPr lang="en-US" sz="11000" b="1" dirty="0">
                <a:solidFill>
                  <a:srgbClr val="1B1B1F"/>
                </a:solidFill>
                <a:latin typeface="Arial" pitchFamily="34" charset="0"/>
                <a:ea typeface="Arial" pitchFamily="34" charset="-122"/>
                <a:cs typeface="Arial" pitchFamily="34" charset="-120"/>
              </a:rPr>
              <a:t>04</a:t>
            </a:r>
            <a:endParaRPr lang="en-US" sz="1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Eight bugs to look for in every review</a:t>
            </a:r>
            <a:endParaRPr lang="en-US" sz="3200" dirty="0"/>
          </a:p>
        </p:txBody>
      </p:sp>
      <p:sp>
        <p:nvSpPr>
          <p:cNvPr id="3" name="bug-card-246"/>
          <p:cNvSpPr/>
          <p:nvPr/>
        </p:nvSpPr>
        <p:spPr>
          <a:xfrm>
            <a:off x="548640" y="1325880"/>
            <a:ext cx="5449824" cy="1097280"/>
          </a:xfrm>
          <a:prstGeom prst="roundRect">
            <a:avLst>
              <a:gd name="adj" fmla="val 6667"/>
            </a:avLst>
          </a:prstGeom>
          <a:solidFill>
            <a:schemeClr val="bg2"/>
          </a:solidFill>
          <a:ln w="12700">
            <a:solidFill>
              <a:schemeClr val="bg2"/>
            </a:solidFill>
            <a:prstDash val="solid"/>
          </a:ln>
        </p:spPr>
      </p:sp>
      <p:sp>
        <p:nvSpPr>
          <p:cNvPr id="4" name="dot-247"/>
          <p:cNvSpPr txBox="1"/>
          <p:nvPr/>
        </p:nvSpPr>
        <p:spPr>
          <a:xfrm>
            <a:off x="713232" y="1463040"/>
            <a:ext cx="384048" cy="384048"/>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5" name="bug-text-248"/>
          <p:cNvSpPr txBox="1"/>
          <p:nvPr/>
        </p:nvSpPr>
        <p:spPr>
          <a:xfrm>
            <a:off x="1261872" y="1417320"/>
            <a:ext cx="4581144" cy="914400"/>
          </a:xfrm>
          <a:prstGeom prst="rect">
            <a:avLst/>
          </a:prstGeom>
          <a:noFill/>
          <a:ln/>
        </p:spPr>
        <p:txBody>
          <a:bodyPr wrap="square" lIns="0" tIns="0" rIns="0" bIns="0" rtlCol="0" anchor="ctr"/>
          <a:lstStyle/>
          <a:p>
            <a:pPr indent="0" marL="0">
              <a:spcAft>
                <a:spcPts val="200"/>
              </a:spcAft>
              <a:buNone/>
            </a:pPr>
            <a:r>
              <a:rPr lang="en-US" sz="1500" b="1" dirty="0">
                <a:solidFill>
                  <a:schemeClr val="tx1"/>
                </a:solidFill>
              </a:rPr>
              <a:t>Missing await</a:t>
            </a:r>
            <a:endParaRPr lang="en-US" sz="1500" dirty="0"/>
          </a:p>
          <a:p>
            <a:pPr indent="0" marL="0">
              <a:spcAft>
                <a:spcPts val="200"/>
              </a:spcAft>
              <a:buNone/>
            </a:pPr>
            <a:r>
              <a:rPr lang="en-US" sz="1300" dirty="0">
                <a:solidFill>
                  <a:schemeClr val="accent3"/>
                </a:solidFill>
                <a:latin typeface="Courier New" pitchFamily="34" charset="0"/>
                <a:ea typeface="Courier New" pitchFamily="34" charset="-122"/>
                <a:cs typeface="Courier New" pitchFamily="34" charset="-120"/>
              </a:rPr>
              <a:t>const user = getUser(id);</a:t>
            </a:r>
            <a:endParaRPr lang="en-US" sz="1500" dirty="0"/>
          </a:p>
          <a:p>
            <a:pPr indent="0" marL="0">
              <a:spcAft>
                <a:spcPts val="200"/>
              </a:spcAft>
              <a:buNone/>
            </a:pPr>
            <a:r>
              <a:rPr lang="en-US" sz="1400" dirty="0">
                <a:solidFill>
                  <a:srgbClr val="166534"/>
                </a:solidFill>
              </a:rPr>
              <a:t>Fix: await it; turn on no-floating-promises</a:t>
            </a:r>
            <a:endParaRPr lang="en-US" sz="1500" dirty="0"/>
          </a:p>
        </p:txBody>
      </p:sp>
      <p:sp>
        <p:nvSpPr>
          <p:cNvPr id="6" name="bug-card-249"/>
          <p:cNvSpPr/>
          <p:nvPr/>
        </p:nvSpPr>
        <p:spPr>
          <a:xfrm>
            <a:off x="6190488" y="1325880"/>
            <a:ext cx="5449824" cy="1097280"/>
          </a:xfrm>
          <a:prstGeom prst="roundRect">
            <a:avLst>
              <a:gd name="adj" fmla="val 6667"/>
            </a:avLst>
          </a:prstGeom>
          <a:solidFill>
            <a:schemeClr val="bg2"/>
          </a:solidFill>
          <a:ln w="12700">
            <a:solidFill>
              <a:schemeClr val="bg2"/>
            </a:solidFill>
            <a:prstDash val="solid"/>
          </a:ln>
        </p:spPr>
      </p:sp>
      <p:sp>
        <p:nvSpPr>
          <p:cNvPr id="7" name="dot-250"/>
          <p:cNvSpPr txBox="1"/>
          <p:nvPr/>
        </p:nvSpPr>
        <p:spPr>
          <a:xfrm>
            <a:off x="6355080" y="1463040"/>
            <a:ext cx="384048" cy="384048"/>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8" name="bug-text-251"/>
          <p:cNvSpPr txBox="1"/>
          <p:nvPr/>
        </p:nvSpPr>
        <p:spPr>
          <a:xfrm>
            <a:off x="6903720" y="1417320"/>
            <a:ext cx="4581144" cy="914400"/>
          </a:xfrm>
          <a:prstGeom prst="rect">
            <a:avLst/>
          </a:prstGeom>
          <a:noFill/>
          <a:ln/>
        </p:spPr>
        <p:txBody>
          <a:bodyPr wrap="square" lIns="0" tIns="0" rIns="0" bIns="0" rtlCol="0" anchor="ctr"/>
          <a:lstStyle/>
          <a:p>
            <a:pPr indent="0" marL="0">
              <a:spcAft>
                <a:spcPts val="200"/>
              </a:spcAft>
              <a:buNone/>
            </a:pPr>
            <a:r>
              <a:rPr lang="en-US" sz="1500" b="1" dirty="0">
                <a:solidFill>
                  <a:schemeClr val="tx1"/>
                </a:solidFill>
              </a:rPr>
              <a:t>Loose equality</a:t>
            </a:r>
            <a:endParaRPr lang="en-US" sz="1500" dirty="0"/>
          </a:p>
          <a:p>
            <a:pPr indent="0" marL="0">
              <a:spcAft>
                <a:spcPts val="200"/>
              </a:spcAft>
              <a:buNone/>
            </a:pPr>
            <a:r>
              <a:rPr lang="en-US" sz="1300" dirty="0">
                <a:solidFill>
                  <a:schemeClr val="accent3"/>
                </a:solidFill>
                <a:latin typeface="Courier New" pitchFamily="34" charset="0"/>
                <a:ea typeface="Courier New" pitchFamily="34" charset="-122"/>
                <a:cs typeface="Courier New" pitchFamily="34" charset="-120"/>
              </a:rPr>
              <a:t>if (status == 0)</a:t>
            </a:r>
            <a:endParaRPr lang="en-US" sz="1500" dirty="0"/>
          </a:p>
          <a:p>
            <a:pPr indent="0" marL="0">
              <a:spcAft>
                <a:spcPts val="200"/>
              </a:spcAft>
              <a:buNone/>
            </a:pPr>
            <a:r>
              <a:rPr lang="en-US" sz="1400" dirty="0">
                <a:solidFill>
                  <a:srgbClr val="166534"/>
                </a:solidFill>
              </a:rPr>
              <a:t>Fix: use === and compare the right type</a:t>
            </a:r>
            <a:endParaRPr lang="en-US" sz="1500" dirty="0"/>
          </a:p>
        </p:txBody>
      </p:sp>
      <p:sp>
        <p:nvSpPr>
          <p:cNvPr id="9" name="bug-card-252"/>
          <p:cNvSpPr/>
          <p:nvPr/>
        </p:nvSpPr>
        <p:spPr>
          <a:xfrm>
            <a:off x="548640" y="2542032"/>
            <a:ext cx="5449824" cy="1097280"/>
          </a:xfrm>
          <a:prstGeom prst="roundRect">
            <a:avLst>
              <a:gd name="adj" fmla="val 6667"/>
            </a:avLst>
          </a:prstGeom>
          <a:solidFill>
            <a:schemeClr val="bg2"/>
          </a:solidFill>
          <a:ln w="12700">
            <a:solidFill>
              <a:schemeClr val="bg2"/>
            </a:solidFill>
            <a:prstDash val="solid"/>
          </a:ln>
        </p:spPr>
      </p:sp>
      <p:sp>
        <p:nvSpPr>
          <p:cNvPr id="10" name="dot-253"/>
          <p:cNvSpPr txBox="1"/>
          <p:nvPr/>
        </p:nvSpPr>
        <p:spPr>
          <a:xfrm>
            <a:off x="713232" y="2679192"/>
            <a:ext cx="384048" cy="384048"/>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1" name="bug-text-254"/>
          <p:cNvSpPr txBox="1"/>
          <p:nvPr/>
        </p:nvSpPr>
        <p:spPr>
          <a:xfrm>
            <a:off x="1261872" y="2633472"/>
            <a:ext cx="4581144" cy="914400"/>
          </a:xfrm>
          <a:prstGeom prst="rect">
            <a:avLst/>
          </a:prstGeom>
          <a:noFill/>
          <a:ln/>
        </p:spPr>
        <p:txBody>
          <a:bodyPr wrap="square" lIns="0" tIns="0" rIns="0" bIns="0" rtlCol="0" anchor="ctr"/>
          <a:lstStyle/>
          <a:p>
            <a:pPr indent="0" marL="0">
              <a:spcAft>
                <a:spcPts val="200"/>
              </a:spcAft>
              <a:buNone/>
            </a:pPr>
            <a:r>
              <a:rPr lang="en-US" sz="1500" b="1" dirty="0">
                <a:solidFill>
                  <a:schemeClr val="tx1"/>
                </a:solidFill>
              </a:rPr>
              <a:t>Mutating inputs</a:t>
            </a:r>
            <a:endParaRPr lang="en-US" sz="1500" dirty="0"/>
          </a:p>
          <a:p>
            <a:pPr indent="0" marL="0">
              <a:spcAft>
                <a:spcPts val="200"/>
              </a:spcAft>
              <a:buNone/>
            </a:pPr>
            <a:r>
              <a:rPr lang="en-US" sz="1300" dirty="0">
                <a:solidFill>
                  <a:schemeClr val="accent3"/>
                </a:solidFill>
                <a:latin typeface="Courier New" pitchFamily="34" charset="0"/>
                <a:ea typeface="Courier New" pitchFamily="34" charset="-122"/>
                <a:cs typeface="Courier New" pitchFamily="34" charset="-120"/>
              </a:rPr>
              <a:t>function add(list, x) { list.push(x); }</a:t>
            </a:r>
            <a:endParaRPr lang="en-US" sz="1500" dirty="0"/>
          </a:p>
          <a:p>
            <a:pPr indent="0" marL="0">
              <a:spcAft>
                <a:spcPts val="200"/>
              </a:spcAft>
              <a:buNone/>
            </a:pPr>
            <a:r>
              <a:rPr lang="en-US" sz="1400" dirty="0">
                <a:solidFill>
                  <a:srgbClr val="166534"/>
                </a:solidFill>
              </a:rPr>
              <a:t>Fix: return a new array: [...list, x]</a:t>
            </a:r>
            <a:endParaRPr lang="en-US" sz="1500" dirty="0"/>
          </a:p>
        </p:txBody>
      </p:sp>
      <p:sp>
        <p:nvSpPr>
          <p:cNvPr id="12" name="bug-card-255"/>
          <p:cNvSpPr/>
          <p:nvPr/>
        </p:nvSpPr>
        <p:spPr>
          <a:xfrm>
            <a:off x="6190488" y="2542032"/>
            <a:ext cx="5449824" cy="1097280"/>
          </a:xfrm>
          <a:prstGeom prst="roundRect">
            <a:avLst>
              <a:gd name="adj" fmla="val 6667"/>
            </a:avLst>
          </a:prstGeom>
          <a:solidFill>
            <a:schemeClr val="bg2"/>
          </a:solidFill>
          <a:ln w="12700">
            <a:solidFill>
              <a:schemeClr val="bg2"/>
            </a:solidFill>
            <a:prstDash val="solid"/>
          </a:ln>
        </p:spPr>
      </p:sp>
      <p:sp>
        <p:nvSpPr>
          <p:cNvPr id="13" name="dot-256"/>
          <p:cNvSpPr txBox="1"/>
          <p:nvPr/>
        </p:nvSpPr>
        <p:spPr>
          <a:xfrm>
            <a:off x="6355080" y="2679192"/>
            <a:ext cx="384048" cy="384048"/>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4" name="bug-text-257"/>
          <p:cNvSpPr txBox="1"/>
          <p:nvPr/>
        </p:nvSpPr>
        <p:spPr>
          <a:xfrm>
            <a:off x="6903720" y="2633472"/>
            <a:ext cx="4581144" cy="914400"/>
          </a:xfrm>
          <a:prstGeom prst="rect">
            <a:avLst/>
          </a:prstGeom>
          <a:noFill/>
          <a:ln/>
        </p:spPr>
        <p:txBody>
          <a:bodyPr wrap="square" lIns="0" tIns="0" rIns="0" bIns="0" rtlCol="0" anchor="ctr"/>
          <a:lstStyle/>
          <a:p>
            <a:pPr indent="0" marL="0">
              <a:spcAft>
                <a:spcPts val="200"/>
              </a:spcAft>
              <a:buNone/>
            </a:pPr>
            <a:r>
              <a:rPr lang="en-US" sz="1500" b="1" dirty="0">
                <a:solidFill>
                  <a:schemeClr val="tx1"/>
                </a:solidFill>
              </a:rPr>
              <a:t>Ignoring HTTP errors</a:t>
            </a:r>
            <a:endParaRPr lang="en-US" sz="1500" dirty="0"/>
          </a:p>
          <a:p>
            <a:pPr indent="0" marL="0">
              <a:spcAft>
                <a:spcPts val="200"/>
              </a:spcAft>
              <a:buNone/>
            </a:pPr>
            <a:r>
              <a:rPr lang="en-US" sz="1300" dirty="0">
                <a:solidFill>
                  <a:schemeClr val="accent3"/>
                </a:solidFill>
                <a:latin typeface="Courier New" pitchFamily="34" charset="0"/>
                <a:ea typeface="Courier New" pitchFamily="34" charset="-122"/>
                <a:cs typeface="Courier New" pitchFamily="34" charset="-120"/>
              </a:rPr>
              <a:t>const data = await (await fetch(u)).json();</a:t>
            </a:r>
            <a:endParaRPr lang="en-US" sz="1500" dirty="0"/>
          </a:p>
          <a:p>
            <a:pPr indent="0" marL="0">
              <a:spcAft>
                <a:spcPts val="200"/>
              </a:spcAft>
              <a:buNone/>
            </a:pPr>
            <a:r>
              <a:rPr lang="en-US" sz="1400" dirty="0">
                <a:solidFill>
                  <a:srgbClr val="166534"/>
                </a:solidFill>
              </a:rPr>
              <a:t>Fix: check res.ok before reading the body</a:t>
            </a:r>
            <a:endParaRPr lang="en-US" sz="1500" dirty="0"/>
          </a:p>
        </p:txBody>
      </p:sp>
      <p:sp>
        <p:nvSpPr>
          <p:cNvPr id="15" name="bug-card-258"/>
          <p:cNvSpPr/>
          <p:nvPr/>
        </p:nvSpPr>
        <p:spPr>
          <a:xfrm>
            <a:off x="548640" y="3758184"/>
            <a:ext cx="5449824" cy="1097280"/>
          </a:xfrm>
          <a:prstGeom prst="roundRect">
            <a:avLst>
              <a:gd name="adj" fmla="val 6667"/>
            </a:avLst>
          </a:prstGeom>
          <a:solidFill>
            <a:schemeClr val="bg2"/>
          </a:solidFill>
          <a:ln w="12700">
            <a:solidFill>
              <a:schemeClr val="bg2"/>
            </a:solidFill>
            <a:prstDash val="solid"/>
          </a:ln>
        </p:spPr>
      </p:sp>
      <p:sp>
        <p:nvSpPr>
          <p:cNvPr id="16" name="dot-259"/>
          <p:cNvSpPr txBox="1"/>
          <p:nvPr/>
        </p:nvSpPr>
        <p:spPr>
          <a:xfrm>
            <a:off x="713232" y="3895344"/>
            <a:ext cx="384048" cy="384048"/>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7" name="bug-text-260"/>
          <p:cNvSpPr txBox="1"/>
          <p:nvPr/>
        </p:nvSpPr>
        <p:spPr>
          <a:xfrm>
            <a:off x="1261872" y="3849624"/>
            <a:ext cx="4581144" cy="914400"/>
          </a:xfrm>
          <a:prstGeom prst="rect">
            <a:avLst/>
          </a:prstGeom>
          <a:noFill/>
          <a:ln/>
        </p:spPr>
        <p:txBody>
          <a:bodyPr wrap="square" lIns="0" tIns="0" rIns="0" bIns="0" rtlCol="0" anchor="ctr"/>
          <a:lstStyle/>
          <a:p>
            <a:pPr indent="0" marL="0">
              <a:spcAft>
                <a:spcPts val="200"/>
              </a:spcAft>
              <a:buNone/>
            </a:pPr>
            <a:r>
              <a:rPr lang="en-US" sz="1500" b="1" dirty="0">
                <a:solidFill>
                  <a:schemeClr val="tx1"/>
                </a:solidFill>
              </a:rPr>
              <a:t>Money as float</a:t>
            </a:r>
            <a:endParaRPr lang="en-US" sz="1500" dirty="0"/>
          </a:p>
          <a:p>
            <a:pPr indent="0" marL="0">
              <a:spcAft>
                <a:spcPts val="200"/>
              </a:spcAft>
              <a:buNone/>
            </a:pPr>
            <a:r>
              <a:rPr lang="en-US" sz="1300" dirty="0">
                <a:solidFill>
                  <a:schemeClr val="accent3"/>
                </a:solidFill>
                <a:latin typeface="Courier New" pitchFamily="34" charset="0"/>
                <a:ea typeface="Courier New" pitchFamily="34" charset="-122"/>
                <a:cs typeface="Courier New" pitchFamily="34" charset="-120"/>
              </a:rPr>
              <a:t>total = 0.1 + 0.2;</a:t>
            </a:r>
            <a:endParaRPr lang="en-US" sz="1500" dirty="0"/>
          </a:p>
          <a:p>
            <a:pPr indent="0" marL="0">
              <a:spcAft>
                <a:spcPts val="200"/>
              </a:spcAft>
              <a:buNone/>
            </a:pPr>
            <a:r>
              <a:rPr lang="en-US" sz="1400" dirty="0">
                <a:solidFill>
                  <a:srgbClr val="166534"/>
                </a:solidFill>
              </a:rPr>
              <a:t>Fix: integer cents, or NUMERIC in PostgreSQL</a:t>
            </a:r>
            <a:endParaRPr lang="en-US" sz="1500" dirty="0"/>
          </a:p>
        </p:txBody>
      </p:sp>
      <p:sp>
        <p:nvSpPr>
          <p:cNvPr id="18" name="bug-card-261"/>
          <p:cNvSpPr/>
          <p:nvPr/>
        </p:nvSpPr>
        <p:spPr>
          <a:xfrm>
            <a:off x="6190488" y="3758184"/>
            <a:ext cx="5449824" cy="1097280"/>
          </a:xfrm>
          <a:prstGeom prst="roundRect">
            <a:avLst>
              <a:gd name="adj" fmla="val 6667"/>
            </a:avLst>
          </a:prstGeom>
          <a:solidFill>
            <a:schemeClr val="bg2"/>
          </a:solidFill>
          <a:ln w="12700">
            <a:solidFill>
              <a:schemeClr val="bg2"/>
            </a:solidFill>
            <a:prstDash val="solid"/>
          </a:ln>
        </p:spPr>
      </p:sp>
      <p:sp>
        <p:nvSpPr>
          <p:cNvPr id="19" name="dot-262"/>
          <p:cNvSpPr txBox="1"/>
          <p:nvPr/>
        </p:nvSpPr>
        <p:spPr>
          <a:xfrm>
            <a:off x="6355080" y="3895344"/>
            <a:ext cx="384048" cy="384048"/>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0" name="bug-text-263"/>
          <p:cNvSpPr txBox="1"/>
          <p:nvPr/>
        </p:nvSpPr>
        <p:spPr>
          <a:xfrm>
            <a:off x="6903720" y="3849624"/>
            <a:ext cx="4581144" cy="914400"/>
          </a:xfrm>
          <a:prstGeom prst="rect">
            <a:avLst/>
          </a:prstGeom>
          <a:noFill/>
          <a:ln/>
        </p:spPr>
        <p:txBody>
          <a:bodyPr wrap="square" lIns="0" tIns="0" rIns="0" bIns="0" rtlCol="0" anchor="ctr"/>
          <a:lstStyle/>
          <a:p>
            <a:pPr indent="0" marL="0">
              <a:spcAft>
                <a:spcPts val="200"/>
              </a:spcAft>
              <a:buNone/>
            </a:pPr>
            <a:r>
              <a:rPr lang="en-US" sz="1500" b="1" dirty="0">
                <a:solidFill>
                  <a:schemeClr val="tx1"/>
                </a:solidFill>
              </a:rPr>
              <a:t>innerHTML with user data</a:t>
            </a:r>
            <a:endParaRPr lang="en-US" sz="1500" dirty="0"/>
          </a:p>
          <a:p>
            <a:pPr indent="0" marL="0">
              <a:spcAft>
                <a:spcPts val="200"/>
              </a:spcAft>
              <a:buNone/>
            </a:pPr>
            <a:r>
              <a:rPr lang="en-US" sz="1300" dirty="0">
                <a:solidFill>
                  <a:schemeClr val="accent3"/>
                </a:solidFill>
                <a:latin typeface="Courier New" pitchFamily="34" charset="0"/>
                <a:ea typeface="Courier New" pitchFamily="34" charset="-122"/>
                <a:cs typeface="Courier New" pitchFamily="34" charset="-120"/>
              </a:rPr>
              <a:t>el.innerHTML = comment.text;</a:t>
            </a:r>
            <a:endParaRPr lang="en-US" sz="1500" dirty="0"/>
          </a:p>
          <a:p>
            <a:pPr indent="0" marL="0">
              <a:spcAft>
                <a:spcPts val="200"/>
              </a:spcAft>
              <a:buNone/>
            </a:pPr>
            <a:r>
              <a:rPr lang="en-US" sz="1400" dirty="0">
                <a:solidFill>
                  <a:srgbClr val="166534"/>
                </a:solidFill>
              </a:rPr>
              <a:t>Fix: textContent, or the framework’s escaping</a:t>
            </a:r>
            <a:endParaRPr lang="en-US" sz="1500" dirty="0"/>
          </a:p>
        </p:txBody>
      </p:sp>
      <p:sp>
        <p:nvSpPr>
          <p:cNvPr id="21" name="bug-card-264"/>
          <p:cNvSpPr/>
          <p:nvPr/>
        </p:nvSpPr>
        <p:spPr>
          <a:xfrm>
            <a:off x="548640" y="4974336"/>
            <a:ext cx="5449824" cy="1097280"/>
          </a:xfrm>
          <a:prstGeom prst="roundRect">
            <a:avLst>
              <a:gd name="adj" fmla="val 6667"/>
            </a:avLst>
          </a:prstGeom>
          <a:solidFill>
            <a:schemeClr val="bg2"/>
          </a:solidFill>
          <a:ln w="12700">
            <a:solidFill>
              <a:schemeClr val="bg2"/>
            </a:solidFill>
            <a:prstDash val="solid"/>
          </a:ln>
        </p:spPr>
      </p:sp>
      <p:sp>
        <p:nvSpPr>
          <p:cNvPr id="22" name="dot-265"/>
          <p:cNvSpPr txBox="1"/>
          <p:nvPr/>
        </p:nvSpPr>
        <p:spPr>
          <a:xfrm>
            <a:off x="713232" y="5111496"/>
            <a:ext cx="384048" cy="384048"/>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500" b="1" dirty="0">
                <a:solidFill>
                  <a:srgbClr val="FFFFFF"/>
                </a:solidFill>
              </a:rPr>
              <a:t>7</a:t>
            </a:r>
            <a:endParaRPr lang="en-US" sz="1500" dirty="0"/>
          </a:p>
        </p:txBody>
      </p:sp>
      <p:sp>
        <p:nvSpPr>
          <p:cNvPr id="23" name="bug-text-266"/>
          <p:cNvSpPr txBox="1"/>
          <p:nvPr/>
        </p:nvSpPr>
        <p:spPr>
          <a:xfrm>
            <a:off x="1261872" y="5065776"/>
            <a:ext cx="4581144" cy="914400"/>
          </a:xfrm>
          <a:prstGeom prst="rect">
            <a:avLst/>
          </a:prstGeom>
          <a:noFill/>
          <a:ln/>
        </p:spPr>
        <p:txBody>
          <a:bodyPr wrap="square" lIns="0" tIns="0" rIns="0" bIns="0" rtlCol="0" anchor="ctr"/>
          <a:lstStyle/>
          <a:p>
            <a:pPr indent="0" marL="0">
              <a:spcAft>
                <a:spcPts val="200"/>
              </a:spcAft>
              <a:buNone/>
            </a:pPr>
            <a:r>
              <a:rPr lang="en-US" sz="1500" b="1" dirty="0">
                <a:solidFill>
                  <a:schemeClr val="tx1"/>
                </a:solidFill>
              </a:rPr>
              <a:t>Default sort on numbers</a:t>
            </a:r>
            <a:endParaRPr lang="en-US" sz="1500" dirty="0"/>
          </a:p>
          <a:p>
            <a:pPr indent="0" marL="0">
              <a:spcAft>
                <a:spcPts val="200"/>
              </a:spcAft>
              <a:buNone/>
            </a:pPr>
            <a:r>
              <a:rPr lang="en-US" sz="1300" dirty="0">
                <a:solidFill>
                  <a:schemeClr val="accent3"/>
                </a:solidFill>
                <a:latin typeface="Courier New" pitchFamily="34" charset="0"/>
                <a:ea typeface="Courier New" pitchFamily="34" charset="-122"/>
                <a:cs typeface="Courier New" pitchFamily="34" charset="-120"/>
              </a:rPr>
              <a:t>scores.sort();</a:t>
            </a:r>
            <a:endParaRPr lang="en-US" sz="1500" dirty="0"/>
          </a:p>
          <a:p>
            <a:pPr indent="0" marL="0">
              <a:spcAft>
                <a:spcPts val="200"/>
              </a:spcAft>
              <a:buNone/>
            </a:pPr>
            <a:r>
              <a:rPr lang="en-US" sz="1400" dirty="0">
                <a:solidFill>
                  <a:srgbClr val="166534"/>
                </a:solidFill>
              </a:rPr>
              <a:t>Fix: scores.toSorted((a, b) =&gt; a - b)</a:t>
            </a:r>
            <a:endParaRPr lang="en-US" sz="1500" dirty="0"/>
          </a:p>
        </p:txBody>
      </p:sp>
      <p:sp>
        <p:nvSpPr>
          <p:cNvPr id="24" name="bug-card-267"/>
          <p:cNvSpPr/>
          <p:nvPr/>
        </p:nvSpPr>
        <p:spPr>
          <a:xfrm>
            <a:off x="6190488" y="4974336"/>
            <a:ext cx="5449824" cy="1097280"/>
          </a:xfrm>
          <a:prstGeom prst="roundRect">
            <a:avLst>
              <a:gd name="adj" fmla="val 6667"/>
            </a:avLst>
          </a:prstGeom>
          <a:solidFill>
            <a:schemeClr val="bg2"/>
          </a:solidFill>
          <a:ln w="12700">
            <a:solidFill>
              <a:schemeClr val="bg2"/>
            </a:solidFill>
            <a:prstDash val="solid"/>
          </a:ln>
        </p:spPr>
      </p:sp>
      <p:sp>
        <p:nvSpPr>
          <p:cNvPr id="25" name="dot-268"/>
          <p:cNvSpPr txBox="1"/>
          <p:nvPr/>
        </p:nvSpPr>
        <p:spPr>
          <a:xfrm>
            <a:off x="6355080" y="5111496"/>
            <a:ext cx="384048" cy="384048"/>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500" b="1" dirty="0">
                <a:solidFill>
                  <a:srgbClr val="FFFFFF"/>
                </a:solidFill>
              </a:rPr>
              <a:t>8</a:t>
            </a:r>
            <a:endParaRPr lang="en-US" sz="1500" dirty="0"/>
          </a:p>
        </p:txBody>
      </p:sp>
      <p:sp>
        <p:nvSpPr>
          <p:cNvPr id="26" name="bug-text-269"/>
          <p:cNvSpPr txBox="1"/>
          <p:nvPr/>
        </p:nvSpPr>
        <p:spPr>
          <a:xfrm>
            <a:off x="6903720" y="5065776"/>
            <a:ext cx="4581144" cy="914400"/>
          </a:xfrm>
          <a:prstGeom prst="rect">
            <a:avLst/>
          </a:prstGeom>
          <a:noFill/>
          <a:ln/>
        </p:spPr>
        <p:txBody>
          <a:bodyPr wrap="square" lIns="0" tIns="0" rIns="0" bIns="0" rtlCol="0" anchor="ctr"/>
          <a:lstStyle/>
          <a:p>
            <a:pPr indent="0" marL="0">
              <a:spcAft>
                <a:spcPts val="200"/>
              </a:spcAft>
              <a:buNone/>
            </a:pPr>
            <a:r>
              <a:rPr lang="en-US" sz="1500" b="1" dirty="0">
                <a:solidFill>
                  <a:schemeClr val="tx1"/>
                </a:solidFill>
              </a:rPr>
              <a:t>Secrets in frontend code</a:t>
            </a:r>
            <a:endParaRPr lang="en-US" sz="1500" dirty="0"/>
          </a:p>
          <a:p>
            <a:pPr indent="0" marL="0">
              <a:spcAft>
                <a:spcPts val="200"/>
              </a:spcAft>
              <a:buNone/>
            </a:pPr>
            <a:r>
              <a:rPr lang="en-US" sz="1300" dirty="0">
                <a:solidFill>
                  <a:schemeClr val="accent3"/>
                </a:solidFill>
                <a:latin typeface="Courier New" pitchFamily="34" charset="0"/>
                <a:ea typeface="Courier New" pitchFamily="34" charset="-122"/>
                <a:cs typeface="Courier New" pitchFamily="34" charset="-120"/>
              </a:rPr>
              <a:t>const API_KEY = "sk-live-…";</a:t>
            </a:r>
            <a:endParaRPr lang="en-US" sz="1500" dirty="0"/>
          </a:p>
          <a:p>
            <a:pPr indent="0" marL="0">
              <a:spcAft>
                <a:spcPts val="200"/>
              </a:spcAft>
              <a:buNone/>
            </a:pPr>
            <a:r>
              <a:rPr lang="en-US" sz="1400" dirty="0">
                <a:solidFill>
                  <a:srgbClr val="166534"/>
                </a:solidFill>
              </a:rPr>
              <a:t>Fix: keep keys on the server, use env vars</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Activity 4: Fix the AI’s code</a:t>
            </a:r>
            <a:endParaRPr lang="en-US" sz="3200" dirty="0"/>
          </a:p>
        </p:txBody>
      </p:sp>
      <p:sp>
        <p:nvSpPr>
          <p:cNvPr id="3" name="badge-270"/>
          <p:cNvSpPr txBox="1"/>
          <p:nvPr/>
        </p:nvSpPr>
        <p:spPr>
          <a:xfrm>
            <a:off x="548640" y="1261872"/>
            <a:ext cx="3840480" cy="384048"/>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300" b="1" spc="100" kern="0" dirty="0">
                <a:solidFill>
                  <a:srgbClr val="FFFFFF"/>
                </a:solidFill>
              </a:rPr>
              <a:t>ACTIVITY 4  ·  AI LEVEL: GUIDED</a:t>
            </a:r>
            <a:endParaRPr lang="en-US" sz="1300" dirty="0"/>
          </a:p>
        </p:txBody>
      </p:sp>
      <p:sp>
        <p:nvSpPr>
          <p:cNvPr id="4" name="code-panel-271"/>
          <p:cNvSpPr/>
          <p:nvPr/>
        </p:nvSpPr>
        <p:spPr>
          <a:xfrm>
            <a:off x="548640" y="1874520"/>
            <a:ext cx="6949440" cy="4297680"/>
          </a:xfrm>
          <a:prstGeom prst="roundRect">
            <a:avLst>
              <a:gd name="adj" fmla="val 1702"/>
            </a:avLst>
          </a:prstGeom>
          <a:solidFill>
            <a:schemeClr val="tx2"/>
          </a:solidFill>
          <a:ln w="12700">
            <a:solidFill>
              <a:schemeClr val="tx2"/>
            </a:solidFill>
            <a:prstDash val="solid"/>
          </a:ln>
        </p:spPr>
      </p:sp>
      <p:sp>
        <p:nvSpPr>
          <p:cNvPr id="5" name="code-label-272"/>
          <p:cNvSpPr txBox="1"/>
          <p:nvPr/>
        </p:nvSpPr>
        <p:spPr>
          <a:xfrm>
            <a:off x="777240" y="2002536"/>
            <a:ext cx="6492240" cy="256032"/>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averageScore.js  (assume active is a boolean)</a:t>
            </a:r>
            <a:endParaRPr lang="en-US" sz="1100" dirty="0"/>
          </a:p>
        </p:txBody>
      </p:sp>
      <p:sp>
        <p:nvSpPr>
          <p:cNvPr id="6" name="code-273"/>
          <p:cNvSpPr txBox="1"/>
          <p:nvPr/>
        </p:nvSpPr>
        <p:spPr>
          <a:xfrm>
            <a:off x="777240" y="2331720"/>
            <a:ext cx="6492240" cy="3730752"/>
          </a:xfrm>
          <a:prstGeom prst="rect">
            <a:avLst/>
          </a:prstGeom>
          <a:noFill/>
          <a:ln/>
        </p:spPr>
        <p:txBody>
          <a:bodyPr wrap="square" lIns="0" tIns="0" rIns="0" bIns="0" rtlCol="0" anchor="t"/>
          <a:lstStyle/>
          <a:p>
            <a:pPr indent="0" marL="0">
              <a:buNone/>
            </a:pPr>
            <a:r>
              <a:rPr lang="en-US" sz="1400" i="1" dirty="0">
                <a:solidFill>
                  <a:srgbClr val="8B949E"/>
                </a:solidFill>
                <a:latin typeface="Courier New" pitchFamily="34" charset="0"/>
                <a:ea typeface="Courier New" pitchFamily="34" charset="-122"/>
                <a:cs typeface="Courier New" pitchFamily="34" charset="-120"/>
              </a:rPr>
              <a:t>// AI output for: "average score of the active</a:t>
            </a:r>
            <a:endParaRPr lang="en-US" sz="1400" dirty="0"/>
          </a:p>
          <a:p>
            <a:pPr indent="0" marL="0">
              <a:buNone/>
            </a:pPr>
            <a:r>
              <a:rPr lang="en-US" sz="1400" i="1" dirty="0">
                <a:solidFill>
                  <a:srgbClr val="8B949E"/>
                </a:solidFill>
                <a:latin typeface="Courier New" pitchFamily="34" charset="0"/>
                <a:ea typeface="Courier New" pitchFamily="34" charset="-122"/>
                <a:cs typeface="Courier New" pitchFamily="34" charset="-120"/>
              </a:rPr>
              <a:t>// students in a class, from our API"</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async function </a:t>
            </a:r>
            <a:pPr indent="0" marL="0">
              <a:buNone/>
            </a:pPr>
            <a:r>
              <a:rPr lang="en-US" sz="1400" dirty="0">
                <a:solidFill>
                  <a:srgbClr val="E5E7EB"/>
                </a:solidFill>
                <a:latin typeface="Courier New" pitchFamily="34" charset="0"/>
                <a:ea typeface="Courier New" pitchFamily="34" charset="-122"/>
                <a:cs typeface="Courier New" pitchFamily="34" charset="-120"/>
              </a:rPr>
              <a:t>averageScore(classId)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res = </a:t>
            </a:r>
            <a:pPr indent="0" marL="0">
              <a:buNone/>
            </a:pPr>
            <a:r>
              <a:rPr lang="en-US" sz="1400" dirty="0">
                <a:solidFill>
                  <a:srgbClr val="79B8FF"/>
                </a:solidFill>
                <a:latin typeface="Courier New" pitchFamily="34" charset="0"/>
                <a:ea typeface="Courier New" pitchFamily="34" charset="-122"/>
                <a:cs typeface="Courier New" pitchFamily="34" charset="-120"/>
              </a:rPr>
              <a:t>fetch</a:t>
            </a:r>
            <a:pPr indent="0" marL="0">
              <a:buNone/>
            </a:pPr>
            <a:r>
              <a:rPr lang="en-US" sz="1400" dirty="0">
                <a:solidFill>
                  <a:srgbClr val="E5E7EB"/>
                </a:solidFill>
                <a:latin typeface="Courier New" pitchFamily="34" charset="0"/>
                <a:ea typeface="Courier New" pitchFamily="34" charset="-122"/>
                <a:cs typeface="Courier New" pitchFamily="34" charset="-120"/>
              </a:rPr>
              <a:t>(</a:t>
            </a:r>
            <a:pPr indent="0" marL="0">
              <a:buNone/>
            </a:pPr>
            <a:r>
              <a:rPr lang="en-US" sz="1400" dirty="0">
                <a:solidFill>
                  <a:srgbClr val="A5D6A7"/>
                </a:solidFill>
                <a:latin typeface="Courier New" pitchFamily="34" charset="0"/>
                <a:ea typeface="Courier New" pitchFamily="34" charset="-122"/>
                <a:cs typeface="Courier New" pitchFamily="34" charset="-120"/>
              </a:rPr>
              <a:t>`/api/classes/${classId}/students`</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const </a:t>
            </a:r>
            <a:pPr indent="0" marL="0">
              <a:buNone/>
            </a:pPr>
            <a:r>
              <a:rPr lang="en-US" sz="1400" dirty="0">
                <a:solidFill>
                  <a:srgbClr val="E5E7EB"/>
                </a:solidFill>
                <a:latin typeface="Courier New" pitchFamily="34" charset="0"/>
                <a:ea typeface="Courier New" pitchFamily="34" charset="-122"/>
                <a:cs typeface="Courier New" pitchFamily="34" charset="-120"/>
              </a:rPr>
              <a:t>students = </a:t>
            </a:r>
            <a:pPr indent="0" marL="0">
              <a:buNone/>
            </a:pPr>
            <a:r>
              <a:rPr lang="en-US" sz="1400" dirty="0">
                <a:solidFill>
                  <a:srgbClr val="C792EA"/>
                </a:solidFill>
                <a:latin typeface="Courier New" pitchFamily="34" charset="0"/>
                <a:ea typeface="Courier New" pitchFamily="34" charset="-122"/>
                <a:cs typeface="Courier New" pitchFamily="34" charset="-120"/>
              </a:rPr>
              <a:t>await </a:t>
            </a:r>
            <a:pPr indent="0" marL="0">
              <a:buNone/>
            </a:pPr>
            <a:r>
              <a:rPr lang="en-US" sz="1400" dirty="0">
                <a:solidFill>
                  <a:srgbClr val="E5E7EB"/>
                </a:solidFill>
                <a:latin typeface="Courier New" pitchFamily="34" charset="0"/>
                <a:ea typeface="Courier New" pitchFamily="34" charset="-122"/>
                <a:cs typeface="Courier New" pitchFamily="34" charset="-120"/>
              </a:rPr>
              <a:t>res.json();</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var </a:t>
            </a:r>
            <a:pPr indent="0" marL="0">
              <a:buNone/>
            </a:pPr>
            <a:r>
              <a:rPr lang="en-US" sz="1400" dirty="0">
                <a:solidFill>
                  <a:srgbClr val="E5E7EB"/>
                </a:solidFill>
                <a:latin typeface="Courier New" pitchFamily="34" charset="0"/>
                <a:ea typeface="Courier New" pitchFamily="34" charset="-122"/>
                <a:cs typeface="Courier New" pitchFamily="34" charset="-120"/>
              </a:rPr>
              <a:t>total = </a:t>
            </a:r>
            <a:pPr indent="0" marL="0">
              <a:buNone/>
            </a:pPr>
            <a:r>
              <a:rPr lang="en-US" sz="1400" dirty="0">
                <a:solidFill>
                  <a:srgbClr val="F7B267"/>
                </a:solidFill>
                <a:latin typeface="Courier New" pitchFamily="34" charset="0"/>
                <a:ea typeface="Courier New" pitchFamily="34" charset="-122"/>
                <a:cs typeface="Courier New" pitchFamily="34" charset="-120"/>
              </a:rPr>
              <a:t>0</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for </a:t>
            </a:r>
            <a:pPr indent="0" marL="0">
              <a:buNone/>
            </a:pPr>
            <a:r>
              <a:rPr lang="en-US" sz="1400" dirty="0">
                <a:solidFill>
                  <a:srgbClr val="E5E7EB"/>
                </a:solidFill>
                <a:latin typeface="Courier New" pitchFamily="34" charset="0"/>
                <a:ea typeface="Courier New" pitchFamily="34" charset="-122"/>
                <a:cs typeface="Courier New" pitchFamily="34" charset="-120"/>
              </a:rPr>
              <a:t>(</a:t>
            </a:r>
            <a:pPr indent="0" marL="0">
              <a:buNone/>
            </a:pPr>
            <a:r>
              <a:rPr lang="en-US" sz="1400" dirty="0">
                <a:solidFill>
                  <a:srgbClr val="C792EA"/>
                </a:solidFill>
                <a:latin typeface="Courier New" pitchFamily="34" charset="0"/>
                <a:ea typeface="Courier New" pitchFamily="34" charset="-122"/>
                <a:cs typeface="Courier New" pitchFamily="34" charset="-120"/>
              </a:rPr>
              <a:t>var </a:t>
            </a:r>
            <a:pPr indent="0" marL="0">
              <a:buNone/>
            </a:pPr>
            <a:r>
              <a:rPr lang="en-US" sz="1400" dirty="0">
                <a:solidFill>
                  <a:srgbClr val="E5E7EB"/>
                </a:solidFill>
                <a:latin typeface="Courier New" pitchFamily="34" charset="0"/>
                <a:ea typeface="Courier New" pitchFamily="34" charset="-122"/>
                <a:cs typeface="Courier New" pitchFamily="34" charset="-120"/>
              </a:rPr>
              <a:t>i = </a:t>
            </a:r>
            <a:pPr indent="0" marL="0">
              <a:buNone/>
            </a:pPr>
            <a:r>
              <a:rPr lang="en-US" sz="1400" dirty="0">
                <a:solidFill>
                  <a:srgbClr val="F7B267"/>
                </a:solidFill>
                <a:latin typeface="Courier New" pitchFamily="34" charset="0"/>
                <a:ea typeface="Courier New" pitchFamily="34" charset="-122"/>
                <a:cs typeface="Courier New" pitchFamily="34" charset="-120"/>
              </a:rPr>
              <a:t>0</a:t>
            </a:r>
            <a:pPr indent="0" marL="0">
              <a:buNone/>
            </a:pPr>
            <a:r>
              <a:rPr lang="en-US" sz="1400" dirty="0">
                <a:solidFill>
                  <a:srgbClr val="E5E7EB"/>
                </a:solidFill>
                <a:latin typeface="Courier New" pitchFamily="34" charset="0"/>
                <a:ea typeface="Courier New" pitchFamily="34" charset="-122"/>
                <a:cs typeface="Courier New" pitchFamily="34" charset="-120"/>
              </a:rPr>
              <a:t>; i &lt;= students.length; i++)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if </a:t>
            </a:r>
            <a:pPr indent="0" marL="0">
              <a:buNone/>
            </a:pPr>
            <a:r>
              <a:rPr lang="en-US" sz="1400" dirty="0">
                <a:solidFill>
                  <a:srgbClr val="E5E7EB"/>
                </a:solidFill>
                <a:latin typeface="Courier New" pitchFamily="34" charset="0"/>
                <a:ea typeface="Courier New" pitchFamily="34" charset="-122"/>
                <a:cs typeface="Courier New" pitchFamily="34" charset="-120"/>
              </a:rPr>
              <a:t>(students[i].active == </a:t>
            </a:r>
            <a:pPr indent="0" marL="0">
              <a:buNone/>
            </a:pPr>
            <a:r>
              <a:rPr lang="en-US" sz="1400" dirty="0">
                <a:solidFill>
                  <a:srgbClr val="A5D6A7"/>
                </a:solidFill>
                <a:latin typeface="Courier New" pitchFamily="34" charset="0"/>
                <a:ea typeface="Courier New" pitchFamily="34" charset="-122"/>
                <a:cs typeface="Courier New" pitchFamily="34" charset="-120"/>
              </a:rPr>
              <a:t>"true"</a:t>
            </a:r>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total += students[i].score;</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return </a:t>
            </a:r>
            <a:pPr indent="0" marL="0">
              <a:buNone/>
            </a:pPr>
            <a:r>
              <a:rPr lang="en-US" sz="1400" dirty="0">
                <a:solidFill>
                  <a:srgbClr val="E5E7EB"/>
                </a:solidFill>
                <a:latin typeface="Courier New" pitchFamily="34" charset="0"/>
                <a:ea typeface="Courier New" pitchFamily="34" charset="-122"/>
                <a:cs typeface="Courier New" pitchFamily="34" charset="-120"/>
              </a:rPr>
              <a:t>total / students.length;</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p:txBody>
      </p:sp>
      <p:sp>
        <p:nvSpPr>
          <p:cNvPr id="7" name="dot-274"/>
          <p:cNvSpPr txBox="1"/>
          <p:nvPr/>
        </p:nvSpPr>
        <p:spPr>
          <a:xfrm>
            <a:off x="7772400" y="1892808"/>
            <a:ext cx="457200" cy="4572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8" name="act4-step-275"/>
          <p:cNvSpPr txBox="1"/>
          <p:nvPr/>
        </p:nvSpPr>
        <p:spPr>
          <a:xfrm>
            <a:off x="8366760" y="1874520"/>
            <a:ext cx="3273552"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Find at least 5 defects</a:t>
            </a:r>
            <a:endParaRPr lang="en-US" sz="1700" dirty="0"/>
          </a:p>
          <a:p>
            <a:pPr indent="0" marL="0">
              <a:spcAft>
                <a:spcPts val="400"/>
              </a:spcAft>
              <a:buNone/>
            </a:pPr>
            <a:r>
              <a:rPr lang="en-US" sz="1500" dirty="0">
                <a:solidFill>
                  <a:srgbClr val="374151"/>
                </a:solidFill>
              </a:rPr>
              <a:t>Mark each line. No AI for finding or explaining.</a:t>
            </a:r>
            <a:endParaRPr lang="en-US" sz="1700" dirty="0"/>
          </a:p>
        </p:txBody>
      </p:sp>
      <p:sp>
        <p:nvSpPr>
          <p:cNvPr id="9" name="dot-276"/>
          <p:cNvSpPr txBox="1"/>
          <p:nvPr/>
        </p:nvSpPr>
        <p:spPr>
          <a:xfrm>
            <a:off x="7772400" y="3355848"/>
            <a:ext cx="457200" cy="4572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act4-step-277"/>
          <p:cNvSpPr txBox="1"/>
          <p:nvPr/>
        </p:nvSpPr>
        <p:spPr>
          <a:xfrm>
            <a:off x="8366760" y="3337560"/>
            <a:ext cx="3273552"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Prove each one</a:t>
            </a:r>
            <a:endParaRPr lang="en-US" sz="1700" dirty="0"/>
          </a:p>
          <a:p>
            <a:pPr indent="0" marL="0">
              <a:spcAft>
                <a:spcPts val="400"/>
              </a:spcAft>
              <a:buNone/>
            </a:pPr>
            <a:r>
              <a:rPr lang="en-US" sz="1500" dirty="0">
                <a:solidFill>
                  <a:srgbClr val="374151"/>
                </a:solidFill>
              </a:rPr>
              <a:t>Give an input or API response that makes it fail, and what you expected.</a:t>
            </a:r>
            <a:endParaRPr lang="en-US" sz="1700" dirty="0"/>
          </a:p>
        </p:txBody>
      </p:sp>
      <p:sp>
        <p:nvSpPr>
          <p:cNvPr id="11" name="dot-278"/>
          <p:cNvSpPr txBox="1"/>
          <p:nvPr/>
        </p:nvSpPr>
        <p:spPr>
          <a:xfrm>
            <a:off x="7772400" y="4818888"/>
            <a:ext cx="457200" cy="4572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act4-step-279"/>
          <p:cNvSpPr txBox="1"/>
          <p:nvPr/>
        </p:nvSpPr>
        <p:spPr>
          <a:xfrm>
            <a:off x="8366760" y="4800600"/>
            <a:ext cx="3273552"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Fix and explain</a:t>
            </a:r>
            <a:endParaRPr lang="en-US" sz="1700" dirty="0"/>
          </a:p>
          <a:p>
            <a:pPr indent="0" marL="0">
              <a:spcAft>
                <a:spcPts val="400"/>
              </a:spcAft>
              <a:buNone/>
            </a:pPr>
            <a:r>
              <a:rPr lang="en-US" sz="1500" dirty="0">
                <a:solidFill>
                  <a:srgbClr val="374151"/>
                </a:solidFill>
              </a:rPr>
              <a:t>AI may help write the fix. You must explain every changed line.</a:t>
            </a:r>
            <a:endParaRPr lang="en-US" sz="17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Next: the same bug, caught before it runs</a:t>
            </a:r>
            <a:endParaRPr lang="en-US" sz="3200" dirty="0"/>
          </a:p>
        </p:txBody>
      </p:sp>
      <p:sp>
        <p:nvSpPr>
          <p:cNvPr id="3" name="js-head"/>
          <p:cNvSpPr txBox="1"/>
          <p:nvPr/>
        </p:nvSpPr>
        <p:spPr>
          <a:xfrm>
            <a:off x="548640" y="1325880"/>
            <a:ext cx="5449824" cy="411480"/>
          </a:xfrm>
          <a:prstGeom prst="rect">
            <a:avLst/>
          </a:prstGeom>
          <a:noFill/>
          <a:ln/>
        </p:spPr>
        <p:txBody>
          <a:bodyPr wrap="square" lIns="0" tIns="0" rIns="0" bIns="0" rtlCol="0" anchor="ctr"/>
          <a:lstStyle/>
          <a:p>
            <a:pPr indent="0" marL="0">
              <a:buNone/>
            </a:pPr>
            <a:r>
              <a:rPr lang="en-US" sz="1800" b="1" dirty="0">
                <a:solidFill>
                  <a:schemeClr val="accent3"/>
                </a:solidFill>
              </a:rPr>
              <a:t>JavaScript: fails at runtime</a:t>
            </a:r>
            <a:endParaRPr lang="en-US" sz="1800" dirty="0"/>
          </a:p>
        </p:txBody>
      </p:sp>
      <p:sp>
        <p:nvSpPr>
          <p:cNvPr id="4" name="code-panel-280"/>
          <p:cNvSpPr/>
          <p:nvPr/>
        </p:nvSpPr>
        <p:spPr>
          <a:xfrm>
            <a:off x="548640" y="1783080"/>
            <a:ext cx="5449824" cy="3657600"/>
          </a:xfrm>
          <a:prstGeom prst="roundRect">
            <a:avLst>
              <a:gd name="adj" fmla="val 2000"/>
            </a:avLst>
          </a:prstGeom>
          <a:solidFill>
            <a:schemeClr val="tx2"/>
          </a:solidFill>
          <a:ln w="12700">
            <a:solidFill>
              <a:schemeClr val="tx2"/>
            </a:solidFill>
            <a:prstDash val="solid"/>
          </a:ln>
        </p:spPr>
      </p:sp>
      <p:sp>
        <p:nvSpPr>
          <p:cNvPr id="5" name="code-281"/>
          <p:cNvSpPr txBox="1"/>
          <p:nvPr/>
        </p:nvSpPr>
        <p:spPr>
          <a:xfrm>
            <a:off x="777240" y="1947672"/>
            <a:ext cx="4992624" cy="3383280"/>
          </a:xfrm>
          <a:prstGeom prst="rect">
            <a:avLst/>
          </a:prstGeom>
          <a:noFill/>
          <a:ln/>
        </p:spPr>
        <p:txBody>
          <a:bodyPr wrap="square" lIns="0" tIns="0" rIns="0" bIns="0" rtlCol="0" anchor="t"/>
          <a:lstStyle/>
          <a:p>
            <a:pPr indent="0" marL="0">
              <a:buNone/>
            </a:pPr>
            <a:r>
              <a:rPr lang="en-US" sz="1400" dirty="0">
                <a:solidFill>
                  <a:srgbClr val="C792EA"/>
                </a:solidFill>
                <a:latin typeface="Courier New" pitchFamily="34" charset="0"/>
                <a:ea typeface="Courier New" pitchFamily="34" charset="-122"/>
                <a:cs typeface="Courier New" pitchFamily="34" charset="-120"/>
              </a:rPr>
              <a:t>function </a:t>
            </a:r>
            <a:pPr indent="0" marL="0">
              <a:buNone/>
            </a:pPr>
            <a:r>
              <a:rPr lang="en-US" sz="1400" dirty="0">
                <a:solidFill>
                  <a:srgbClr val="E5E7EB"/>
                </a:solidFill>
                <a:latin typeface="Courier New" pitchFamily="34" charset="0"/>
                <a:ea typeface="Courier New" pitchFamily="34" charset="-122"/>
                <a:cs typeface="Courier New" pitchFamily="34" charset="-120"/>
              </a:rPr>
              <a:t>avg(students)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return </a:t>
            </a:r>
            <a:pPr indent="0" marL="0">
              <a:buNone/>
            </a:pPr>
            <a:r>
              <a:rPr lang="en-US" sz="1400" dirty="0">
                <a:solidFill>
                  <a:srgbClr val="E5E7EB"/>
                </a:solidFill>
                <a:latin typeface="Courier New" pitchFamily="34" charset="0"/>
                <a:ea typeface="Courier New" pitchFamily="34" charset="-122"/>
                <a:cs typeface="Courier New" pitchFamily="34" charset="-120"/>
              </a:rPr>
              <a:t>students.reduce(</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(sum, s) =&gt; sum + s.scroe, </a:t>
            </a:r>
            <a:pPr indent="0" marL="0">
              <a:buNone/>
            </a:pPr>
            <a:r>
              <a:rPr lang="en-US" sz="1400" dirty="0">
                <a:solidFill>
                  <a:srgbClr val="F7B267"/>
                </a:solidFill>
                <a:latin typeface="Courier New" pitchFamily="34" charset="0"/>
                <a:ea typeface="Courier New" pitchFamily="34" charset="-122"/>
                <a:cs typeface="Courier New" pitchFamily="34" charset="-120"/>
              </a:rPr>
              <a:t>0</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 / students.length;</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avg([{ score: </a:t>
            </a:r>
            <a:pPr indent="0" marL="0">
              <a:buNone/>
            </a:pPr>
            <a:r>
              <a:rPr lang="en-US" sz="1400" dirty="0">
                <a:solidFill>
                  <a:srgbClr val="F7B267"/>
                </a:solidFill>
                <a:latin typeface="Courier New" pitchFamily="34" charset="0"/>
                <a:ea typeface="Courier New" pitchFamily="34" charset="-122"/>
                <a:cs typeface="Courier New" pitchFamily="34" charset="-120"/>
              </a:rPr>
              <a:t>90 </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NaN, no error</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avg(</a:t>
            </a:r>
            <a:pPr indent="0" marL="0">
              <a:buNone/>
            </a:pPr>
            <a:r>
              <a:rPr lang="en-US" sz="1400" dirty="0">
                <a:solidFill>
                  <a:srgbClr val="A5D6A7"/>
                </a:solidFill>
                <a:latin typeface="Courier New" pitchFamily="34" charset="0"/>
                <a:ea typeface="Courier New" pitchFamily="34" charset="-122"/>
                <a:cs typeface="Courier New" pitchFamily="34" charset="-120"/>
              </a:rPr>
              <a:t>"oops"</a:t>
            </a:r>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i="1" dirty="0">
                <a:solidFill>
                  <a:srgbClr val="8B949E"/>
                </a:solidFill>
                <a:latin typeface="Courier New" pitchFamily="34" charset="0"/>
                <a:ea typeface="Courier New" pitchFamily="34" charset="-122"/>
                <a:cs typeface="Courier New" pitchFamily="34" charset="-120"/>
              </a:rPr>
              <a:t>// TypeError at runtime</a:t>
            </a:r>
            <a:endParaRPr lang="en-US" sz="1400" dirty="0"/>
          </a:p>
        </p:txBody>
      </p:sp>
      <p:sp>
        <p:nvSpPr>
          <p:cNvPr id="6" name="ts-head"/>
          <p:cNvSpPr txBox="1"/>
          <p:nvPr/>
        </p:nvSpPr>
        <p:spPr>
          <a:xfrm>
            <a:off x="6190488" y="1325880"/>
            <a:ext cx="5449824" cy="411480"/>
          </a:xfrm>
          <a:prstGeom prst="rect">
            <a:avLst/>
          </a:prstGeom>
          <a:noFill/>
          <a:ln/>
        </p:spPr>
        <p:txBody>
          <a:bodyPr wrap="square" lIns="0" tIns="0" rIns="0" bIns="0" rtlCol="0" anchor="ctr"/>
          <a:lstStyle/>
          <a:p>
            <a:pPr indent="0" marL="0">
              <a:buNone/>
            </a:pPr>
            <a:r>
              <a:rPr lang="en-US" sz="1800" b="1" dirty="0">
                <a:solidFill>
                  <a:schemeClr val="accent2"/>
                </a:solidFill>
              </a:rPr>
              <a:t>TypeScript: fails in the editor</a:t>
            </a:r>
            <a:endParaRPr lang="en-US" sz="1800" dirty="0"/>
          </a:p>
        </p:txBody>
      </p:sp>
      <p:sp>
        <p:nvSpPr>
          <p:cNvPr id="7" name="code-panel-282"/>
          <p:cNvSpPr/>
          <p:nvPr/>
        </p:nvSpPr>
        <p:spPr>
          <a:xfrm>
            <a:off x="6190488" y="1783080"/>
            <a:ext cx="5449824" cy="3657600"/>
          </a:xfrm>
          <a:prstGeom prst="roundRect">
            <a:avLst>
              <a:gd name="adj" fmla="val 2000"/>
            </a:avLst>
          </a:prstGeom>
          <a:solidFill>
            <a:schemeClr val="tx2"/>
          </a:solidFill>
          <a:ln w="12700">
            <a:solidFill>
              <a:schemeClr val="tx2"/>
            </a:solidFill>
            <a:prstDash val="solid"/>
          </a:ln>
        </p:spPr>
      </p:sp>
      <p:sp>
        <p:nvSpPr>
          <p:cNvPr id="8" name="code-283"/>
          <p:cNvSpPr txBox="1"/>
          <p:nvPr/>
        </p:nvSpPr>
        <p:spPr>
          <a:xfrm>
            <a:off x="6419088" y="1947672"/>
            <a:ext cx="4992624" cy="3383280"/>
          </a:xfrm>
          <a:prstGeom prst="rect">
            <a:avLst/>
          </a:prstGeom>
          <a:noFill/>
          <a:ln/>
        </p:spPr>
        <p:txBody>
          <a:bodyPr wrap="square" lIns="0" tIns="0" rIns="0" bIns="0" rtlCol="0" anchor="t"/>
          <a:lstStyle/>
          <a:p>
            <a:pPr indent="0" marL="0">
              <a:buNone/>
            </a:pPr>
            <a:r>
              <a:rPr lang="en-US" sz="1400" dirty="0">
                <a:solidFill>
                  <a:srgbClr val="C792EA"/>
                </a:solidFill>
                <a:latin typeface="Courier New" pitchFamily="34" charset="0"/>
                <a:ea typeface="Courier New" pitchFamily="34" charset="-122"/>
                <a:cs typeface="Courier New" pitchFamily="34" charset="-120"/>
              </a:rPr>
              <a:t>interface </a:t>
            </a:r>
            <a:pPr indent="0" marL="0">
              <a:buNone/>
            </a:pPr>
            <a:r>
              <a:rPr lang="en-US" sz="1400" dirty="0">
                <a:solidFill>
                  <a:srgbClr val="E5E7EB"/>
                </a:solidFill>
                <a:latin typeface="Courier New" pitchFamily="34" charset="0"/>
                <a:ea typeface="Courier New" pitchFamily="34" charset="-122"/>
                <a:cs typeface="Courier New" pitchFamily="34" charset="-120"/>
              </a:rPr>
              <a:t>Student {</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name: </a:t>
            </a:r>
            <a:pPr indent="0" marL="0">
              <a:buNone/>
            </a:pPr>
            <a:r>
              <a:rPr lang="en-US" sz="1400" dirty="0">
                <a:solidFill>
                  <a:srgbClr val="79B8FF"/>
                </a:solidFill>
                <a:latin typeface="Courier New" pitchFamily="34" charset="0"/>
                <a:ea typeface="Courier New" pitchFamily="34" charset="-122"/>
                <a:cs typeface="Courier New" pitchFamily="34" charset="-120"/>
              </a:rPr>
              <a:t>string</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score: </a:t>
            </a:r>
            <a:pPr indent="0" marL="0">
              <a:buNone/>
            </a:pPr>
            <a:r>
              <a:rPr lang="en-US" sz="1400" dirty="0">
                <a:solidFill>
                  <a:srgbClr val="79B8FF"/>
                </a:solidFill>
                <a:latin typeface="Courier New" pitchFamily="34" charset="0"/>
                <a:ea typeface="Courier New" pitchFamily="34" charset="-122"/>
                <a:cs typeface="Courier New" pitchFamily="34" charset="-120"/>
              </a:rPr>
              <a:t>number</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C792EA"/>
                </a:solidFill>
                <a:latin typeface="Courier New" pitchFamily="34" charset="0"/>
                <a:ea typeface="Courier New" pitchFamily="34" charset="-122"/>
                <a:cs typeface="Courier New" pitchFamily="34" charset="-120"/>
              </a:rPr>
              <a:t>function </a:t>
            </a:r>
            <a:pPr indent="0" marL="0">
              <a:buNone/>
            </a:pPr>
            <a:r>
              <a:rPr lang="en-US" sz="1400" dirty="0">
                <a:solidFill>
                  <a:srgbClr val="E5E7EB"/>
                </a:solidFill>
                <a:latin typeface="Courier New" pitchFamily="34" charset="0"/>
                <a:ea typeface="Courier New" pitchFamily="34" charset="-122"/>
                <a:cs typeface="Courier New" pitchFamily="34" charset="-120"/>
              </a:rPr>
              <a:t>avg(students: Student[]): </a:t>
            </a:r>
            <a:pPr indent="0" marL="0">
              <a:buNone/>
            </a:pPr>
            <a:r>
              <a:rPr lang="en-US" sz="1400" dirty="0">
                <a:solidFill>
                  <a:srgbClr val="79B8FF"/>
                </a:solidFill>
                <a:latin typeface="Courier New" pitchFamily="34" charset="0"/>
                <a:ea typeface="Courier New" pitchFamily="34" charset="-122"/>
                <a:cs typeface="Courier New" pitchFamily="34" charset="-120"/>
              </a:rPr>
              <a:t>number </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a:t>
            </a:r>
            <a:pPr indent="0" marL="0">
              <a:buNone/>
            </a:pPr>
            <a:r>
              <a:rPr lang="en-US" sz="1400" dirty="0">
                <a:solidFill>
                  <a:srgbClr val="C792EA"/>
                </a:solidFill>
                <a:latin typeface="Courier New" pitchFamily="34" charset="0"/>
                <a:ea typeface="Courier New" pitchFamily="34" charset="-122"/>
                <a:cs typeface="Courier New" pitchFamily="34" charset="-120"/>
              </a:rPr>
              <a:t>return </a:t>
            </a:r>
            <a:pPr indent="0" marL="0">
              <a:buNone/>
            </a:pPr>
            <a:r>
              <a:rPr lang="en-US" sz="1400" dirty="0">
                <a:solidFill>
                  <a:srgbClr val="E5E7EB"/>
                </a:solidFill>
                <a:latin typeface="Courier New" pitchFamily="34" charset="0"/>
                <a:ea typeface="Courier New" pitchFamily="34" charset="-122"/>
                <a:cs typeface="Courier New" pitchFamily="34" charset="-120"/>
              </a:rPr>
              <a:t>students.reduce(</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(sum, s) =&gt; sum + s.scroe, </a:t>
            </a:r>
            <a:pPr indent="0" marL="0">
              <a:buNone/>
            </a:pPr>
            <a:r>
              <a:rPr lang="en-US" sz="1400" dirty="0">
                <a:solidFill>
                  <a:srgbClr val="F7B267"/>
                </a:solidFill>
                <a:latin typeface="Courier New" pitchFamily="34" charset="0"/>
                <a:ea typeface="Courier New" pitchFamily="34" charset="-122"/>
                <a:cs typeface="Courier New" pitchFamily="34" charset="-120"/>
              </a:rPr>
              <a:t>0</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  ) / students.length;</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i="1" dirty="0">
                <a:solidFill>
                  <a:srgbClr val="8B949E"/>
                </a:solidFill>
                <a:latin typeface="Courier New" pitchFamily="34" charset="0"/>
                <a:ea typeface="Courier New" pitchFamily="34" charset="-122"/>
                <a:cs typeface="Courier New" pitchFamily="34" charset="-120"/>
              </a:rPr>
              <a:t>// Property 'scroe' does not exist</a:t>
            </a:r>
            <a:endParaRPr lang="en-US" sz="1400" dirty="0"/>
          </a:p>
          <a:p>
            <a:pPr indent="0" marL="0">
              <a:buNone/>
            </a:pPr>
            <a:r>
              <a:rPr lang="en-US" sz="1400" dirty="0">
                <a:solidFill>
                  <a:srgbClr val="E5E7EB"/>
                </a:solidFill>
                <a:latin typeface="Courier New" pitchFamily="34" charset="0"/>
                <a:ea typeface="Courier New" pitchFamily="34" charset="-122"/>
                <a:cs typeface="Courier New" pitchFamily="34" charset="-120"/>
              </a:rPr>
              <a:t>avg(</a:t>
            </a:r>
            <a:pPr indent="0" marL="0">
              <a:buNone/>
            </a:pPr>
            <a:r>
              <a:rPr lang="en-US" sz="1400" dirty="0">
                <a:solidFill>
                  <a:srgbClr val="A5D6A7"/>
                </a:solidFill>
                <a:latin typeface="Courier New" pitchFamily="34" charset="0"/>
                <a:ea typeface="Courier New" pitchFamily="34" charset="-122"/>
                <a:cs typeface="Courier New" pitchFamily="34" charset="-120"/>
              </a:rPr>
              <a:t>"oops"</a:t>
            </a:r>
            <a:pPr indent="0" marL="0">
              <a:buNone/>
            </a:pPr>
            <a:r>
              <a:rPr lang="en-US" sz="1400" dirty="0">
                <a:solidFill>
                  <a:srgbClr val="E5E7EB"/>
                </a:solidFill>
                <a:latin typeface="Courier New" pitchFamily="34" charset="0"/>
                <a:ea typeface="Courier New" pitchFamily="34" charset="-122"/>
                <a:cs typeface="Courier New" pitchFamily="34" charset="-120"/>
              </a:rPr>
              <a:t>);</a:t>
            </a:r>
            <a:endParaRPr lang="en-US" sz="1400" dirty="0"/>
          </a:p>
          <a:p>
            <a:pPr indent="0" marL="0">
              <a:buNone/>
            </a:pPr>
            <a:r>
              <a:rPr lang="en-US" sz="1400" i="1" dirty="0">
                <a:solidFill>
                  <a:srgbClr val="8B949E"/>
                </a:solidFill>
                <a:latin typeface="Courier New" pitchFamily="34" charset="0"/>
                <a:ea typeface="Courier New" pitchFamily="34" charset="-122"/>
                <a:cs typeface="Courier New" pitchFamily="34" charset="-120"/>
              </a:rPr>
              <a:t>// 'string' is not assignable to 'Student[]'</a:t>
            </a:r>
            <a:endParaRPr lang="en-US" sz="1400" dirty="0"/>
          </a:p>
        </p:txBody>
      </p:sp>
      <p:sp>
        <p:nvSpPr>
          <p:cNvPr id="9" name="ts-note"/>
          <p:cNvSpPr txBox="1"/>
          <p:nvPr/>
        </p:nvSpPr>
        <p:spPr>
          <a:xfrm>
            <a:off x="548640" y="5577840"/>
            <a:ext cx="11091672" cy="594360"/>
          </a:xfrm>
          <a:prstGeom prst="rect">
            <a:avLst/>
          </a:prstGeom>
          <a:noFill/>
          <a:ln/>
        </p:spPr>
        <p:txBody>
          <a:bodyPr wrap="square" lIns="0" tIns="0" rIns="0" bIns="0" rtlCol="0" anchor="ctr"/>
          <a:lstStyle/>
          <a:p>
            <a:pPr indent="0" marL="0">
              <a:buNone/>
            </a:pPr>
            <a:r>
              <a:rPr lang="en-US" sz="1600" dirty="0">
                <a:solidFill>
                  <a:schemeClr val="tx1"/>
                </a:solidFill>
              </a:rPr>
              <a:t>TypeScript is JavaScript plus types. Types are checked at build time and then removed: everything from today still applies at runtime.</a:t>
            </a:r>
            <a:endParaRPr lang="en-US" sz="16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How today connects to the rest of the course</a:t>
            </a:r>
            <a:endParaRPr lang="en-US" sz="3200" dirty="0"/>
          </a:p>
        </p:txBody>
      </p:sp>
      <p:sp>
        <p:nvSpPr>
          <p:cNvPr id="3" name="stage-284"/>
          <p:cNvSpPr txBox="1"/>
          <p:nvPr/>
        </p:nvSpPr>
        <p:spPr>
          <a:xfrm>
            <a:off x="548640" y="1463040"/>
            <a:ext cx="2011680" cy="1143000"/>
          </a:xfrm>
          <a:prstGeom prst="roundRect">
            <a:avLst>
              <a:gd name="adj" fmla="val 6400"/>
            </a:avLst>
          </a:prstGeom>
          <a:solidFill>
            <a:schemeClr val="accent1"/>
          </a:solidFill>
          <a:ln>
            <a:solidFill>
              <a:schemeClr val="accent1"/>
            </a:solidFill>
          </a:ln>
        </p:spPr>
        <p:txBody>
          <a:bodyPr wrap="square" lIns="50800" tIns="50800" rIns="50800" bIns="50800" rtlCol="0" anchor="ctr"/>
          <a:lstStyle/>
          <a:p>
            <a:pPr algn="ctr" indent="0" marL="0">
              <a:buNone/>
            </a:pPr>
            <a:r>
              <a:rPr lang="en-US" sz="1800" b="1" dirty="0">
                <a:solidFill>
                  <a:srgbClr val="1B1B1F"/>
                </a:solidFill>
              </a:rPr>
              <a:t>JavaScript</a:t>
            </a:r>
            <a:endParaRPr lang="en-US" sz="1800" dirty="0"/>
          </a:p>
          <a:p>
            <a:pPr algn="ctr" indent="0" marL="0">
              <a:buNone/>
            </a:pPr>
            <a:r>
              <a:rPr lang="en-US" sz="1300" dirty="0">
                <a:solidFill>
                  <a:srgbClr val="1B1B1F"/>
                </a:solidFill>
              </a:rPr>
              <a:t>today</a:t>
            </a:r>
            <a:endParaRPr lang="en-US" sz="1800" dirty="0"/>
          </a:p>
        </p:txBody>
      </p:sp>
      <p:sp>
        <p:nvSpPr>
          <p:cNvPr id="4" name="arrow-285"/>
          <p:cNvSpPr/>
          <p:nvPr/>
        </p:nvSpPr>
        <p:spPr>
          <a:xfrm>
            <a:off x="2587752" y="2034540"/>
            <a:ext cx="203911" cy="0"/>
          </a:xfrm>
          <a:prstGeom prst="line">
            <a:avLst/>
          </a:prstGeom>
          <a:noFill/>
          <a:ln w="25400">
            <a:solidFill>
              <a:srgbClr val="6B7280"/>
            </a:solidFill>
            <a:prstDash val="solid"/>
            <a:tailEnd type="triangle"/>
          </a:ln>
        </p:spPr>
      </p:sp>
      <p:sp>
        <p:nvSpPr>
          <p:cNvPr id="5" name="stage-label-286"/>
          <p:cNvSpPr txBox="1"/>
          <p:nvPr/>
        </p:nvSpPr>
        <p:spPr>
          <a:xfrm>
            <a:off x="548640" y="2788920"/>
            <a:ext cx="2011680" cy="320040"/>
          </a:xfrm>
          <a:prstGeom prst="rect">
            <a:avLst/>
          </a:prstGeom>
          <a:noFill/>
          <a:ln/>
        </p:spPr>
        <p:txBody>
          <a:bodyPr wrap="square" lIns="0" tIns="0" rIns="0" bIns="0" rtlCol="0" anchor="ctr"/>
          <a:lstStyle/>
          <a:p>
            <a:pPr indent="0" marL="0">
              <a:buNone/>
            </a:pPr>
            <a:r>
              <a:rPr lang="en-US" sz="1300" b="1" dirty="0">
                <a:solidFill>
                  <a:srgbClr val="6B7280"/>
                </a:solidFill>
              </a:rPr>
              <a:t>Builds on:</a:t>
            </a:r>
            <a:endParaRPr lang="en-US" sz="1300" dirty="0"/>
          </a:p>
        </p:txBody>
      </p:sp>
      <p:sp>
        <p:nvSpPr>
          <p:cNvPr id="6" name="stage-list-287"/>
          <p:cNvSpPr txBox="1"/>
          <p:nvPr/>
        </p:nvSpPr>
        <p:spPr>
          <a:xfrm>
            <a:off x="548640" y="3154680"/>
            <a:ext cx="2011680" cy="109728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374151"/>
                </a:solidFill>
              </a:rPr>
              <a:t>the whole runtime model</a:t>
            </a:r>
            <a:endParaRPr lang="en-US" sz="1400" dirty="0"/>
          </a:p>
        </p:txBody>
      </p:sp>
      <p:sp>
        <p:nvSpPr>
          <p:cNvPr id="7" name="stage-288"/>
          <p:cNvSpPr txBox="1"/>
          <p:nvPr/>
        </p:nvSpPr>
        <p:spPr>
          <a:xfrm>
            <a:off x="2819095" y="1463040"/>
            <a:ext cx="2011680" cy="1143000"/>
          </a:xfrm>
          <a:prstGeom prst="roundRect">
            <a:avLst>
              <a:gd name="adj" fmla="val 6400"/>
            </a:avLst>
          </a:prstGeom>
          <a:solidFill>
            <a:schemeClr val="accent2"/>
          </a:solidFill>
          <a:ln>
            <a:solidFill>
              <a:schemeClr val="accent2"/>
            </a:solidFill>
          </a:ln>
        </p:spPr>
        <p:txBody>
          <a:bodyPr wrap="square" lIns="50800" tIns="50800" rIns="50800" bIns="50800" rtlCol="0" anchor="ctr"/>
          <a:lstStyle/>
          <a:p>
            <a:pPr algn="ctr" indent="0" marL="0">
              <a:buNone/>
            </a:pPr>
            <a:r>
              <a:rPr lang="en-US" sz="1800" b="1" dirty="0">
                <a:solidFill>
                  <a:srgbClr val="FFFFFF"/>
                </a:solidFill>
              </a:rPr>
              <a:t>TypeScript</a:t>
            </a:r>
            <a:endParaRPr lang="en-US" sz="1800" dirty="0"/>
          </a:p>
          <a:p>
            <a:pPr algn="ctr" indent="0" marL="0">
              <a:buNone/>
            </a:pPr>
            <a:r>
              <a:rPr lang="en-US" sz="1300" dirty="0">
                <a:solidFill>
                  <a:srgbClr val="FFFFFF"/>
                </a:solidFill>
              </a:rPr>
              <a:t>next</a:t>
            </a:r>
            <a:endParaRPr lang="en-US" sz="1800" dirty="0"/>
          </a:p>
        </p:txBody>
      </p:sp>
      <p:sp>
        <p:nvSpPr>
          <p:cNvPr id="8" name="arrow-289"/>
          <p:cNvSpPr/>
          <p:nvPr/>
        </p:nvSpPr>
        <p:spPr>
          <a:xfrm>
            <a:off x="4858207" y="2034540"/>
            <a:ext cx="203911" cy="0"/>
          </a:xfrm>
          <a:prstGeom prst="line">
            <a:avLst/>
          </a:prstGeom>
          <a:noFill/>
          <a:ln w="25400">
            <a:solidFill>
              <a:srgbClr val="6B7280"/>
            </a:solidFill>
            <a:prstDash val="solid"/>
            <a:tailEnd type="triangle"/>
          </a:ln>
        </p:spPr>
      </p:sp>
      <p:sp>
        <p:nvSpPr>
          <p:cNvPr id="9" name="stage-label-290"/>
          <p:cNvSpPr txBox="1"/>
          <p:nvPr/>
        </p:nvSpPr>
        <p:spPr>
          <a:xfrm>
            <a:off x="2819095" y="2788920"/>
            <a:ext cx="2011680" cy="320040"/>
          </a:xfrm>
          <a:prstGeom prst="rect">
            <a:avLst/>
          </a:prstGeom>
          <a:noFill/>
          <a:ln/>
        </p:spPr>
        <p:txBody>
          <a:bodyPr wrap="square" lIns="0" tIns="0" rIns="0" bIns="0" rtlCol="0" anchor="ctr"/>
          <a:lstStyle/>
          <a:p>
            <a:pPr indent="0" marL="0">
              <a:buNone/>
            </a:pPr>
            <a:r>
              <a:rPr lang="en-US" sz="1300" b="1" dirty="0">
                <a:solidFill>
                  <a:srgbClr val="6B7280"/>
                </a:solidFill>
              </a:rPr>
              <a:t>Uses from today:</a:t>
            </a:r>
            <a:endParaRPr lang="en-US" sz="1300" dirty="0"/>
          </a:p>
        </p:txBody>
      </p:sp>
      <p:sp>
        <p:nvSpPr>
          <p:cNvPr id="10" name="stage-list-291"/>
          <p:cNvSpPr txBox="1"/>
          <p:nvPr/>
        </p:nvSpPr>
        <p:spPr>
          <a:xfrm>
            <a:off x="2819095" y="3154680"/>
            <a:ext cx="2011680" cy="109728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374151"/>
                </a:solidFill>
              </a:rPr>
              <a:t>types on top of JS</a:t>
            </a:r>
            <a:endParaRPr lang="en-US" sz="1400" dirty="0"/>
          </a:p>
          <a:p>
            <a:pPr marL="152400" indent="-152400">
              <a:spcAft>
                <a:spcPts val="400"/>
              </a:spcAft>
              <a:buSzPct val="100000"/>
              <a:buChar char="•"/>
            </a:pPr>
            <a:r>
              <a:rPr lang="en-US" sz="1400" dirty="0">
                <a:solidFill>
                  <a:srgbClr val="374151"/>
                </a:solidFill>
              </a:rPr>
              <a:t>interfaces, generics</a:t>
            </a:r>
            <a:endParaRPr lang="en-US" sz="1400" dirty="0"/>
          </a:p>
        </p:txBody>
      </p:sp>
      <p:sp>
        <p:nvSpPr>
          <p:cNvPr id="11" name="stage-292"/>
          <p:cNvSpPr txBox="1"/>
          <p:nvPr/>
        </p:nvSpPr>
        <p:spPr>
          <a:xfrm>
            <a:off x="5089550" y="1463040"/>
            <a:ext cx="2011680" cy="1143000"/>
          </a:xfrm>
          <a:prstGeom prst="roundRect">
            <a:avLst>
              <a:gd name="adj" fmla="val 6400"/>
            </a:avLst>
          </a:prstGeom>
          <a:solidFill>
            <a:schemeClr val="tx2"/>
          </a:solidFill>
          <a:ln>
            <a:solidFill>
              <a:schemeClr val="tx2"/>
            </a:solidFill>
          </a:ln>
        </p:spPr>
        <p:txBody>
          <a:bodyPr wrap="square" lIns="50800" tIns="50800" rIns="50800" bIns="50800" rtlCol="0" anchor="ctr"/>
          <a:lstStyle/>
          <a:p>
            <a:pPr algn="ctr" indent="0" marL="0">
              <a:buNone/>
            </a:pPr>
            <a:r>
              <a:rPr lang="en-US" sz="1800" b="1" dirty="0">
                <a:solidFill>
                  <a:srgbClr val="FFFFFF"/>
                </a:solidFill>
              </a:rPr>
              <a:t>React / Vue</a:t>
            </a:r>
            <a:endParaRPr lang="en-US" sz="1800" dirty="0"/>
          </a:p>
          <a:p>
            <a:pPr algn="ctr" indent="0" marL="0">
              <a:buNone/>
            </a:pPr>
            <a:r>
              <a:rPr lang="en-US" sz="1300" dirty="0">
                <a:solidFill>
                  <a:srgbClr val="FFFFFF"/>
                </a:solidFill>
              </a:rPr>
              <a:t>frontend</a:t>
            </a:r>
            <a:endParaRPr lang="en-US" sz="1800" dirty="0"/>
          </a:p>
        </p:txBody>
      </p:sp>
      <p:sp>
        <p:nvSpPr>
          <p:cNvPr id="12" name="arrow-293"/>
          <p:cNvSpPr/>
          <p:nvPr/>
        </p:nvSpPr>
        <p:spPr>
          <a:xfrm>
            <a:off x="7128662" y="2034540"/>
            <a:ext cx="203911" cy="0"/>
          </a:xfrm>
          <a:prstGeom prst="line">
            <a:avLst/>
          </a:prstGeom>
          <a:noFill/>
          <a:ln w="25400">
            <a:solidFill>
              <a:srgbClr val="6B7280"/>
            </a:solidFill>
            <a:prstDash val="solid"/>
            <a:tailEnd type="triangle"/>
          </a:ln>
        </p:spPr>
      </p:sp>
      <p:sp>
        <p:nvSpPr>
          <p:cNvPr id="13" name="stage-label-294"/>
          <p:cNvSpPr txBox="1"/>
          <p:nvPr/>
        </p:nvSpPr>
        <p:spPr>
          <a:xfrm>
            <a:off x="5089550" y="2788920"/>
            <a:ext cx="2011680" cy="320040"/>
          </a:xfrm>
          <a:prstGeom prst="rect">
            <a:avLst/>
          </a:prstGeom>
          <a:noFill/>
          <a:ln/>
        </p:spPr>
        <p:txBody>
          <a:bodyPr wrap="square" lIns="0" tIns="0" rIns="0" bIns="0" rtlCol="0" anchor="ctr"/>
          <a:lstStyle/>
          <a:p>
            <a:pPr indent="0" marL="0">
              <a:buNone/>
            </a:pPr>
            <a:r>
              <a:rPr lang="en-US" sz="1300" b="1" dirty="0">
                <a:solidFill>
                  <a:srgbClr val="6B7280"/>
                </a:solidFill>
              </a:rPr>
              <a:t>Uses from today:</a:t>
            </a:r>
            <a:endParaRPr lang="en-US" sz="1300" dirty="0"/>
          </a:p>
        </p:txBody>
      </p:sp>
      <p:sp>
        <p:nvSpPr>
          <p:cNvPr id="14" name="stage-list-295"/>
          <p:cNvSpPr txBox="1"/>
          <p:nvPr/>
        </p:nvSpPr>
        <p:spPr>
          <a:xfrm>
            <a:off x="5089550" y="3154680"/>
            <a:ext cx="2011680" cy="109728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374151"/>
                </a:solidFill>
              </a:rPr>
              <a:t>closures, map, spread</a:t>
            </a:r>
            <a:endParaRPr lang="en-US" sz="1400" dirty="0"/>
          </a:p>
          <a:p>
            <a:pPr marL="152400" indent="-152400">
              <a:spcAft>
                <a:spcPts val="400"/>
              </a:spcAft>
              <a:buSzPct val="100000"/>
              <a:buChar char="•"/>
            </a:pPr>
            <a:r>
              <a:rPr lang="en-US" sz="1400" dirty="0">
                <a:solidFill>
                  <a:srgbClr val="374151"/>
                </a:solidFill>
              </a:rPr>
              <a:t>modules, fetch, DOM</a:t>
            </a:r>
            <a:endParaRPr lang="en-US" sz="1400" dirty="0"/>
          </a:p>
        </p:txBody>
      </p:sp>
      <p:sp>
        <p:nvSpPr>
          <p:cNvPr id="15" name="stage-296"/>
          <p:cNvSpPr txBox="1"/>
          <p:nvPr/>
        </p:nvSpPr>
        <p:spPr>
          <a:xfrm>
            <a:off x="7360006" y="1463040"/>
            <a:ext cx="2011680" cy="1143000"/>
          </a:xfrm>
          <a:prstGeom prst="roundRect">
            <a:avLst>
              <a:gd name="adj" fmla="val 6400"/>
            </a:avLst>
          </a:prstGeom>
          <a:solidFill>
            <a:schemeClr val="tx2"/>
          </a:solidFill>
          <a:ln>
            <a:solidFill>
              <a:schemeClr val="tx2"/>
            </a:solidFill>
          </a:ln>
        </p:spPr>
        <p:txBody>
          <a:bodyPr wrap="square" lIns="50800" tIns="50800" rIns="50800" bIns="50800" rtlCol="0" anchor="ctr"/>
          <a:lstStyle/>
          <a:p>
            <a:pPr algn="ctr" indent="0" marL="0">
              <a:buNone/>
            </a:pPr>
            <a:r>
              <a:rPr lang="en-US" sz="1800" b="1" dirty="0">
                <a:solidFill>
                  <a:srgbClr val="FFFFFF"/>
                </a:solidFill>
              </a:rPr>
              <a:t>NestJS</a:t>
            </a:r>
            <a:endParaRPr lang="en-US" sz="1800" dirty="0"/>
          </a:p>
          <a:p>
            <a:pPr algn="ctr" indent="0" marL="0">
              <a:buNone/>
            </a:pPr>
            <a:r>
              <a:rPr lang="en-US" sz="1300" dirty="0">
                <a:solidFill>
                  <a:srgbClr val="FFFFFF"/>
                </a:solidFill>
              </a:rPr>
              <a:t>backend API</a:t>
            </a:r>
            <a:endParaRPr lang="en-US" sz="1800" dirty="0"/>
          </a:p>
        </p:txBody>
      </p:sp>
      <p:sp>
        <p:nvSpPr>
          <p:cNvPr id="16" name="arrow-297"/>
          <p:cNvSpPr/>
          <p:nvPr/>
        </p:nvSpPr>
        <p:spPr>
          <a:xfrm>
            <a:off x="9399118" y="2034540"/>
            <a:ext cx="203911" cy="0"/>
          </a:xfrm>
          <a:prstGeom prst="line">
            <a:avLst/>
          </a:prstGeom>
          <a:noFill/>
          <a:ln w="25400">
            <a:solidFill>
              <a:srgbClr val="6B7280"/>
            </a:solidFill>
            <a:prstDash val="solid"/>
            <a:tailEnd type="triangle"/>
          </a:ln>
        </p:spPr>
      </p:sp>
      <p:sp>
        <p:nvSpPr>
          <p:cNvPr id="17" name="stage-label-298"/>
          <p:cNvSpPr txBox="1"/>
          <p:nvPr/>
        </p:nvSpPr>
        <p:spPr>
          <a:xfrm>
            <a:off x="7360006" y="2788920"/>
            <a:ext cx="2011680" cy="320040"/>
          </a:xfrm>
          <a:prstGeom prst="rect">
            <a:avLst/>
          </a:prstGeom>
          <a:noFill/>
          <a:ln/>
        </p:spPr>
        <p:txBody>
          <a:bodyPr wrap="square" lIns="0" tIns="0" rIns="0" bIns="0" rtlCol="0" anchor="ctr"/>
          <a:lstStyle/>
          <a:p>
            <a:pPr indent="0" marL="0">
              <a:buNone/>
            </a:pPr>
            <a:r>
              <a:rPr lang="en-US" sz="1300" b="1" dirty="0">
                <a:solidFill>
                  <a:srgbClr val="6B7280"/>
                </a:solidFill>
              </a:rPr>
              <a:t>Uses from today:</a:t>
            </a:r>
            <a:endParaRPr lang="en-US" sz="1300" dirty="0"/>
          </a:p>
        </p:txBody>
      </p:sp>
      <p:sp>
        <p:nvSpPr>
          <p:cNvPr id="18" name="stage-list-299"/>
          <p:cNvSpPr txBox="1"/>
          <p:nvPr/>
        </p:nvSpPr>
        <p:spPr>
          <a:xfrm>
            <a:off x="7360006" y="3154680"/>
            <a:ext cx="2011680" cy="109728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374151"/>
                </a:solidFill>
              </a:rPr>
              <a:t>classes, this</a:t>
            </a:r>
            <a:endParaRPr lang="en-US" sz="1400" dirty="0"/>
          </a:p>
          <a:p>
            <a:pPr marL="152400" indent="-152400">
              <a:spcAft>
                <a:spcPts val="400"/>
              </a:spcAft>
              <a:buSzPct val="100000"/>
              <a:buChar char="•"/>
            </a:pPr>
            <a:r>
              <a:rPr lang="en-US" sz="1400" dirty="0">
                <a:solidFill>
                  <a:srgbClr val="374151"/>
                </a:solidFill>
              </a:rPr>
              <a:t>async/await, modules</a:t>
            </a:r>
            <a:endParaRPr lang="en-US" sz="1400" dirty="0"/>
          </a:p>
        </p:txBody>
      </p:sp>
      <p:sp>
        <p:nvSpPr>
          <p:cNvPr id="19" name="stage-300"/>
          <p:cNvSpPr txBox="1"/>
          <p:nvPr/>
        </p:nvSpPr>
        <p:spPr>
          <a:xfrm>
            <a:off x="9630461" y="1463040"/>
            <a:ext cx="2011680" cy="1143000"/>
          </a:xfrm>
          <a:prstGeom prst="roundRect">
            <a:avLst>
              <a:gd name="adj" fmla="val 6400"/>
            </a:avLst>
          </a:prstGeom>
          <a:solidFill>
            <a:schemeClr val="tx2"/>
          </a:solidFill>
          <a:ln>
            <a:solidFill>
              <a:schemeClr val="tx2"/>
            </a:solidFill>
          </a:ln>
        </p:spPr>
        <p:txBody>
          <a:bodyPr wrap="square" lIns="50800" tIns="50800" rIns="50800" bIns="50800" rtlCol="0" anchor="ctr"/>
          <a:lstStyle/>
          <a:p>
            <a:pPr algn="ctr" indent="0" marL="0">
              <a:buNone/>
            </a:pPr>
            <a:r>
              <a:rPr lang="en-US" sz="1800" b="1" dirty="0">
                <a:solidFill>
                  <a:srgbClr val="FFFFFF"/>
                </a:solidFill>
              </a:rPr>
              <a:t>PostgreSQL</a:t>
            </a:r>
            <a:endParaRPr lang="en-US" sz="1800" dirty="0"/>
          </a:p>
          <a:p>
            <a:pPr algn="ctr" indent="0" marL="0">
              <a:buNone/>
            </a:pPr>
            <a:r>
              <a:rPr lang="en-US" sz="1300" dirty="0">
                <a:solidFill>
                  <a:srgbClr val="FFFFFF"/>
                </a:solidFill>
              </a:rPr>
              <a:t>with Prisma or TypeORM</a:t>
            </a:r>
            <a:endParaRPr lang="en-US" sz="1800" dirty="0"/>
          </a:p>
        </p:txBody>
      </p:sp>
      <p:sp>
        <p:nvSpPr>
          <p:cNvPr id="20" name="stage-label-301"/>
          <p:cNvSpPr txBox="1"/>
          <p:nvPr/>
        </p:nvSpPr>
        <p:spPr>
          <a:xfrm>
            <a:off x="9630461" y="2788920"/>
            <a:ext cx="2011680" cy="320040"/>
          </a:xfrm>
          <a:prstGeom prst="rect">
            <a:avLst/>
          </a:prstGeom>
          <a:noFill/>
          <a:ln/>
        </p:spPr>
        <p:txBody>
          <a:bodyPr wrap="square" lIns="0" tIns="0" rIns="0" bIns="0" rtlCol="0" anchor="ctr"/>
          <a:lstStyle/>
          <a:p>
            <a:pPr indent="0" marL="0">
              <a:buNone/>
            </a:pPr>
            <a:r>
              <a:rPr lang="en-US" sz="1300" b="1" dirty="0">
                <a:solidFill>
                  <a:srgbClr val="6B7280"/>
                </a:solidFill>
              </a:rPr>
              <a:t>Uses from today:</a:t>
            </a:r>
            <a:endParaRPr lang="en-US" sz="1300" dirty="0"/>
          </a:p>
        </p:txBody>
      </p:sp>
      <p:sp>
        <p:nvSpPr>
          <p:cNvPr id="21" name="stage-list-302"/>
          <p:cNvSpPr txBox="1"/>
          <p:nvPr/>
        </p:nvSpPr>
        <p:spPr>
          <a:xfrm>
            <a:off x="9630461" y="3154680"/>
            <a:ext cx="2011680" cy="109728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374151"/>
                </a:solidFill>
              </a:rPr>
              <a:t>promises, objects</a:t>
            </a:r>
            <a:endParaRPr lang="en-US" sz="1400" dirty="0"/>
          </a:p>
          <a:p>
            <a:pPr marL="152400" indent="-152400">
              <a:spcAft>
                <a:spcPts val="400"/>
              </a:spcAft>
              <a:buSzPct val="100000"/>
              <a:buChar char="•"/>
            </a:pPr>
            <a:r>
              <a:rPr lang="en-US" sz="1400" dirty="0">
                <a:solidFill>
                  <a:srgbClr val="374151"/>
                </a:solidFill>
              </a:rPr>
              <a:t>references, numbers</a:t>
            </a:r>
            <a:endParaRPr lang="en-US" sz="1400" dirty="0"/>
          </a:p>
        </p:txBody>
      </p:sp>
      <p:sp>
        <p:nvSpPr>
          <p:cNvPr id="22" name="road-bottom"/>
          <p:cNvSpPr/>
          <p:nvPr/>
        </p:nvSpPr>
        <p:spPr>
          <a:xfrm>
            <a:off x="548640" y="4526280"/>
            <a:ext cx="11091672" cy="1645920"/>
          </a:xfrm>
          <a:prstGeom prst="roundRect">
            <a:avLst>
              <a:gd name="adj" fmla="val 4444"/>
            </a:avLst>
          </a:prstGeom>
          <a:solidFill>
            <a:schemeClr val="bg2"/>
          </a:solidFill>
          <a:ln w="12700">
            <a:solidFill>
              <a:schemeClr val="bg2"/>
            </a:solidFill>
            <a:prstDash val="solid"/>
          </a:ln>
        </p:spPr>
      </p:sp>
      <p:sp>
        <p:nvSpPr>
          <p:cNvPr id="23" name="road-bottom-text"/>
          <p:cNvSpPr txBox="1"/>
          <p:nvPr/>
        </p:nvSpPr>
        <p:spPr>
          <a:xfrm>
            <a:off x="822960" y="4617720"/>
            <a:ext cx="10607040" cy="1463040"/>
          </a:xfrm>
          <a:prstGeom prst="rect">
            <a:avLst/>
          </a:prstGeom>
          <a:noFill/>
          <a:ln/>
        </p:spPr>
        <p:txBody>
          <a:bodyPr wrap="square" lIns="0" tIns="0" rIns="0" bIns="0" rtlCol="0" anchor="ctr"/>
          <a:lstStyle/>
          <a:p>
            <a:pPr indent="0" marL="0">
              <a:buNone/>
            </a:pPr>
            <a:r>
              <a:rPr lang="en-US" sz="1600" b="1" dirty="0">
                <a:solidFill>
                  <a:schemeClr val="tx1"/>
                </a:solidFill>
              </a:rPr>
              <a:t>Across every week: </a:t>
            </a:r>
            <a:pPr indent="0" marL="0">
              <a:buNone/>
            </a:pPr>
            <a:r>
              <a:rPr lang="en-US" sz="1600" dirty="0">
                <a:solidFill>
                  <a:srgbClr val="374151"/>
                </a:solidFill>
              </a:rPr>
              <a:t>specifications before code, tests and CI as part of “done”, security threaded through, code review of your own and AI-generated code, and later an LLM-powered feature built responsibly.</a:t>
            </a:r>
            <a:endParaRPr lang="en-US" sz="16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rPr>
              <a:t>Takeaways and this week’s lab</a:t>
            </a:r>
            <a:endParaRPr lang="en-US" sz="3200" dirty="0"/>
          </a:p>
        </p:txBody>
      </p:sp>
      <p:sp>
        <p:nvSpPr>
          <p:cNvPr id="3" name="tk-head"/>
          <p:cNvSpPr txBox="1"/>
          <p:nvPr/>
        </p:nvSpPr>
        <p:spPr>
          <a:xfrm>
            <a:off x="548640" y="1325880"/>
            <a:ext cx="5669280" cy="411480"/>
          </a:xfrm>
          <a:prstGeom prst="rect">
            <a:avLst/>
          </a:prstGeom>
          <a:noFill/>
          <a:ln/>
        </p:spPr>
        <p:txBody>
          <a:bodyPr wrap="square" lIns="0" tIns="0" rIns="0" bIns="0" rtlCol="0" anchor="ctr"/>
          <a:lstStyle/>
          <a:p>
            <a:pPr indent="0" marL="0">
              <a:buNone/>
            </a:pPr>
            <a:r>
              <a:rPr lang="en-US" sz="1900" b="1" dirty="0">
                <a:solidFill>
                  <a:schemeClr val="tx1"/>
                </a:solidFill>
              </a:rPr>
              <a:t>Five things to remember</a:t>
            </a:r>
            <a:endParaRPr lang="en-US" sz="1900" dirty="0"/>
          </a:p>
        </p:txBody>
      </p:sp>
      <p:sp>
        <p:nvSpPr>
          <p:cNvPr id="4" name="dot-303"/>
          <p:cNvSpPr txBox="1"/>
          <p:nvPr/>
        </p:nvSpPr>
        <p:spPr>
          <a:xfrm>
            <a:off x="548640" y="1938528"/>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rgbClr val="1B1B1F"/>
                </a:solidFill>
              </a:rPr>
              <a:t>1</a:t>
            </a:r>
            <a:endParaRPr lang="en-US" sz="1500" dirty="0"/>
          </a:p>
        </p:txBody>
      </p:sp>
      <p:sp>
        <p:nvSpPr>
          <p:cNvPr id="5" name="tk-304"/>
          <p:cNvSpPr txBox="1"/>
          <p:nvPr/>
        </p:nvSpPr>
        <p:spPr>
          <a:xfrm>
            <a:off x="1188720" y="1874520"/>
            <a:ext cx="5029200" cy="594360"/>
          </a:xfrm>
          <a:prstGeom prst="rect">
            <a:avLst/>
          </a:prstGeom>
          <a:noFill/>
          <a:ln/>
        </p:spPr>
        <p:txBody>
          <a:bodyPr wrap="square" lIns="0" tIns="0" rIns="0" bIns="0" rtlCol="0" anchor="ctr"/>
          <a:lstStyle/>
          <a:p>
            <a:pPr indent="0" marL="0">
              <a:buNone/>
            </a:pPr>
            <a:r>
              <a:rPr lang="en-US" sz="1600" dirty="0">
                <a:solidFill>
                  <a:schemeClr val="tx1"/>
                </a:solidFill>
              </a:rPr>
              <a:t>const by default, === always</a:t>
            </a:r>
            <a:endParaRPr lang="en-US" sz="1600" dirty="0"/>
          </a:p>
        </p:txBody>
      </p:sp>
      <p:sp>
        <p:nvSpPr>
          <p:cNvPr id="6" name="dot-305"/>
          <p:cNvSpPr txBox="1"/>
          <p:nvPr/>
        </p:nvSpPr>
        <p:spPr>
          <a:xfrm>
            <a:off x="548640" y="278892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rgbClr val="1B1B1F"/>
                </a:solidFill>
              </a:rPr>
              <a:t>2</a:t>
            </a:r>
            <a:endParaRPr lang="en-US" sz="1500" dirty="0"/>
          </a:p>
        </p:txBody>
      </p:sp>
      <p:sp>
        <p:nvSpPr>
          <p:cNvPr id="7" name="tk-306"/>
          <p:cNvSpPr txBox="1"/>
          <p:nvPr/>
        </p:nvSpPr>
        <p:spPr>
          <a:xfrm>
            <a:off x="1188720" y="2724912"/>
            <a:ext cx="5029200" cy="594360"/>
          </a:xfrm>
          <a:prstGeom prst="rect">
            <a:avLst/>
          </a:prstGeom>
          <a:noFill/>
          <a:ln/>
        </p:spPr>
        <p:txBody>
          <a:bodyPr wrap="square" lIns="0" tIns="0" rIns="0" bIns="0" rtlCol="0" anchor="ctr"/>
          <a:lstStyle/>
          <a:p>
            <a:pPr indent="0" marL="0">
              <a:buNone/>
            </a:pPr>
            <a:r>
              <a:rPr lang="en-US" sz="1600" dirty="0">
                <a:solidFill>
                  <a:schemeClr val="tx1"/>
                </a:solidFill>
              </a:rPr>
              <a:t>Functions are values; closures remember their scope</a:t>
            </a:r>
            <a:endParaRPr lang="en-US" sz="1600" dirty="0"/>
          </a:p>
        </p:txBody>
      </p:sp>
      <p:sp>
        <p:nvSpPr>
          <p:cNvPr id="8" name="dot-307"/>
          <p:cNvSpPr txBox="1"/>
          <p:nvPr/>
        </p:nvSpPr>
        <p:spPr>
          <a:xfrm>
            <a:off x="548640" y="3639312"/>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rgbClr val="1B1B1F"/>
                </a:solidFill>
              </a:rPr>
              <a:t>3</a:t>
            </a:r>
            <a:endParaRPr lang="en-US" sz="1500" dirty="0"/>
          </a:p>
        </p:txBody>
      </p:sp>
      <p:sp>
        <p:nvSpPr>
          <p:cNvPr id="9" name="tk-308"/>
          <p:cNvSpPr txBox="1"/>
          <p:nvPr/>
        </p:nvSpPr>
        <p:spPr>
          <a:xfrm>
            <a:off x="1188720" y="3575304"/>
            <a:ext cx="5029200" cy="594360"/>
          </a:xfrm>
          <a:prstGeom prst="rect">
            <a:avLst/>
          </a:prstGeom>
          <a:noFill/>
          <a:ln/>
        </p:spPr>
        <p:txBody>
          <a:bodyPr wrap="square" lIns="0" tIns="0" rIns="0" bIns="0" rtlCol="0" anchor="ctr"/>
          <a:lstStyle/>
          <a:p>
            <a:pPr indent="0" marL="0">
              <a:buNone/>
            </a:pPr>
            <a:r>
              <a:rPr lang="en-US" sz="1600" dirty="0">
                <a:solidFill>
                  <a:schemeClr val="tx1"/>
                </a:solidFill>
              </a:rPr>
              <a:t>Know when you copy and when you share a reference</a:t>
            </a:r>
            <a:endParaRPr lang="en-US" sz="1600" dirty="0"/>
          </a:p>
        </p:txBody>
      </p:sp>
      <p:sp>
        <p:nvSpPr>
          <p:cNvPr id="10" name="dot-309"/>
          <p:cNvSpPr txBox="1"/>
          <p:nvPr/>
        </p:nvSpPr>
        <p:spPr>
          <a:xfrm>
            <a:off x="548640" y="4489704"/>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rgbClr val="1B1B1F"/>
                </a:solidFill>
              </a:rPr>
              <a:t>4</a:t>
            </a:r>
            <a:endParaRPr lang="en-US" sz="1500" dirty="0"/>
          </a:p>
        </p:txBody>
      </p:sp>
      <p:sp>
        <p:nvSpPr>
          <p:cNvPr id="11" name="tk-310"/>
          <p:cNvSpPr txBox="1"/>
          <p:nvPr/>
        </p:nvSpPr>
        <p:spPr>
          <a:xfrm>
            <a:off x="1188720" y="4425696"/>
            <a:ext cx="5029200" cy="594360"/>
          </a:xfrm>
          <a:prstGeom prst="rect">
            <a:avLst/>
          </a:prstGeom>
          <a:noFill/>
          <a:ln/>
        </p:spPr>
        <p:txBody>
          <a:bodyPr wrap="square" lIns="0" tIns="0" rIns="0" bIns="0" rtlCol="0" anchor="ctr"/>
          <a:lstStyle/>
          <a:p>
            <a:pPr indent="0" marL="0">
              <a:buNone/>
            </a:pPr>
            <a:r>
              <a:rPr lang="en-US" sz="1600" dirty="0">
                <a:solidFill>
                  <a:schemeClr val="tx1"/>
                </a:solidFill>
              </a:rPr>
              <a:t>One thread: await every promise, don’t block the loop</a:t>
            </a:r>
            <a:endParaRPr lang="en-US" sz="1600" dirty="0"/>
          </a:p>
        </p:txBody>
      </p:sp>
      <p:sp>
        <p:nvSpPr>
          <p:cNvPr id="12" name="dot-311"/>
          <p:cNvSpPr txBox="1"/>
          <p:nvPr/>
        </p:nvSpPr>
        <p:spPr>
          <a:xfrm>
            <a:off x="548640" y="5340096"/>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rgbClr val="1B1B1F"/>
                </a:solidFill>
              </a:rPr>
              <a:t>5</a:t>
            </a:r>
            <a:endParaRPr lang="en-US" sz="1500" dirty="0"/>
          </a:p>
        </p:txBody>
      </p:sp>
      <p:sp>
        <p:nvSpPr>
          <p:cNvPr id="13" name="tk-312"/>
          <p:cNvSpPr txBox="1"/>
          <p:nvPr/>
        </p:nvSpPr>
        <p:spPr>
          <a:xfrm>
            <a:off x="1188720" y="5276088"/>
            <a:ext cx="5029200" cy="594360"/>
          </a:xfrm>
          <a:prstGeom prst="rect">
            <a:avLst/>
          </a:prstGeom>
          <a:noFill/>
          <a:ln/>
        </p:spPr>
        <p:txBody>
          <a:bodyPr wrap="square" lIns="0" tIns="0" rIns="0" bIns="0" rtlCol="0" anchor="ctr"/>
          <a:lstStyle/>
          <a:p>
            <a:pPr indent="0" marL="0">
              <a:buNone/>
            </a:pPr>
            <a:r>
              <a:rPr lang="en-US" sz="1600" dirty="0">
                <a:solidFill>
                  <a:schemeClr val="tx1"/>
                </a:solidFill>
              </a:rPr>
              <a:t>Predict, test, then trust: especially AI-written code</a:t>
            </a:r>
            <a:endParaRPr lang="en-US" sz="1600" dirty="0"/>
          </a:p>
        </p:txBody>
      </p:sp>
      <p:sp>
        <p:nvSpPr>
          <p:cNvPr id="14" name="lab-bg"/>
          <p:cNvSpPr/>
          <p:nvPr/>
        </p:nvSpPr>
        <p:spPr>
          <a:xfrm>
            <a:off x="6583680" y="1325880"/>
            <a:ext cx="5056632" cy="4846320"/>
          </a:xfrm>
          <a:prstGeom prst="roundRect">
            <a:avLst>
              <a:gd name="adj" fmla="val 1509"/>
            </a:avLst>
          </a:prstGeom>
          <a:solidFill>
            <a:schemeClr val="tx2"/>
          </a:solidFill>
          <a:ln w="12700">
            <a:solidFill>
              <a:schemeClr val="tx2"/>
            </a:solidFill>
            <a:prstDash val="solid"/>
          </a:ln>
        </p:spPr>
      </p:sp>
      <p:sp>
        <p:nvSpPr>
          <p:cNvPr id="15" name="lab-text"/>
          <p:cNvSpPr txBox="1"/>
          <p:nvPr/>
        </p:nvSpPr>
        <p:spPr>
          <a:xfrm>
            <a:off x="6858000" y="1508760"/>
            <a:ext cx="4526280" cy="4480560"/>
          </a:xfrm>
          <a:prstGeom prst="rect">
            <a:avLst/>
          </a:prstGeom>
          <a:noFill/>
          <a:ln/>
        </p:spPr>
        <p:txBody>
          <a:bodyPr wrap="square" lIns="0" tIns="0" rIns="0" bIns="0" rtlCol="0" anchor="t"/>
          <a:lstStyle/>
          <a:p>
            <a:pPr indent="0" marL="0">
              <a:spcAft>
                <a:spcPts val="900"/>
              </a:spcAft>
              <a:buNone/>
            </a:pPr>
            <a:r>
              <a:rPr lang="en-US" sz="1900" b="1" dirty="0">
                <a:solidFill>
                  <a:schemeClr val="accent1"/>
                </a:solidFill>
              </a:rPr>
              <a:t>TP lab (this week)</a:t>
            </a:r>
            <a:endParaRPr lang="en-US" sz="1500" dirty="0"/>
          </a:p>
          <a:p>
            <a:pPr marL="177800" indent="-177800">
              <a:spcAft>
                <a:spcPts val="900"/>
              </a:spcAft>
              <a:buSzPct val="100000"/>
              <a:buChar char="•"/>
            </a:pPr>
            <a:r>
              <a:rPr lang="en-US" sz="1500" dirty="0">
                <a:solidFill>
                  <a:srgbClr val="FFFFFF"/>
                </a:solidFill>
              </a:rPr>
              <a:t>Install Node.js LTS, VS Code and Git; clone the course template repo</a:t>
            </a:r>
            <a:endParaRPr lang="en-US" sz="1500" dirty="0"/>
          </a:p>
          <a:p>
            <a:pPr marL="177800" indent="-177800">
              <a:spcAft>
                <a:spcPts val="900"/>
              </a:spcAft>
              <a:buSzPct val="100000"/>
              <a:buChar char="•"/>
            </a:pPr>
            <a:r>
              <a:rPr lang="en-US" sz="1500" dirty="0">
                <a:solidFill>
                  <a:srgbClr val="FFFFFF"/>
                </a:solidFill>
              </a:rPr>
              <a:t>Finish Activity 4 with a fix that passes the provided tests</a:t>
            </a:r>
            <a:endParaRPr lang="en-US" sz="1500" dirty="0"/>
          </a:p>
          <a:p>
            <a:pPr marL="177800" indent="-177800">
              <a:spcAft>
                <a:spcPts val="900"/>
              </a:spcAft>
              <a:buSzPct val="100000"/>
              <a:buChar char="•"/>
            </a:pPr>
            <a:r>
              <a:rPr lang="en-US" sz="1500" dirty="0">
                <a:solidFill>
                  <a:srgbClr val="FFFFFF"/>
                </a:solidFill>
              </a:rPr>
              <a:t>JS exercise set: closures, array methods, async (AI level: Guided)</a:t>
            </a:r>
            <a:endParaRPr lang="en-US" sz="1500" dirty="0"/>
          </a:p>
          <a:p>
            <a:pPr marL="177800" indent="-177800">
              <a:spcAft>
                <a:spcPts val="900"/>
              </a:spcAft>
              <a:buSzPct val="100000"/>
              <a:buChar char="•"/>
            </a:pPr>
            <a:r>
              <a:rPr lang="en-US" sz="1500" dirty="0">
                <a:solidFill>
                  <a:srgbClr val="FFFFFF"/>
                </a:solidFill>
              </a:rPr>
              <a:t>Start your AI usage log: tool, prompt, what you kept, what you rejected and why</a:t>
            </a:r>
            <a:endParaRPr lang="en-US" sz="1500" dirty="0"/>
          </a:p>
          <a:p>
            <a:pPr marL="177800" indent="-177800">
              <a:spcAft>
                <a:spcPts val="900"/>
              </a:spcAft>
              <a:buSzPct val="100000"/>
              <a:buChar char="•"/>
            </a:pPr>
            <a:r>
              <a:rPr lang="en-US" sz="1500" dirty="0">
                <a:solidFill>
                  <a:srgbClr val="FFFFFF"/>
                </a:solidFill>
              </a:rPr>
              <a:t>Read before next lesson: TypeScript for JavaScript programmers (typescriptlang.org)</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828800"/>
          </a:xfrm>
          <a:prstGeom prst="rect">
            <a:avLst/>
          </a:prstGeom>
          <a:noFill/>
          <a:ln/>
        </p:spPr>
        <p:txBody>
          <a:bodyPr wrap="square" lIns="0" tIns="0" rIns="0" bIns="0" rtlCol="0" anchor="b"/>
          <a:lstStyle/>
          <a:p>
            <a:pPr algn="l" indent="0" marL="0">
              <a:buNone/>
            </a:pPr>
            <a:r>
              <a:rPr lang="en-US" sz="4400" b="1" dirty="0">
                <a:solidFill>
                  <a:schemeClr val="bg1"/>
                </a:solidFill>
              </a:rPr>
              <a:t>Questions?</a:t>
            </a:r>
            <a:endParaRPr lang="en-US" sz="4400" dirty="0"/>
          </a:p>
        </p:txBody>
      </p:sp>
      <p:sp>
        <p:nvSpPr>
          <p:cNvPr id="3" name="Text 0"/>
          <p:cNvSpPr/>
          <p:nvPr>
            <p:ph idx="101" type="body" hasCustomPrompt="1"/>
          </p:nvPr>
        </p:nvSpPr>
        <p:spPr>
          <a:xfrm>
            <a:off x="731520" y="3886200"/>
            <a:ext cx="6949440" cy="1463040"/>
          </a:xfrm>
          <a:prstGeom prst="rect">
            <a:avLst/>
          </a:prstGeom>
          <a:noFill/>
          <a:ln/>
        </p:spPr>
        <p:txBody>
          <a:bodyPr wrap="square" lIns="0" tIns="0" rIns="0" bIns="0" rtlCol="0" anchor="t"/>
          <a:lstStyle/>
          <a:p>
            <a:pPr indent="0" marL="0">
              <a:buNone/>
            </a:pPr>
            <a:r>
              <a:rPr lang="en-US" sz="1800" i="1" dirty="0">
                <a:solidFill>
                  <a:srgbClr val="D1D5DB"/>
                </a:solidFill>
              </a:rPr>
              <a:t>“You may use AI to write code. You may not submit code you cannot explain, test or modify on request.”</a:t>
            </a:r>
            <a:endParaRPr lang="en-US" sz="1800" dirty="0"/>
          </a:p>
          <a:p>
            <a:pPr indent="0" marL="0">
              <a:buNone/>
            </a:pPr>
            <a:r>
              <a:rPr lang="en-US" sz="1500" dirty="0">
                <a:solidFill>
                  <a:schemeClr val="accent1"/>
                </a:solidFill>
              </a:rPr>
              <a:t>Course AI-use policy</a:t>
            </a:r>
            <a:endParaRPr lang="en-US" sz="1800" dirty="0"/>
          </a:p>
        </p:txBody>
      </p:sp>
      <p:sp>
        <p:nvSpPr>
          <p:cNvPr id="4" name="end-mark"/>
          <p:cNvSpPr txBox="1"/>
          <p:nvPr/>
        </p:nvSpPr>
        <p:spPr>
          <a:xfrm>
            <a:off x="8229600" y="1463040"/>
            <a:ext cx="3200400" cy="3200400"/>
          </a:xfrm>
          <a:prstGeom prst="roundRect">
            <a:avLst>
              <a:gd name="adj" fmla="val 4286"/>
            </a:avLst>
          </a:prstGeom>
          <a:solidFill>
            <a:schemeClr val="accent1"/>
          </a:solidFill>
          <a:ln>
            <a:solidFill>
              <a:schemeClr val="accent1"/>
            </a:solidFill>
          </a:ln>
        </p:spPr>
        <p:txBody>
          <a:bodyPr wrap="square" lIns="177800" tIns="177800" rIns="177800" bIns="177800" rtlCol="0" anchor="b"/>
          <a:lstStyle/>
          <a:p>
            <a:pPr algn="r" indent="0" marL="0">
              <a:buNone/>
            </a:pPr>
            <a:r>
              <a:rPr lang="en-US" sz="13000" b="1" dirty="0">
                <a:solidFill>
                  <a:srgbClr val="1B1B1F"/>
                </a:solidFill>
                <a:latin typeface="Arial" pitchFamily="34" charset="0"/>
                <a:ea typeface="Arial" pitchFamily="34" charset="-122"/>
                <a:cs typeface="Arial" pitchFamily="34" charset="-120"/>
              </a:rPr>
              <a:t>JS</a:t>
            </a:r>
            <a:endParaRPr lang="en-US" sz="13000" dirty="0"/>
          </a:p>
        </p:txBody>
      </p:sp>
    </p:spTree>
  </p:cSld>
  <p:clrMapOvr>
    <a:masterClrMapping/>
  </p:clrMapOvr>
</p:sld>
</file>

<file path=ppt/theme/theme1.xml><?xml version="1.0" encoding="utf-8"?>
<a:theme xmlns:a="http://schemas.openxmlformats.org/drawingml/2006/main" name="JavaScript Lesson">
  <a:themeElements>
    <a:clrScheme name="JavaScript Lesson">
      <a:dk1>
        <a:srgbClr val="1B1B1F"/>
      </a:dk1>
      <a:lt1>
        <a:srgbClr val="FFFFFF"/>
      </a:lt1>
      <a:dk2>
        <a:srgbClr val="22252E"/>
      </a:dk2>
      <a:lt2>
        <a:srgbClr val="F3F4F6"/>
      </a:lt2>
      <a:accent1>
        <a:srgbClr val="F7DF1E"/>
      </a:accent1>
      <a:accent2>
        <a:srgbClr val="3178C6"/>
      </a:accent2>
      <a:accent3>
        <a:srgbClr val="D73A49"/>
      </a:accent3>
      <a:accent4>
        <a:srgbClr val="2DA44E"/>
      </a:accent4>
      <a:accent5>
        <a:srgbClr val="6B7280"/>
      </a:accent5>
      <a:accent6>
        <a:srgbClr val="8250DF"/>
      </a:accent6>
      <a:hlink>
        <a:srgbClr val="3178C6"/>
      </a:hlink>
      <a:folHlink>
        <a:srgbClr val="6B7280"/>
      </a:folHlink>
    </a:clrScheme>
    <a:fontScheme name="JavaScript Less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JavaScript: From Basics to Advanced</dc:title>
  <dc:subject>Internet Programming, Lesson 1</dc:subject>
  <dc:creator>CHUN Thavorac</dc:creator>
  <cp:lastModifiedBy>CHUN Thavorac</cp:lastModifiedBy>
  <cp:revision>1</cp:revision>
  <dcterms:created xsi:type="dcterms:W3CDTF">2026-10-06T15:59:53Z</dcterms:created>
  <dcterms:modified xsi:type="dcterms:W3CDTF">2026-10-06T15:59:53Z</dcterms:modified>
</cp:coreProperties>
</file>